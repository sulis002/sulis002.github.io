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67" r:id="rId2"/>
    <p:sldId id="257" r:id="rId3"/>
    <p:sldId id="268" r:id="rId4"/>
    <p:sldId id="258" r:id="rId5"/>
    <p:sldId id="259" r:id="rId6"/>
    <p:sldId id="271" r:id="rId7"/>
    <p:sldId id="260" r:id="rId8"/>
    <p:sldId id="266" r:id="rId9"/>
    <p:sldId id="269" r:id="rId10"/>
    <p:sldId id="261" r:id="rId11"/>
    <p:sldId id="262" r:id="rId12"/>
    <p:sldId id="263" r:id="rId13"/>
    <p:sldId id="270" r:id="rId14"/>
    <p:sldId id="264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da Laime" userId="f511f617d8e2fcf9" providerId="LiveId" clId="{123BF638-333D-45F7-AEDE-736FD7B2A709}"/>
    <pc:docChg chg="custSel modSld sldOrd">
      <pc:chgData name="brenda Laime" userId="f511f617d8e2fcf9" providerId="LiveId" clId="{123BF638-333D-45F7-AEDE-736FD7B2A709}" dt="2026-04-30T00:05:06.977" v="220" actId="20577"/>
      <pc:docMkLst>
        <pc:docMk/>
      </pc:docMkLst>
      <pc:sldChg chg="modSp mod">
        <pc:chgData name="brenda Laime" userId="f511f617d8e2fcf9" providerId="LiveId" clId="{123BF638-333D-45F7-AEDE-736FD7B2A709}" dt="2026-04-29T23:52:59.780" v="28" actId="1038"/>
        <pc:sldMkLst>
          <pc:docMk/>
          <pc:sldMk cId="0" sldId="258"/>
        </pc:sldMkLst>
        <pc:spChg chg="mod">
          <ac:chgData name="brenda Laime" userId="f511f617d8e2fcf9" providerId="LiveId" clId="{123BF638-333D-45F7-AEDE-736FD7B2A709}" dt="2026-04-29T23:52:59.780" v="28" actId="1038"/>
          <ac:spMkLst>
            <pc:docMk/>
            <pc:sldMk cId="0" sldId="258"/>
            <ac:spMk id="25" creationId="{00000000-0000-0000-0000-000000000000}"/>
          </ac:spMkLst>
        </pc:spChg>
        <pc:spChg chg="mod">
          <ac:chgData name="brenda Laime" userId="f511f617d8e2fcf9" providerId="LiveId" clId="{123BF638-333D-45F7-AEDE-736FD7B2A709}" dt="2026-04-29T23:51:31.203" v="27" actId="20577"/>
          <ac:spMkLst>
            <pc:docMk/>
            <pc:sldMk cId="0" sldId="258"/>
            <ac:spMk id="27" creationId="{00000000-0000-0000-0000-000000000000}"/>
          </ac:spMkLst>
        </pc:spChg>
      </pc:sldChg>
      <pc:sldChg chg="modSp mod">
        <pc:chgData name="brenda Laime" userId="f511f617d8e2fcf9" providerId="LiveId" clId="{123BF638-333D-45F7-AEDE-736FD7B2A709}" dt="2026-04-30T00:05:06.977" v="220" actId="20577"/>
        <pc:sldMkLst>
          <pc:docMk/>
          <pc:sldMk cId="0" sldId="260"/>
        </pc:sldMkLst>
        <pc:spChg chg="mod">
          <ac:chgData name="brenda Laime" userId="f511f617d8e2fcf9" providerId="LiveId" clId="{123BF638-333D-45F7-AEDE-736FD7B2A709}" dt="2026-04-29T23:55:51.143" v="115" actId="20577"/>
          <ac:spMkLst>
            <pc:docMk/>
            <pc:sldMk cId="0" sldId="260"/>
            <ac:spMk id="16" creationId="{00000000-0000-0000-0000-000000000000}"/>
          </ac:spMkLst>
        </pc:spChg>
        <pc:spChg chg="mod">
          <ac:chgData name="brenda Laime" userId="f511f617d8e2fcf9" providerId="LiveId" clId="{123BF638-333D-45F7-AEDE-736FD7B2A709}" dt="2026-04-29T23:55:24.230" v="91" actId="20577"/>
          <ac:spMkLst>
            <pc:docMk/>
            <pc:sldMk cId="0" sldId="260"/>
            <ac:spMk id="23" creationId="{00000000-0000-0000-0000-000000000000}"/>
          </ac:spMkLst>
        </pc:spChg>
        <pc:spChg chg="mod">
          <ac:chgData name="brenda Laime" userId="f511f617d8e2fcf9" providerId="LiveId" clId="{123BF638-333D-45F7-AEDE-736FD7B2A709}" dt="2026-04-29T23:56:03.707" v="116" actId="1076"/>
          <ac:spMkLst>
            <pc:docMk/>
            <pc:sldMk cId="0" sldId="260"/>
            <ac:spMk id="29" creationId="{00000000-0000-0000-0000-000000000000}"/>
          </ac:spMkLst>
        </pc:spChg>
        <pc:spChg chg="mod">
          <ac:chgData name="brenda Laime" userId="f511f617d8e2fcf9" providerId="LiveId" clId="{123BF638-333D-45F7-AEDE-736FD7B2A709}" dt="2026-04-30T00:04:40.197" v="219" actId="20577"/>
          <ac:spMkLst>
            <pc:docMk/>
            <pc:sldMk cId="0" sldId="260"/>
            <ac:spMk id="30" creationId="{00000000-0000-0000-0000-000000000000}"/>
          </ac:spMkLst>
        </pc:spChg>
        <pc:spChg chg="mod">
          <ac:chgData name="brenda Laime" userId="f511f617d8e2fcf9" providerId="LiveId" clId="{123BF638-333D-45F7-AEDE-736FD7B2A709}" dt="2026-04-30T00:05:06.977" v="220" actId="20577"/>
          <ac:spMkLst>
            <pc:docMk/>
            <pc:sldMk cId="0" sldId="260"/>
            <ac:spMk id="37" creationId="{00000000-0000-0000-0000-000000000000}"/>
          </ac:spMkLst>
        </pc:spChg>
        <pc:spChg chg="mod">
          <ac:chgData name="brenda Laime" userId="f511f617d8e2fcf9" providerId="LiveId" clId="{123BF638-333D-45F7-AEDE-736FD7B2A709}" dt="2026-04-29T23:58:01.966" v="218" actId="20577"/>
          <ac:spMkLst>
            <pc:docMk/>
            <pc:sldMk cId="0" sldId="260"/>
            <ac:spMk id="44" creationId="{00000000-0000-0000-0000-000000000000}"/>
          </ac:spMkLst>
        </pc:spChg>
      </pc:sldChg>
      <pc:sldChg chg="ord">
        <pc:chgData name="brenda Laime" userId="f511f617d8e2fcf9" providerId="LiveId" clId="{123BF638-333D-45F7-AEDE-736FD7B2A709}" dt="2026-04-29T23:27:41.797" v="1"/>
        <pc:sldMkLst>
          <pc:docMk/>
          <pc:sldMk cId="1362945002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8958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8686800" cy="4754880"/>
          </a:xfrm>
          <a:prstGeom prst="rect">
            <a:avLst/>
          </a:prstGeom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20040" y="274320"/>
            <a:ext cx="8503920" cy="4572000"/>
          </a:xfrm>
          <a:prstGeom prst="rect">
            <a:avLst/>
          </a:prstGeom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2286000"/>
            <a:ext cx="8686800" cy="0"/>
          </a:xfrm>
          <a:prstGeom prst="line">
            <a:avLst/>
          </a:prstGeom>
          <a:noFill/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749040" y="658368"/>
            <a:ext cx="822960" cy="1005840"/>
          </a:xfrm>
          <a:prstGeom prst="line">
            <a:avLst/>
          </a:prstGeom>
          <a:noFill/>
          <a:ln w="25400">
            <a:solidFill>
              <a:srgbClr val="1D9E7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94960" y="658368"/>
            <a:ext cx="0" cy="1005840"/>
          </a:xfrm>
          <a:prstGeom prst="line">
            <a:avLst/>
          </a:prstGeom>
          <a:noFill/>
          <a:ln w="25400">
            <a:solidFill>
              <a:srgbClr val="1D9E7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749040" y="658368"/>
            <a:ext cx="1645920" cy="0"/>
          </a:xfrm>
          <a:prstGeom prst="line">
            <a:avLst/>
          </a:prstGeom>
          <a:noFill/>
          <a:ln w="25400">
            <a:solidFill>
              <a:srgbClr val="1D9E7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160520" y="1051560"/>
            <a:ext cx="822960" cy="502920"/>
          </a:xfrm>
          <a:prstGeom prst="rect">
            <a:avLst/>
          </a:prstGeom>
          <a:solidFill>
            <a:srgbClr val="0F6E56">
              <a:alpha val="8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0" y="1664208"/>
            <a:ext cx="0" cy="384048"/>
          </a:xfrm>
          <a:prstGeom prst="line">
            <a:avLst/>
          </a:prstGeom>
          <a:noFill/>
          <a:ln w="25400">
            <a:solidFill>
              <a:srgbClr val="1D9E7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06240" y="2048256"/>
            <a:ext cx="731520" cy="0"/>
          </a:xfrm>
          <a:prstGeom prst="line">
            <a:avLst/>
          </a:prstGeom>
          <a:noFill/>
          <a:ln w="25400">
            <a:solidFill>
              <a:srgbClr val="1D9E7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074920" y="530352"/>
            <a:ext cx="182880" cy="182880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0" y="1664208"/>
            <a:ext cx="566928" cy="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1520" y="2487168"/>
            <a:ext cx="164592" cy="640080"/>
          </a:xfrm>
          <a:prstGeom prst="rect">
            <a:avLst/>
          </a:prstGeom>
          <a:solidFill>
            <a:srgbClr val="112233"/>
          </a:solidFill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60120" y="2578608"/>
            <a:ext cx="201168" cy="548640"/>
          </a:xfrm>
          <a:prstGeom prst="rect">
            <a:avLst/>
          </a:prstGeom>
          <a:solidFill>
            <a:srgbClr val="112233"/>
          </a:solidFill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234440" y="2423160"/>
            <a:ext cx="274320" cy="704088"/>
          </a:xfrm>
          <a:prstGeom prst="rect">
            <a:avLst/>
          </a:prstGeom>
          <a:solidFill>
            <a:srgbClr val="112233"/>
          </a:solidFill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572768" y="2514600"/>
            <a:ext cx="182880" cy="612648"/>
          </a:xfrm>
          <a:prstGeom prst="rect">
            <a:avLst/>
          </a:prstGeom>
          <a:solidFill>
            <a:srgbClr val="112233"/>
          </a:solidFill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810512" y="2450592"/>
            <a:ext cx="292608" cy="676656"/>
          </a:xfrm>
          <a:prstGeom prst="rect">
            <a:avLst/>
          </a:prstGeom>
          <a:solidFill>
            <a:srgbClr val="112233"/>
          </a:solidFill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167128" y="2542032"/>
            <a:ext cx="228600" cy="585216"/>
          </a:xfrm>
          <a:prstGeom prst="rect">
            <a:avLst/>
          </a:prstGeom>
          <a:solidFill>
            <a:srgbClr val="112233"/>
          </a:solidFill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450592" y="2487168"/>
            <a:ext cx="164592" cy="640080"/>
          </a:xfrm>
          <a:prstGeom prst="rect">
            <a:avLst/>
          </a:prstGeom>
          <a:solidFill>
            <a:srgbClr val="112233"/>
          </a:solidFill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670048" y="2395728"/>
            <a:ext cx="256032" cy="731520"/>
          </a:xfrm>
          <a:prstGeom prst="rect">
            <a:avLst/>
          </a:prstGeom>
          <a:solidFill>
            <a:srgbClr val="112233"/>
          </a:solidFill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990088" y="2514600"/>
            <a:ext cx="201168" cy="612648"/>
          </a:xfrm>
          <a:prstGeom prst="rect">
            <a:avLst/>
          </a:prstGeom>
          <a:solidFill>
            <a:srgbClr val="112233"/>
          </a:solidFill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303520" y="2487168"/>
            <a:ext cx="164592" cy="640080"/>
          </a:xfrm>
          <a:prstGeom prst="rect">
            <a:avLst/>
          </a:prstGeom>
          <a:solidFill>
            <a:srgbClr val="112233"/>
          </a:solidFill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532120" y="2395728"/>
            <a:ext cx="256032" cy="731520"/>
          </a:xfrm>
          <a:prstGeom prst="rect">
            <a:avLst/>
          </a:prstGeom>
          <a:solidFill>
            <a:srgbClr val="112233"/>
          </a:solidFill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852160" y="2514600"/>
            <a:ext cx="201168" cy="612648"/>
          </a:xfrm>
          <a:prstGeom prst="rect">
            <a:avLst/>
          </a:prstGeom>
          <a:solidFill>
            <a:srgbClr val="112233"/>
          </a:solidFill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126480" y="2450592"/>
            <a:ext cx="292608" cy="676656"/>
          </a:xfrm>
          <a:prstGeom prst="rect">
            <a:avLst/>
          </a:prstGeom>
          <a:solidFill>
            <a:srgbClr val="112233"/>
          </a:solidFill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92240" y="2542032"/>
            <a:ext cx="228600" cy="585216"/>
          </a:xfrm>
          <a:prstGeom prst="rect">
            <a:avLst/>
          </a:prstGeom>
          <a:solidFill>
            <a:srgbClr val="112233"/>
          </a:solidFill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784848" y="2487168"/>
            <a:ext cx="164592" cy="640080"/>
          </a:xfrm>
          <a:prstGeom prst="rect">
            <a:avLst/>
          </a:prstGeom>
          <a:solidFill>
            <a:srgbClr val="112233"/>
          </a:solidFill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004304" y="2578608"/>
            <a:ext cx="201168" cy="548640"/>
          </a:xfrm>
          <a:prstGeom prst="rect">
            <a:avLst/>
          </a:prstGeom>
          <a:solidFill>
            <a:srgbClr val="112233"/>
          </a:solidFill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269480" y="2423160"/>
            <a:ext cx="274320" cy="704088"/>
          </a:xfrm>
          <a:prstGeom prst="rect">
            <a:avLst/>
          </a:prstGeom>
          <a:solidFill>
            <a:srgbClr val="112233"/>
          </a:solidFill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607808" y="2514600"/>
            <a:ext cx="182880" cy="612648"/>
          </a:xfrm>
          <a:prstGeom prst="rect">
            <a:avLst/>
          </a:prstGeom>
          <a:solidFill>
            <a:srgbClr val="112233"/>
          </a:solidFill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298448" y="2487168"/>
            <a:ext cx="54864" cy="54864"/>
          </a:xfrm>
          <a:prstGeom prst="rect">
            <a:avLst/>
          </a:prstGeom>
          <a:solidFill>
            <a:srgbClr val="EF9F27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389888" y="2487168"/>
            <a:ext cx="54864" cy="54864"/>
          </a:xfrm>
          <a:prstGeom prst="rect">
            <a:avLst/>
          </a:prstGeom>
          <a:solidFill>
            <a:srgbClr val="EF9F27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874520" y="2514600"/>
            <a:ext cx="54864" cy="54864"/>
          </a:xfrm>
          <a:prstGeom prst="rect">
            <a:avLst/>
          </a:prstGeom>
          <a:solidFill>
            <a:srgbClr val="EF9F27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993392" y="2514600"/>
            <a:ext cx="54864" cy="54864"/>
          </a:xfrm>
          <a:prstGeom prst="rect">
            <a:avLst/>
          </a:prstGeom>
          <a:solidFill>
            <a:srgbClr val="EF9F27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724912" y="2468880"/>
            <a:ext cx="54864" cy="54864"/>
          </a:xfrm>
          <a:prstGeom prst="rect">
            <a:avLst/>
          </a:prstGeom>
          <a:solidFill>
            <a:srgbClr val="EF9F27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816352" y="2468880"/>
            <a:ext cx="54864" cy="54864"/>
          </a:xfrm>
          <a:prstGeom prst="rect">
            <a:avLst/>
          </a:prstGeom>
          <a:solidFill>
            <a:srgbClr val="EF9F27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596128" y="2468880"/>
            <a:ext cx="54864" cy="54864"/>
          </a:xfrm>
          <a:prstGeom prst="rect">
            <a:avLst/>
          </a:prstGeom>
          <a:solidFill>
            <a:srgbClr val="EF9F27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687568" y="2468880"/>
            <a:ext cx="54864" cy="54864"/>
          </a:xfrm>
          <a:prstGeom prst="rect">
            <a:avLst/>
          </a:prstGeom>
          <a:solidFill>
            <a:srgbClr val="EF9F27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199632" y="2514600"/>
            <a:ext cx="54864" cy="54864"/>
          </a:xfrm>
          <a:prstGeom prst="rect">
            <a:avLst/>
          </a:prstGeom>
          <a:solidFill>
            <a:srgbClr val="EF9F27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309360" y="2514600"/>
            <a:ext cx="54864" cy="54864"/>
          </a:xfrm>
          <a:prstGeom prst="rect">
            <a:avLst/>
          </a:prstGeom>
          <a:solidFill>
            <a:srgbClr val="EF9F27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333488" y="2487168"/>
            <a:ext cx="54864" cy="54864"/>
          </a:xfrm>
          <a:prstGeom prst="rect">
            <a:avLst/>
          </a:prstGeom>
          <a:solidFill>
            <a:srgbClr val="EF9F27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7443216" y="2487168"/>
            <a:ext cx="54864" cy="54864"/>
          </a:xfrm>
          <a:prstGeom prst="rect">
            <a:avLst/>
          </a:prstGeom>
          <a:solidFill>
            <a:srgbClr val="EF9F27">
              <a:alpha val="6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14400" y="32461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Drink well.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914400" y="38862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1D9E75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Leave better.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3200400" y="2880360"/>
            <a:ext cx="91440" cy="9144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852160" y="2880360"/>
            <a:ext cx="91440" cy="9144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48640" y="2926080"/>
            <a:ext cx="2560320" cy="0"/>
          </a:xfrm>
          <a:prstGeom prst="line">
            <a:avLst/>
          </a:prstGeom>
          <a:noFill/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035040" y="2926080"/>
            <a:ext cx="2560320" cy="0"/>
          </a:xfrm>
          <a:prstGeom prst="line">
            <a:avLst/>
          </a:prstGeom>
          <a:noFill/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14400" y="23042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300" normalizeH="0" baseline="0" noProof="0" dirty="0">
                <a:ln>
                  <a:noFill/>
                </a:ln>
                <a:solidFill>
                  <a:srgbClr val="9FE1C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San Diego's safe night out program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371600" y="26334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F5E5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Scan at any partner bar for a safe ride home.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2743200" y="44622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D9E7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drinkwellleavebetter.com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371600" y="47091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100" normalizeH="0" baseline="0" noProof="0" dirty="0">
                <a:ln>
                  <a:noFill/>
                </a:ln>
                <a:solidFill>
                  <a:srgbClr val="5F5E5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IN PARTNERSHIP WITH   UBER  |  LYFT  |  SD SAFETY  |  CA OTS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8686800" cy="4754880"/>
          </a:xfrm>
          <a:prstGeom prst="rect">
            <a:avLst/>
          </a:prstGeom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274320"/>
            <a:ext cx="8503920" cy="4572000"/>
          </a:xfrm>
          <a:prstGeom prst="rect">
            <a:avLst/>
          </a:prstGeom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822960"/>
            <a:ext cx="8138160" cy="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4535424"/>
            <a:ext cx="8138160" cy="0"/>
          </a:xfrm>
          <a:prstGeom prst="line">
            <a:avLst/>
          </a:prstGeom>
          <a:noFill/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46268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drinkwellleavebetter.com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0" y="462686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UBER  |  LYFT  |  SD SAFETY  |  CA OTS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" y="987552"/>
            <a:ext cx="4160520" cy="969264"/>
          </a:xfrm>
          <a:prstGeom prst="rect">
            <a:avLst/>
          </a:prstGeom>
          <a:solidFill>
            <a:srgbClr val="071420"/>
          </a:solidFill>
          <a:ln w="1016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" y="987552"/>
            <a:ext cx="54864" cy="969264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3504" y="10607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24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3504" y="144475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504" y="1700784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San Diego needs a new approach to DUI prevention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987552"/>
            <a:ext cx="3924300" cy="969264"/>
          </a:xfrm>
          <a:prstGeom prst="rect">
            <a:avLst/>
          </a:prstGeom>
          <a:solidFill>
            <a:srgbClr val="071420"/>
          </a:solidFill>
          <a:ln w="1016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46320" y="987552"/>
            <a:ext cx="54864" cy="969264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74336" y="10607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974336" y="144475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74336" y="1700784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self-service breathalyzer kiosks at decision points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" y="2084832"/>
            <a:ext cx="4160520" cy="969264"/>
          </a:xfrm>
          <a:prstGeom prst="rect">
            <a:avLst/>
          </a:prstGeom>
          <a:solidFill>
            <a:srgbClr val="071420"/>
          </a:solidFill>
          <a:ln w="1016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" y="2084832"/>
            <a:ext cx="54864" cy="969264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3504" y="21579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03504" y="254203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Methodology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3504" y="2798064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analysis, WBS, phases &amp; risk planning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2084832"/>
            <a:ext cx="3924300" cy="969264"/>
          </a:xfrm>
          <a:prstGeom prst="rect">
            <a:avLst/>
          </a:prstGeom>
          <a:solidFill>
            <a:srgbClr val="071420"/>
          </a:solidFill>
          <a:ln w="1016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2084832"/>
            <a:ext cx="54864" cy="969264"/>
          </a:xfrm>
          <a:prstGeom prst="rect">
            <a:avLst/>
          </a:prstGeom>
          <a:solidFill>
            <a:srgbClr val="378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74336" y="21579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78A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974336" y="254203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Strategy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74336" y="2798064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Budget, revenue model &amp; investor return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" y="3182112"/>
            <a:ext cx="4160520" cy="969264"/>
          </a:xfrm>
          <a:prstGeom prst="rect">
            <a:avLst/>
          </a:prstGeom>
          <a:solidFill>
            <a:srgbClr val="071420"/>
          </a:solidFill>
          <a:ln w="1016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" y="3182112"/>
            <a:ext cx="54864" cy="969264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03504" y="32552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7F77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03504" y="363931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&amp; Mitigation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03504" y="3895344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 and contingency plans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3182112"/>
            <a:ext cx="3924300" cy="969264"/>
          </a:xfrm>
          <a:prstGeom prst="rect">
            <a:avLst/>
          </a:prstGeom>
          <a:solidFill>
            <a:srgbClr val="071420"/>
          </a:solidFill>
          <a:ln w="1016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46320" y="3182112"/>
            <a:ext cx="54864" cy="969264"/>
          </a:xfrm>
          <a:prstGeom prst="rect">
            <a:avLst/>
          </a:prstGeom>
          <a:solidFill>
            <a:srgbClr val="5DCA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74336" y="32552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5DC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974336" y="363931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974336" y="3895344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and next steps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8686800" cy="4754880"/>
          </a:xfrm>
          <a:prstGeom prst="rect">
            <a:avLst/>
          </a:prstGeom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20040" y="274320"/>
            <a:ext cx="8503920" cy="4572000"/>
          </a:xfrm>
          <a:prstGeom prst="rect">
            <a:avLst/>
          </a:prstGeom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749040" y="502920"/>
            <a:ext cx="1645920" cy="3291840"/>
          </a:xfrm>
          <a:prstGeom prst="rect">
            <a:avLst/>
          </a:prstGeom>
          <a:solidFill>
            <a:srgbClr val="1C2E3A"/>
          </a:solidFill>
          <a:ln w="12700">
            <a:solidFill>
              <a:srgbClr val="2A4A5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703320" y="457200"/>
            <a:ext cx="1737360" cy="201168"/>
          </a:xfrm>
          <a:prstGeom prst="rect">
            <a:avLst/>
          </a:prstGeom>
          <a:solidFill>
            <a:srgbClr val="112233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730752" y="502920"/>
            <a:ext cx="73152" cy="3291840"/>
          </a:xfrm>
          <a:prstGeom prst="rect">
            <a:avLst/>
          </a:prstGeom>
          <a:solidFill>
            <a:srgbClr val="2A4A5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340096" y="502920"/>
            <a:ext cx="73152" cy="3291840"/>
          </a:xfrm>
          <a:prstGeom prst="rect">
            <a:avLst/>
          </a:prstGeom>
          <a:solidFill>
            <a:srgbClr val="2A4A5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858768" y="658368"/>
            <a:ext cx="1426464" cy="1920240"/>
          </a:xfrm>
          <a:prstGeom prst="rect">
            <a:avLst/>
          </a:prstGeom>
          <a:solidFill>
            <a:srgbClr val="080F18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913632" y="713232"/>
            <a:ext cx="1316736" cy="1783080"/>
          </a:xfrm>
          <a:prstGeom prst="rect">
            <a:avLst/>
          </a:prstGeom>
          <a:solidFill>
            <a:srgbClr val="071A2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97680" y="868680"/>
            <a:ext cx="548640" cy="658368"/>
          </a:xfrm>
          <a:prstGeom prst="ellipse">
            <a:avLst/>
          </a:prstGeom>
          <a:solidFill>
            <a:srgbClr val="0D2E3A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069080" y="1463040"/>
            <a:ext cx="1005840" cy="640080"/>
          </a:xfrm>
          <a:prstGeom prst="ellipse">
            <a:avLst/>
          </a:prstGeom>
          <a:solidFill>
            <a:srgbClr val="0D2E3A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15968" y="932688"/>
            <a:ext cx="512064" cy="0"/>
          </a:xfrm>
          <a:prstGeom prst="line">
            <a:avLst/>
          </a:prstGeom>
          <a:noFill/>
          <a:ln w="3810">
            <a:solidFill>
              <a:srgbClr val="1D9E75">
                <a:alpha val="6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315968" y="1024128"/>
            <a:ext cx="512064" cy="0"/>
          </a:xfrm>
          <a:prstGeom prst="line">
            <a:avLst/>
          </a:prstGeom>
          <a:noFill/>
          <a:ln w="3810">
            <a:solidFill>
              <a:srgbClr val="1D9E75">
                <a:alpha val="6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15968" y="1115568"/>
            <a:ext cx="512064" cy="0"/>
          </a:xfrm>
          <a:prstGeom prst="line">
            <a:avLst/>
          </a:prstGeom>
          <a:noFill/>
          <a:ln w="3810">
            <a:solidFill>
              <a:srgbClr val="1D9E75">
                <a:alpha val="6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315968" y="1207008"/>
            <a:ext cx="512064" cy="0"/>
          </a:xfrm>
          <a:prstGeom prst="line">
            <a:avLst/>
          </a:prstGeom>
          <a:noFill/>
          <a:ln w="3810">
            <a:solidFill>
              <a:srgbClr val="1D9E75">
                <a:alpha val="6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15968" y="1298448"/>
            <a:ext cx="512064" cy="0"/>
          </a:xfrm>
          <a:prstGeom prst="line">
            <a:avLst/>
          </a:prstGeom>
          <a:noFill/>
          <a:ln w="3810">
            <a:solidFill>
              <a:srgbClr val="1D9E75">
                <a:alpha val="6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315968" y="1389888"/>
            <a:ext cx="512064" cy="0"/>
          </a:xfrm>
          <a:prstGeom prst="line">
            <a:avLst/>
          </a:prstGeom>
          <a:noFill/>
          <a:ln w="3810">
            <a:solidFill>
              <a:srgbClr val="1D9E75">
                <a:alpha val="6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224528" y="804672"/>
            <a:ext cx="164592" cy="0"/>
          </a:xfrm>
          <a:prstGeom prst="line">
            <a:avLst/>
          </a:prstGeom>
          <a:noFill/>
          <a:ln w="19050">
            <a:solidFill>
              <a:srgbClr val="5DCAA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224528" y="804672"/>
            <a:ext cx="0" cy="164592"/>
          </a:xfrm>
          <a:prstGeom prst="line">
            <a:avLst/>
          </a:prstGeom>
          <a:noFill/>
          <a:ln w="19050">
            <a:solidFill>
              <a:srgbClr val="5DCAA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54880" y="804672"/>
            <a:ext cx="164592" cy="0"/>
          </a:xfrm>
          <a:prstGeom prst="line">
            <a:avLst/>
          </a:prstGeom>
          <a:noFill/>
          <a:ln w="19050">
            <a:solidFill>
              <a:srgbClr val="5DCAA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919472" y="804672"/>
            <a:ext cx="0" cy="164592"/>
          </a:xfrm>
          <a:prstGeom prst="line">
            <a:avLst/>
          </a:prstGeom>
          <a:noFill/>
          <a:ln w="19050">
            <a:solidFill>
              <a:srgbClr val="5DCAA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224528" y="1600200"/>
            <a:ext cx="164592" cy="0"/>
          </a:xfrm>
          <a:prstGeom prst="line">
            <a:avLst/>
          </a:prstGeom>
          <a:noFill/>
          <a:ln w="19050">
            <a:solidFill>
              <a:srgbClr val="5DCAA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224528" y="1444752"/>
            <a:ext cx="0" cy="164592"/>
          </a:xfrm>
          <a:prstGeom prst="line">
            <a:avLst/>
          </a:prstGeom>
          <a:noFill/>
          <a:ln w="19050">
            <a:solidFill>
              <a:srgbClr val="5DCAA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754880" y="1600200"/>
            <a:ext cx="164592" cy="0"/>
          </a:xfrm>
          <a:prstGeom prst="line">
            <a:avLst/>
          </a:prstGeom>
          <a:noFill/>
          <a:ln w="19050">
            <a:solidFill>
              <a:srgbClr val="5DCAA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919472" y="1444752"/>
            <a:ext cx="0" cy="164592"/>
          </a:xfrm>
          <a:prstGeom prst="line">
            <a:avLst/>
          </a:prstGeom>
          <a:noFill/>
          <a:ln w="19050">
            <a:solidFill>
              <a:srgbClr val="5DCAA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224528" y="1207008"/>
            <a:ext cx="694944" cy="0"/>
          </a:xfrm>
          <a:prstGeom prst="line">
            <a:avLst/>
          </a:prstGeom>
          <a:noFill/>
          <a:ln w="19050">
            <a:solidFill>
              <a:srgbClr val="EF9F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913632" y="234086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200" normalizeH="0" baseline="0" noProof="0" dirty="0">
                <a:ln>
                  <a:noFill/>
                </a:ln>
                <a:solidFill>
                  <a:srgbClr val="1D9E7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SCANNING...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315968" y="694944"/>
            <a:ext cx="64008" cy="640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544568" y="694944"/>
            <a:ext cx="64008" cy="640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764024" y="694944"/>
            <a:ext cx="64008" cy="640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931920" y="2633472"/>
            <a:ext cx="1280160" cy="502920"/>
          </a:xfrm>
          <a:prstGeom prst="rect">
            <a:avLst/>
          </a:prstGeom>
          <a:solidFill>
            <a:srgbClr val="0A1A26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251960" y="2706624"/>
            <a:ext cx="320040" cy="320040"/>
          </a:xfrm>
          <a:prstGeom prst="rect">
            <a:avLst/>
          </a:prstGeom>
          <a:solidFill>
            <a:srgbClr val="0F2A38"/>
          </a:solidFill>
          <a:ln w="6350">
            <a:solidFill>
              <a:srgbClr val="5DCAA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270248" y="2724912"/>
            <a:ext cx="54864" cy="54864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352544" y="2724912"/>
            <a:ext cx="54864" cy="54864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270248" y="2807208"/>
            <a:ext cx="54864" cy="54864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462272" y="2724912"/>
            <a:ext cx="54864" cy="128016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352544" y="2807208"/>
            <a:ext cx="128016" cy="54864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297680" y="3794760"/>
            <a:ext cx="548640" cy="502920"/>
          </a:xfrm>
          <a:prstGeom prst="rect">
            <a:avLst/>
          </a:prstGeom>
          <a:solidFill>
            <a:srgbClr val="112233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069080" y="4279392"/>
            <a:ext cx="1005840" cy="128016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3749040" y="4407408"/>
            <a:ext cx="1645920" cy="182880"/>
          </a:xfrm>
          <a:prstGeom prst="rect">
            <a:avLst/>
          </a:prstGeom>
          <a:solidFill>
            <a:srgbClr val="071A20">
              <a:alpha val="4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3291840" y="1371600"/>
            <a:ext cx="640080" cy="1828800"/>
          </a:xfrm>
          <a:prstGeom prst="ellipse">
            <a:avLst/>
          </a:prstGeom>
          <a:solidFill>
            <a:srgbClr val="1D9E75">
              <a:alpha val="12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212080" y="1371600"/>
            <a:ext cx="640080" cy="1828800"/>
          </a:xfrm>
          <a:prstGeom prst="ellipse">
            <a:avLst/>
          </a:prstGeom>
          <a:solidFill>
            <a:srgbClr val="1D9E75">
              <a:alpha val="12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48640" y="822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Drink well.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48640" y="129844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D9E75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Leave better.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48640" y="1901952"/>
            <a:ext cx="2286000" cy="0"/>
          </a:xfrm>
          <a:prstGeom prst="line">
            <a:avLst/>
          </a:prstGeom>
          <a:noFill/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48640" y="20116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FE1C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Smart kiosk technology that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FE1C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encourages safe ride decisions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FE1C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at San Diego's top venues.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48640" y="3401568"/>
            <a:ext cx="73152" cy="73152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94944" y="336499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DCAA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Face-scan check-in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548640" y="3639312"/>
            <a:ext cx="73152" cy="73152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94944" y="36027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DCAA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Instant ride booking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548640" y="3877056"/>
            <a:ext cx="73152" cy="73152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94944" y="38404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DCAA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DUI prevention tech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548640" y="4114800"/>
            <a:ext cx="73152" cy="73152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94944" y="407822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DCAA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Real-time data capture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5669280" y="1097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200" normalizeH="0" baseline="0" noProof="0" dirty="0">
                <a:ln>
                  <a:noFill/>
                </a:ln>
                <a:solidFill>
                  <a:srgbClr val="44444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Powered by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5669280" y="12984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D9E75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SafeNight SD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5669280" y="1792224"/>
            <a:ext cx="2286000" cy="0"/>
          </a:xfrm>
          <a:prstGeom prst="line">
            <a:avLst/>
          </a:prstGeom>
          <a:noFill/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5669280" y="19202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FE1C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15 kiosk locations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FE1C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across San Diego's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FE1C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top bar districts.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5669280" y="27889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D9E75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6903720" y="28529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F5E5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Kiosk locations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5669280" y="33192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D9E75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3.75%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6903720" y="33832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F5E5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Cost of 1 DUI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5669280" y="384962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D9E75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21×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6903720" y="39136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F5E5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Minimum ROI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548640" y="4535424"/>
            <a:ext cx="8046720" cy="0"/>
          </a:xfrm>
          <a:prstGeom prst="line">
            <a:avLst/>
          </a:prstGeom>
          <a:noFill/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548640" y="46268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D9E7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drinkwellleavebetter.com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5029200" y="462686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44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UBER  |  LYFT  |  SD SAFETY  |  CA OTS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8686800" cy="4754880"/>
          </a:xfrm>
          <a:prstGeom prst="rect">
            <a:avLst/>
          </a:prstGeom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274320"/>
            <a:ext cx="8503920" cy="4572000"/>
          </a:xfrm>
          <a:prstGeom prst="rect">
            <a:avLst/>
          </a:prstGeom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78638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SAN DIEGO NEEDS A NEW APPROACH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75488" y="731520"/>
            <a:ext cx="8138160" cy="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4535424"/>
            <a:ext cx="8138160" cy="0"/>
          </a:xfrm>
          <a:prstGeom prst="line">
            <a:avLst/>
          </a:prstGeom>
          <a:noFill/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46268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drinkwellleavebetter.com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462686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UBER  |  LYFT  |  SD SAFETY  |  CA OTS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" y="960120"/>
            <a:ext cx="2633472" cy="1536192"/>
          </a:xfrm>
          <a:prstGeom prst="rect">
            <a:avLst/>
          </a:prstGeom>
          <a:solidFill>
            <a:srgbClr val="071420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" y="960120"/>
            <a:ext cx="2633472" cy="54864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85216" y="1078992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24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2,100+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66928" y="1664208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DUI arrests annually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1883664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San Diego County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64408" y="960120"/>
            <a:ext cx="2633472" cy="1536192"/>
          </a:xfrm>
          <a:prstGeom prst="rect">
            <a:avLst/>
          </a:prstGeom>
          <a:solidFill>
            <a:srgbClr val="071420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64408" y="960120"/>
            <a:ext cx="2633472" cy="54864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74136" y="1078992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$487M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355848" y="1664208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economic cost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55848" y="1883664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medical, legal &amp; lost productivity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53328" y="960120"/>
            <a:ext cx="2633472" cy="1536192"/>
          </a:xfrm>
          <a:prstGeom prst="rect">
            <a:avLst/>
          </a:prstGeom>
          <a:solidFill>
            <a:srgbClr val="071420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53328" y="960120"/>
            <a:ext cx="2633472" cy="54864"/>
          </a:xfrm>
          <a:prstGeom prst="rect">
            <a:avLst/>
          </a:prstGeom>
          <a:solidFill>
            <a:srgbClr val="378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63056" y="1078992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78A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144768" y="1664208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crashes alcohol-related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44768" y="1883664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preventable with intervention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3108" y="2633472"/>
            <a:ext cx="8284464" cy="877824"/>
          </a:xfrm>
          <a:prstGeom prst="rect">
            <a:avLst/>
          </a:prstGeom>
          <a:solidFill>
            <a:srgbClr val="0A1C2A"/>
          </a:solidFill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1792" y="270662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in the system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" y="298094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- Current DUI prevention relies on enforcement after the fact — arrests, fines, and tragedies. There is no infrastructure that intervenes at the decision point: when someone is leaving a bar and deciding whether to drive.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" y="3621024"/>
            <a:ext cx="8284464" cy="713232"/>
          </a:xfrm>
          <a:prstGeom prst="rect">
            <a:avLst/>
          </a:prstGeom>
          <a:solidFill>
            <a:srgbClr val="E24B4A">
              <a:alpha val="12000"/>
            </a:srgbClr>
          </a:solidFill>
          <a:ln w="635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1792" y="373075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hour that passes without an intervention infrastructure costs San Diego approximately $55,600 in DUI-related economic damage.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8686800" cy="4754880"/>
          </a:xfrm>
          <a:prstGeom prst="rect">
            <a:avLst/>
          </a:prstGeom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274320"/>
            <a:ext cx="8503920" cy="4572000"/>
          </a:xfrm>
          <a:prstGeom prst="rect">
            <a:avLst/>
          </a:prstGeom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78638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INTERVENTION AT THE MOMENT OF DECISION · 15 SELF-SERVICE KIOSKS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771144"/>
            <a:ext cx="8138160" cy="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4535424"/>
            <a:ext cx="8138160" cy="0"/>
          </a:xfrm>
          <a:prstGeom prst="line">
            <a:avLst/>
          </a:prstGeom>
          <a:noFill/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46268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drinkwellleavebetter.com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462686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UBER  |  LYFT  |  SD SAFETY  |  CA OTS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96012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Behavioral economics in action: 15 kiosks at bar exits, transit hubs, and entertainment districts modify the choice environment at the moment of decision — real-time BAC feedback converts impaired intent into a safe ride home.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" y="1572768"/>
            <a:ext cx="4160520" cy="768096"/>
          </a:xfrm>
          <a:prstGeom prst="rect">
            <a:avLst/>
          </a:prstGeom>
          <a:solidFill>
            <a:srgbClr val="071420"/>
          </a:solidFill>
          <a:ln w="1016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" y="1572768"/>
            <a:ext cx="54864" cy="768096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664208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 Exits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1920240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Gaslamp, North Park, Pacific Beach — posted at departure points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" y="2450592"/>
            <a:ext cx="4160520" cy="768096"/>
          </a:xfrm>
          <a:prstGeom prst="rect">
            <a:avLst/>
          </a:prstGeom>
          <a:solidFill>
            <a:srgbClr val="071420"/>
          </a:solidFill>
          <a:ln w="1016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" y="2450592"/>
            <a:ext cx="54864" cy="768096"/>
          </a:xfrm>
          <a:prstGeom prst="rect">
            <a:avLst/>
          </a:prstGeom>
          <a:solidFill>
            <a:srgbClr val="378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78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2542032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Transit Centers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2798064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Downtown stations, trolley stops, bus terminals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" y="3328416"/>
            <a:ext cx="4160520" cy="768096"/>
          </a:xfrm>
          <a:prstGeom prst="rect">
            <a:avLst/>
          </a:prstGeom>
          <a:solidFill>
            <a:srgbClr val="071420"/>
          </a:solidFill>
          <a:ln w="1016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" y="3328416"/>
            <a:ext cx="54864" cy="768096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3419856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Entertainment Districts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367588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venues, stadiums, concert halls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36592" y="960120"/>
            <a:ext cx="0" cy="3456432"/>
          </a:xfrm>
          <a:prstGeom prst="line">
            <a:avLst/>
          </a:prstGeom>
          <a:noFill/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64608" y="960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64608" y="1353312"/>
            <a:ext cx="310896" cy="310896"/>
          </a:xfrm>
          <a:prstGeom prst="ellipse">
            <a:avLst/>
          </a:prstGeom>
          <a:solidFill>
            <a:srgbClr val="1D9E75">
              <a:alpha val="80000"/>
            </a:srgbClr>
          </a:solidFill>
          <a:ln w="1016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64608" y="138988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48656" y="1335024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Patron approaches kiosk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248656" y="159105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Single-use breathalyzer mouthpiece — results in under 10 seconds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64608" y="2011680"/>
            <a:ext cx="3822192" cy="0"/>
          </a:xfrm>
          <a:prstGeom prst="line">
            <a:avLst/>
          </a:prstGeom>
          <a:noFill/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864608" y="2121408"/>
            <a:ext cx="310896" cy="310896"/>
          </a:xfrm>
          <a:prstGeom prst="ellipse">
            <a:avLst/>
          </a:prstGeom>
          <a:solidFill>
            <a:srgbClr val="EF9F27">
              <a:alpha val="80000"/>
            </a:srgbClr>
          </a:solidFill>
          <a:ln w="1016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64608" y="215798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48656" y="210312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 result displayed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248656" y="235915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color-coded output: green (safe), amber (caution), red (do not drive)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64608" y="2779776"/>
            <a:ext cx="3822192" cy="0"/>
          </a:xfrm>
          <a:prstGeom prst="line">
            <a:avLst/>
          </a:prstGeom>
          <a:noFill/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864608" y="2889504"/>
            <a:ext cx="310896" cy="310896"/>
          </a:xfrm>
          <a:prstGeom prst="ellipse">
            <a:avLst/>
          </a:prstGeom>
          <a:solidFill>
            <a:srgbClr val="378ADD">
              <a:alpha val="80000"/>
            </a:srgbClr>
          </a:solidFill>
          <a:ln w="1016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64608" y="292608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48656" y="2871216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Rideshare option presented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248656" y="312724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links directly to Uber/Lyft app with co-branded promo code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64608" y="3547872"/>
            <a:ext cx="3822192" cy="0"/>
          </a:xfrm>
          <a:prstGeom prst="line">
            <a:avLst/>
          </a:prstGeom>
          <a:noFill/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864608" y="3657600"/>
            <a:ext cx="310896" cy="310896"/>
          </a:xfrm>
          <a:prstGeom prst="ellipse">
            <a:avLst/>
          </a:prstGeom>
          <a:solidFill>
            <a:srgbClr val="7F77DD">
              <a:alpha val="80000"/>
            </a:srgbClr>
          </a:solidFill>
          <a:ln w="1016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64608" y="3694176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248656" y="3639312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captured anonymously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248656" y="389534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Usage, BAC ranges, and rideshare conversions logged for KPI reporting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8C47E0-7103-0A5D-41B7-F5452711F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945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8686800" cy="4754880"/>
          </a:xfrm>
          <a:prstGeom prst="rect">
            <a:avLst/>
          </a:prstGeom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274320"/>
            <a:ext cx="8503920" cy="4572000"/>
          </a:xfrm>
          <a:prstGeom prst="rect">
            <a:avLst/>
          </a:prstGeom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Plan &amp; Methodology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83210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PHASES · 9-MONTH PILOT · KPI-DRIVEN EVALUATION · BEHAVIORAL ECONOMICS FRAMEWORK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786384"/>
            <a:ext cx="8138160" cy="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4535424"/>
            <a:ext cx="8138160" cy="0"/>
          </a:xfrm>
          <a:prstGeom prst="line">
            <a:avLst/>
          </a:prstGeom>
          <a:noFill/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46268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drinkwellleavebetter.com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462686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UBER  |  LYFT  |  SD SAFETY  |  CA OTS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64208"/>
            <a:ext cx="8229600" cy="0"/>
          </a:xfrm>
          <a:prstGeom prst="line">
            <a:avLst/>
          </a:prstGeom>
          <a:noFill/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" y="1609344"/>
            <a:ext cx="146304" cy="146304"/>
          </a:xfrm>
          <a:prstGeom prst="ellipse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-164592" y="1847088"/>
            <a:ext cx="1481328" cy="1261872"/>
          </a:xfrm>
          <a:prstGeom prst="rect">
            <a:avLst/>
          </a:prstGeom>
          <a:solidFill>
            <a:srgbClr val="071420"/>
          </a:solidFill>
          <a:ln w="1016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-164592" y="1847088"/>
            <a:ext cx="1481328" cy="54864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-164592" y="192024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24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2608" y="192024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Vendor Procurement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-164592" y="226771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RFP, select, contract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-164592" y="257860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157984" y="1609344"/>
            <a:ext cx="146304" cy="146304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517904" y="1847088"/>
            <a:ext cx="1481328" cy="1261872"/>
          </a:xfrm>
          <a:prstGeom prst="rect">
            <a:avLst/>
          </a:prstGeom>
          <a:solidFill>
            <a:srgbClr val="071420"/>
          </a:solidFill>
          <a:ln w="1016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517904" y="1847088"/>
            <a:ext cx="1481328" cy="54864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517904" y="192024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975104" y="192024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 Development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517904" y="226771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locations, finalize agreements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517904" y="257860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840480" y="1609344"/>
            <a:ext cx="146304" cy="146304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0" y="1847088"/>
            <a:ext cx="1481328" cy="1261872"/>
          </a:xfrm>
          <a:prstGeom prst="rect">
            <a:avLst/>
          </a:prstGeom>
          <a:solidFill>
            <a:srgbClr val="071420"/>
          </a:solidFill>
          <a:ln w="1016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0" y="1847088"/>
            <a:ext cx="1481328" cy="54864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00400" y="192024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633216" y="1933956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&amp; Deploy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0" y="226771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15 units operational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00400" y="257860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522976" y="1609344"/>
            <a:ext cx="146304" cy="146304"/>
          </a:xfrm>
          <a:prstGeom prst="ellipse">
            <a:avLst/>
          </a:prstGeom>
          <a:solidFill>
            <a:srgbClr val="378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882896" y="1847088"/>
            <a:ext cx="1481328" cy="1261872"/>
          </a:xfrm>
          <a:prstGeom prst="rect">
            <a:avLst/>
          </a:prstGeom>
          <a:solidFill>
            <a:srgbClr val="071420"/>
          </a:solidFill>
          <a:ln w="1016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82896" y="1847088"/>
            <a:ext cx="1481328" cy="54864"/>
          </a:xfrm>
          <a:prstGeom prst="rect">
            <a:avLst/>
          </a:prstGeom>
          <a:solidFill>
            <a:srgbClr val="378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82896" y="192024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78A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340096" y="192024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Operations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82896" y="226771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Training, launch marketing</a:t>
            </a:r>
            <a:r>
              <a:rPr lang="en-US" sz="80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monitor </a:t>
            </a:r>
            <a:r>
              <a:rPr lang="en-US" sz="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82896" y="257860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8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4–9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205472" y="1609344"/>
            <a:ext cx="146304" cy="146304"/>
          </a:xfrm>
          <a:prstGeom prst="ellipse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629400" y="1847088"/>
            <a:ext cx="1481328" cy="1261872"/>
          </a:xfrm>
          <a:prstGeom prst="rect">
            <a:avLst/>
          </a:prstGeom>
          <a:solidFill>
            <a:srgbClr val="071420"/>
          </a:solidFill>
          <a:ln w="1016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629400" y="1847088"/>
            <a:ext cx="1481328" cy="54864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565392" y="192024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F77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022592" y="192024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565392" y="226771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data, measure results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565392" y="257860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9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02920" y="3246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Performance Indicators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02920" y="3584448"/>
            <a:ext cx="1993392" cy="768096"/>
          </a:xfrm>
          <a:prstGeom prst="rect">
            <a:avLst/>
          </a:prstGeom>
          <a:solidFill>
            <a:srgbClr val="071420"/>
          </a:solidFill>
          <a:ln w="762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02920" y="363931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25+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502920" y="398678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 tests/kiosk/day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624328" y="3584448"/>
            <a:ext cx="1993392" cy="768096"/>
          </a:xfrm>
          <a:prstGeom prst="rect">
            <a:avLst/>
          </a:prstGeom>
          <a:solidFill>
            <a:srgbClr val="071420"/>
          </a:solidFill>
          <a:ln w="762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624328" y="363931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78A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95%+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2624328" y="398678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uptime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745736" y="3584448"/>
            <a:ext cx="1993392" cy="768096"/>
          </a:xfrm>
          <a:prstGeom prst="rect">
            <a:avLst/>
          </a:prstGeom>
          <a:solidFill>
            <a:srgbClr val="071420"/>
          </a:solidFill>
          <a:ln w="762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745736" y="363931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&gt;0.5mi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4745736" y="398678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Rideshare pickup radius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867144" y="3584448"/>
            <a:ext cx="1993392" cy="768096"/>
          </a:xfrm>
          <a:prstGeom prst="rect">
            <a:avLst/>
          </a:prstGeom>
          <a:solidFill>
            <a:srgbClr val="071420"/>
          </a:solidFill>
          <a:ln w="762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867144" y="363931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F77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6867144" y="398678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 rate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2870"/>
            <a:ext cx="8846820" cy="4937760"/>
          </a:xfrm>
          <a:prstGeom prst="rect">
            <a:avLst/>
          </a:prstGeom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05740" y="171450"/>
            <a:ext cx="8709660" cy="4800600"/>
          </a:xfrm>
          <a:prstGeom prst="rect">
            <a:avLst/>
          </a:prstGeom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308610" y="219456"/>
            <a:ext cx="51435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Kiosk Pilot Program — Project Timeline</a:t>
            </a: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29375" y="219456"/>
            <a:ext cx="24003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9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2026 — Apr 2027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280660" y="226314"/>
            <a:ext cx="1062990" cy="205740"/>
          </a:xfrm>
          <a:prstGeom prst="rect">
            <a:avLst/>
          </a:prstGeom>
          <a:solidFill>
            <a:srgbClr val="E24B4A">
              <a:alpha val="80000"/>
            </a:srgbClr>
          </a:solidFill>
          <a:ln w="10160">
            <a:solidFill>
              <a:srgbClr val="E24B4A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5294376" y="240030"/>
            <a:ext cx="103555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56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CRITICAL PATH</a:t>
            </a:r>
            <a:endParaRPr lang="en-US" sz="5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08610" y="534924"/>
            <a:ext cx="8503920" cy="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228850" y="589788"/>
            <a:ext cx="6446520" cy="150876"/>
          </a:xfrm>
          <a:prstGeom prst="rect">
            <a:avLst/>
          </a:prstGeom>
          <a:solidFill>
            <a:srgbClr val="0A1C2A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299691" y="589788"/>
            <a:ext cx="0" cy="4354830"/>
          </a:xfrm>
          <a:prstGeom prst="line">
            <a:avLst/>
          </a:prstGeom>
          <a:noFill/>
          <a:ln w="5080">
            <a:solidFill>
              <a:srgbClr val="0F3050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327123" y="603504"/>
            <a:ext cx="4800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25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'26</a:t>
            </a:r>
            <a:endParaRPr lang="en-US" sz="5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848708" y="589788"/>
            <a:ext cx="0" cy="4354830"/>
          </a:xfrm>
          <a:prstGeom prst="line">
            <a:avLst/>
          </a:prstGeom>
          <a:noFill/>
          <a:ln w="5080">
            <a:solidFill>
              <a:srgbClr val="0F3050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876140" y="603504"/>
            <a:ext cx="4800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25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'26</a:t>
            </a:r>
            <a:endParaRPr lang="en-US" sz="5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380015" y="589788"/>
            <a:ext cx="0" cy="4354830"/>
          </a:xfrm>
          <a:prstGeom prst="line">
            <a:avLst/>
          </a:prstGeom>
          <a:noFill/>
          <a:ln w="5080">
            <a:solidFill>
              <a:srgbClr val="0F3050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407447" y="603504"/>
            <a:ext cx="4800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25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'26</a:t>
            </a:r>
            <a:endParaRPr lang="en-US" sz="5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929031" y="589788"/>
            <a:ext cx="0" cy="4354830"/>
          </a:xfrm>
          <a:prstGeom prst="line">
            <a:avLst/>
          </a:prstGeom>
          <a:noFill/>
          <a:ln w="5080">
            <a:solidFill>
              <a:srgbClr val="0F3050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956463" y="603504"/>
            <a:ext cx="4800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25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'26</a:t>
            </a:r>
            <a:endParaRPr lang="en-US" sz="5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478048" y="589788"/>
            <a:ext cx="0" cy="4354830"/>
          </a:xfrm>
          <a:prstGeom prst="line">
            <a:avLst/>
          </a:prstGeom>
          <a:noFill/>
          <a:ln w="5080">
            <a:solidFill>
              <a:srgbClr val="0F3050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05480" y="603504"/>
            <a:ext cx="4800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25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'26</a:t>
            </a:r>
            <a:endParaRPr lang="en-US" sz="5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09354" y="589788"/>
            <a:ext cx="0" cy="4354830"/>
          </a:xfrm>
          <a:prstGeom prst="line">
            <a:avLst/>
          </a:prstGeom>
          <a:noFill/>
          <a:ln w="5080">
            <a:solidFill>
              <a:srgbClr val="0F3050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036786" y="603504"/>
            <a:ext cx="4800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25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'26</a:t>
            </a:r>
            <a:endParaRPr lang="en-US" sz="5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558372" y="589788"/>
            <a:ext cx="0" cy="4354830"/>
          </a:xfrm>
          <a:prstGeom prst="line">
            <a:avLst/>
          </a:prstGeom>
          <a:noFill/>
          <a:ln w="5080">
            <a:solidFill>
              <a:srgbClr val="0F3050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585804" y="603504"/>
            <a:ext cx="4800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25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'26</a:t>
            </a:r>
            <a:endParaRPr lang="en-US" sz="5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089678" y="589788"/>
            <a:ext cx="0" cy="4354830"/>
          </a:xfrm>
          <a:prstGeom prst="line">
            <a:avLst/>
          </a:prstGeom>
          <a:noFill/>
          <a:ln w="5080">
            <a:solidFill>
              <a:srgbClr val="0F3050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117110" y="603504"/>
            <a:ext cx="4800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25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'26</a:t>
            </a:r>
            <a:endParaRPr lang="en-US" sz="5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638695" y="589788"/>
            <a:ext cx="0" cy="4354830"/>
          </a:xfrm>
          <a:prstGeom prst="line">
            <a:avLst/>
          </a:prstGeom>
          <a:noFill/>
          <a:ln w="5080">
            <a:solidFill>
              <a:srgbClr val="0F3050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666127" y="603504"/>
            <a:ext cx="4800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25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'27</a:t>
            </a:r>
            <a:endParaRPr lang="en-US" sz="5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187711" y="589788"/>
            <a:ext cx="0" cy="4354830"/>
          </a:xfrm>
          <a:prstGeom prst="line">
            <a:avLst/>
          </a:prstGeom>
          <a:noFill/>
          <a:ln w="5080">
            <a:solidFill>
              <a:srgbClr val="0F3050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215143" y="603504"/>
            <a:ext cx="4800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25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'27</a:t>
            </a:r>
            <a:endParaRPr lang="en-US" sz="5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683598" y="589788"/>
            <a:ext cx="0" cy="4354830"/>
          </a:xfrm>
          <a:prstGeom prst="line">
            <a:avLst/>
          </a:prstGeom>
          <a:noFill/>
          <a:ln w="5080">
            <a:solidFill>
              <a:srgbClr val="0F3050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711030" y="603504"/>
            <a:ext cx="4800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25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'27</a:t>
            </a:r>
            <a:endParaRPr lang="en-US" sz="5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232614" y="589788"/>
            <a:ext cx="0" cy="4354830"/>
          </a:xfrm>
          <a:prstGeom prst="line">
            <a:avLst/>
          </a:prstGeom>
          <a:noFill/>
          <a:ln w="5080">
            <a:solidFill>
              <a:srgbClr val="0F3050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260046" y="603504"/>
            <a:ext cx="4800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25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'27</a:t>
            </a:r>
            <a:endParaRPr lang="en-US" sz="5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08610" y="589788"/>
            <a:ext cx="1920240" cy="150876"/>
          </a:xfrm>
          <a:prstGeom prst="rect">
            <a:avLst/>
          </a:prstGeom>
          <a:solidFill>
            <a:srgbClr val="0A1C2A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08610" y="603504"/>
            <a:ext cx="109728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234440" y="603504"/>
            <a:ext cx="4800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714500" y="603504"/>
            <a:ext cx="41148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08610" y="740664"/>
            <a:ext cx="8366760" cy="106299"/>
          </a:xfrm>
          <a:prstGeom prst="rect">
            <a:avLst/>
          </a:prstGeom>
          <a:solidFill>
            <a:srgbClr val="E24B4A">
              <a:alpha val="12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29184" y="754380"/>
            <a:ext cx="187909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VENDOR PROCUREMENT</a:t>
            </a:r>
            <a:endParaRPr lang="en-US" sz="5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2228850" y="761238"/>
            <a:ext cx="761540" cy="65151"/>
          </a:xfrm>
          <a:prstGeom prst="rect">
            <a:avLst/>
          </a:prstGeom>
          <a:solidFill>
            <a:srgbClr val="E24B4A">
              <a:alpha val="50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308610" y="860679"/>
            <a:ext cx="8366760" cy="106299"/>
          </a:xfrm>
          <a:prstGeom prst="rect">
            <a:avLst/>
          </a:prstGeom>
          <a:solidFill>
            <a:srgbClr val="E24B4A">
              <a:alpha val="6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08610" y="860679"/>
            <a:ext cx="41148" cy="106299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377190" y="874395"/>
            <a:ext cx="8366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88" b="1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Develop &amp; Issue RFP</a:t>
            </a:r>
            <a:endParaRPr lang="en-US" sz="4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234440" y="874395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4/27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659636" y="874395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2228850" y="881253"/>
            <a:ext cx="88551" cy="58293"/>
          </a:xfrm>
          <a:prstGeom prst="rect">
            <a:avLst/>
          </a:prstGeom>
          <a:solidFill>
            <a:srgbClr val="E24B4A"/>
          </a:solidFill>
          <a:ln w="10160">
            <a:solidFill>
              <a:srgbClr val="F09595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2228850" y="881253"/>
            <a:ext cx="88551" cy="29147"/>
          </a:xfrm>
          <a:prstGeom prst="rect">
            <a:avLst/>
          </a:prstGeom>
          <a:solidFill>
            <a:srgbClr val="F09595">
              <a:alpha val="30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308610" y="980694"/>
            <a:ext cx="8366760" cy="106299"/>
          </a:xfrm>
          <a:prstGeom prst="rect">
            <a:avLst/>
          </a:prstGeom>
          <a:solidFill>
            <a:srgbClr val="E24B4A">
              <a:alpha val="6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308610" y="980694"/>
            <a:ext cx="41148" cy="106299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377190" y="994410"/>
            <a:ext cx="8366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88" b="1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Vendor Review Period</a:t>
            </a:r>
            <a:endParaRPr lang="en-US" sz="4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1234440" y="994410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5/4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659636" y="994410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5/15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2352821" y="1001268"/>
            <a:ext cx="212523" cy="58293"/>
          </a:xfrm>
          <a:prstGeom prst="rect">
            <a:avLst/>
          </a:prstGeom>
          <a:solidFill>
            <a:srgbClr val="E24B4A"/>
          </a:solidFill>
          <a:ln w="10160">
            <a:solidFill>
              <a:srgbClr val="F09595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2352821" y="1001268"/>
            <a:ext cx="212523" cy="29147"/>
          </a:xfrm>
          <a:prstGeom prst="rect">
            <a:avLst/>
          </a:prstGeom>
          <a:solidFill>
            <a:srgbClr val="F09595">
              <a:alpha val="30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308610" y="1100709"/>
            <a:ext cx="8366760" cy="106299"/>
          </a:xfrm>
          <a:prstGeom prst="rect">
            <a:avLst/>
          </a:prstGeom>
          <a:solidFill>
            <a:srgbClr val="E24B4A">
              <a:alpha val="6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308610" y="1100709"/>
            <a:ext cx="41148" cy="106299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377190" y="1114425"/>
            <a:ext cx="8366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88" b="1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Bid Evaluation &amp; Scoring</a:t>
            </a:r>
            <a:endParaRPr lang="en-US" sz="4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1234440" y="1114425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5/18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1659636" y="1114425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5/22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2600765" y="1121283"/>
            <a:ext cx="88551" cy="58293"/>
          </a:xfrm>
          <a:prstGeom prst="rect">
            <a:avLst/>
          </a:prstGeom>
          <a:solidFill>
            <a:srgbClr val="E24B4A"/>
          </a:solidFill>
          <a:ln w="10160">
            <a:solidFill>
              <a:srgbClr val="F09595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2600765" y="1121283"/>
            <a:ext cx="88551" cy="29147"/>
          </a:xfrm>
          <a:prstGeom prst="rect">
            <a:avLst/>
          </a:prstGeom>
          <a:solidFill>
            <a:srgbClr val="F09595">
              <a:alpha val="30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308610" y="1220724"/>
            <a:ext cx="8366760" cy="106299"/>
          </a:xfrm>
          <a:prstGeom prst="rect">
            <a:avLst/>
          </a:prstGeom>
          <a:solidFill>
            <a:srgbClr val="E24B4A">
              <a:alpha val="6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308610" y="1220724"/>
            <a:ext cx="41148" cy="106299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377190" y="1234440"/>
            <a:ext cx="8366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88" b="1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Compliance Verification</a:t>
            </a:r>
            <a:endParaRPr lang="en-US" sz="4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1234440" y="1234440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5/25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1659636" y="1234440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5/29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2724737" y="1241298"/>
            <a:ext cx="88551" cy="58293"/>
          </a:xfrm>
          <a:prstGeom prst="rect">
            <a:avLst/>
          </a:prstGeom>
          <a:solidFill>
            <a:srgbClr val="E24B4A"/>
          </a:solidFill>
          <a:ln w="10160">
            <a:solidFill>
              <a:srgbClr val="F09595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2724737" y="1241298"/>
            <a:ext cx="88551" cy="29147"/>
          </a:xfrm>
          <a:prstGeom prst="rect">
            <a:avLst/>
          </a:prstGeom>
          <a:solidFill>
            <a:srgbClr val="F09595">
              <a:alpha val="30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308610" y="1340739"/>
            <a:ext cx="8366760" cy="106299"/>
          </a:xfrm>
          <a:prstGeom prst="rect">
            <a:avLst/>
          </a:prstGeom>
          <a:solidFill>
            <a:srgbClr val="E24B4A">
              <a:alpha val="6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308610" y="1340739"/>
            <a:ext cx="41148" cy="106299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377190" y="1354455"/>
            <a:ext cx="8366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88" b="1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Vendor Selection &amp; Award</a:t>
            </a:r>
            <a:endParaRPr lang="en-US" sz="4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1234440" y="1354455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1659636" y="1354455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2848708" y="1361313"/>
            <a:ext cx="54864" cy="58293"/>
          </a:xfrm>
          <a:prstGeom prst="rect">
            <a:avLst/>
          </a:prstGeom>
          <a:solidFill>
            <a:srgbClr val="E24B4A"/>
          </a:solidFill>
          <a:ln w="10160">
            <a:solidFill>
              <a:srgbClr val="F09595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2848708" y="1361313"/>
            <a:ext cx="54864" cy="29147"/>
          </a:xfrm>
          <a:prstGeom prst="rect">
            <a:avLst/>
          </a:prstGeom>
          <a:solidFill>
            <a:srgbClr val="F09595">
              <a:alpha val="30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308610" y="1460754"/>
            <a:ext cx="8366760" cy="106299"/>
          </a:xfrm>
          <a:prstGeom prst="rect">
            <a:avLst/>
          </a:prstGeom>
          <a:solidFill>
            <a:srgbClr val="E24B4A">
              <a:alpha val="6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377190" y="1474470"/>
            <a:ext cx="8366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88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★ Vendor Selected</a:t>
            </a:r>
            <a:endParaRPr lang="en-US" sz="4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1234440" y="1474470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1659636" y="1474470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0" name="Shape 78"/>
          <p:cNvSpPr/>
          <p:nvPr/>
        </p:nvSpPr>
        <p:spPr>
          <a:xfrm rot="2700000">
            <a:off x="2807560" y="1488186"/>
            <a:ext cx="82296" cy="82296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308610" y="1580769"/>
            <a:ext cx="8366760" cy="106299"/>
          </a:xfrm>
          <a:prstGeom prst="rect">
            <a:avLst/>
          </a:prstGeom>
          <a:solidFill>
            <a:srgbClr val="E24B4A">
              <a:alpha val="6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308610" y="1580769"/>
            <a:ext cx="41148" cy="106299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377190" y="1594485"/>
            <a:ext cx="8366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88" b="1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Contract Negotiation</a:t>
            </a:r>
            <a:endParaRPr lang="en-US" sz="4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1234440" y="1594485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1659636" y="1594485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6/8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2866419" y="1601343"/>
            <a:ext cx="123971" cy="58293"/>
          </a:xfrm>
          <a:prstGeom prst="rect">
            <a:avLst/>
          </a:prstGeom>
          <a:solidFill>
            <a:srgbClr val="E24B4A"/>
          </a:solidFill>
          <a:ln w="10160">
            <a:solidFill>
              <a:srgbClr val="F09595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2866419" y="1601343"/>
            <a:ext cx="123971" cy="29147"/>
          </a:xfrm>
          <a:prstGeom prst="rect">
            <a:avLst/>
          </a:prstGeom>
          <a:solidFill>
            <a:srgbClr val="F09595">
              <a:alpha val="30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308610" y="1700784"/>
            <a:ext cx="8366760" cy="106299"/>
          </a:xfrm>
          <a:prstGeom prst="rect">
            <a:avLst/>
          </a:prstGeom>
          <a:solidFill>
            <a:srgbClr val="EF9F27">
              <a:alpha val="12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329184" y="1714500"/>
            <a:ext cx="187909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SITE DEVELOPMENT</a:t>
            </a:r>
            <a:endParaRPr lang="en-US" sz="5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2352822" y="1721358"/>
            <a:ext cx="1257425" cy="65151"/>
          </a:xfrm>
          <a:prstGeom prst="rect">
            <a:avLst/>
          </a:prstGeom>
          <a:solidFill>
            <a:srgbClr val="EF9F27">
              <a:alpha val="50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377190" y="1834515"/>
            <a:ext cx="8366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88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Candidate Location Scoring</a:t>
            </a:r>
            <a:endParaRPr lang="en-US" sz="4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2" name="Text 90"/>
          <p:cNvSpPr/>
          <p:nvPr/>
        </p:nvSpPr>
        <p:spPr>
          <a:xfrm>
            <a:off x="1234440" y="1834515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5/4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3" name="Text 91"/>
          <p:cNvSpPr/>
          <p:nvPr/>
        </p:nvSpPr>
        <p:spPr>
          <a:xfrm>
            <a:off x="1659636" y="1834515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5/15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2352821" y="1848231"/>
            <a:ext cx="212523" cy="44577"/>
          </a:xfrm>
          <a:prstGeom prst="rect">
            <a:avLst/>
          </a:prstGeom>
          <a:solidFill>
            <a:srgbClr val="EF9F27">
              <a:alpha val="70000"/>
            </a:srgbClr>
          </a:solidFill>
          <a:ln w="3810">
            <a:solidFill>
              <a:srgbClr val="EF9F27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308610" y="1940814"/>
            <a:ext cx="8366760" cy="106299"/>
          </a:xfrm>
          <a:prstGeom prst="rect">
            <a:avLst/>
          </a:prstGeom>
          <a:solidFill>
            <a:srgbClr val="E24B4A">
              <a:alpha val="6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6" name="Shape 94"/>
          <p:cNvSpPr/>
          <p:nvPr/>
        </p:nvSpPr>
        <p:spPr>
          <a:xfrm>
            <a:off x="308610" y="1940814"/>
            <a:ext cx="41148" cy="106299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7" name="Text 95"/>
          <p:cNvSpPr/>
          <p:nvPr/>
        </p:nvSpPr>
        <p:spPr>
          <a:xfrm>
            <a:off x="377190" y="1954530"/>
            <a:ext cx="8366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88" b="1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Physical Site Walkthroughs</a:t>
            </a:r>
            <a:endParaRPr lang="en-US" sz="4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8" name="Text 96"/>
          <p:cNvSpPr/>
          <p:nvPr/>
        </p:nvSpPr>
        <p:spPr>
          <a:xfrm>
            <a:off x="1234440" y="1954530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5/18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1659636" y="1954530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5/29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2600765" y="1961388"/>
            <a:ext cx="212523" cy="58293"/>
          </a:xfrm>
          <a:prstGeom prst="rect">
            <a:avLst/>
          </a:prstGeom>
          <a:solidFill>
            <a:srgbClr val="E24B4A"/>
          </a:solidFill>
          <a:ln w="10160">
            <a:solidFill>
              <a:srgbClr val="F09595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1" name="Shape 99"/>
          <p:cNvSpPr/>
          <p:nvPr/>
        </p:nvSpPr>
        <p:spPr>
          <a:xfrm>
            <a:off x="2600765" y="1961388"/>
            <a:ext cx="212523" cy="29147"/>
          </a:xfrm>
          <a:prstGeom prst="rect">
            <a:avLst/>
          </a:prstGeom>
          <a:solidFill>
            <a:srgbClr val="F09595">
              <a:alpha val="30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2" name="Text 100"/>
          <p:cNvSpPr/>
          <p:nvPr/>
        </p:nvSpPr>
        <p:spPr>
          <a:xfrm>
            <a:off x="377190" y="2074545"/>
            <a:ext cx="8366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88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Venue Outreach &amp; MOU Drafting</a:t>
            </a:r>
            <a:endParaRPr lang="en-US" sz="4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3" name="Text 101"/>
          <p:cNvSpPr/>
          <p:nvPr/>
        </p:nvSpPr>
        <p:spPr>
          <a:xfrm>
            <a:off x="1234440" y="2074545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4" name="Text 102"/>
          <p:cNvSpPr/>
          <p:nvPr/>
        </p:nvSpPr>
        <p:spPr>
          <a:xfrm>
            <a:off x="1659636" y="2074545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6/26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5" name="Shape 103"/>
          <p:cNvSpPr/>
          <p:nvPr/>
        </p:nvSpPr>
        <p:spPr>
          <a:xfrm>
            <a:off x="2848708" y="2088261"/>
            <a:ext cx="460466" cy="44577"/>
          </a:xfrm>
          <a:prstGeom prst="rect">
            <a:avLst/>
          </a:prstGeom>
          <a:solidFill>
            <a:srgbClr val="EF9F27">
              <a:alpha val="70000"/>
            </a:srgbClr>
          </a:solidFill>
          <a:ln w="3810">
            <a:solidFill>
              <a:srgbClr val="EF9F27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6" name="Shape 104"/>
          <p:cNvSpPr/>
          <p:nvPr/>
        </p:nvSpPr>
        <p:spPr>
          <a:xfrm>
            <a:off x="308610" y="2180844"/>
            <a:ext cx="8366760" cy="106299"/>
          </a:xfrm>
          <a:prstGeom prst="rect">
            <a:avLst/>
          </a:prstGeom>
          <a:solidFill>
            <a:srgbClr val="E24B4A">
              <a:alpha val="6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7" name="Shape 105"/>
          <p:cNvSpPr/>
          <p:nvPr/>
        </p:nvSpPr>
        <p:spPr>
          <a:xfrm>
            <a:off x="308610" y="2180844"/>
            <a:ext cx="41148" cy="106299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8" name="Text 106"/>
          <p:cNvSpPr/>
          <p:nvPr/>
        </p:nvSpPr>
        <p:spPr>
          <a:xfrm>
            <a:off x="377190" y="2194560"/>
            <a:ext cx="8366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88" b="1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MOU Review &amp; Negotiation</a:t>
            </a:r>
            <a:endParaRPr lang="en-US" sz="4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9" name="Text 107"/>
          <p:cNvSpPr/>
          <p:nvPr/>
        </p:nvSpPr>
        <p:spPr>
          <a:xfrm>
            <a:off x="1234440" y="2194560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6/29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0" name="Text 108"/>
          <p:cNvSpPr/>
          <p:nvPr/>
        </p:nvSpPr>
        <p:spPr>
          <a:xfrm>
            <a:off x="1659636" y="2194560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7/10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1" name="Shape 109"/>
          <p:cNvSpPr/>
          <p:nvPr/>
        </p:nvSpPr>
        <p:spPr>
          <a:xfrm>
            <a:off x="3344594" y="2201418"/>
            <a:ext cx="212523" cy="58293"/>
          </a:xfrm>
          <a:prstGeom prst="rect">
            <a:avLst/>
          </a:prstGeom>
          <a:solidFill>
            <a:srgbClr val="E24B4A"/>
          </a:solidFill>
          <a:ln w="10160">
            <a:solidFill>
              <a:srgbClr val="F09595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2" name="Shape 110"/>
          <p:cNvSpPr/>
          <p:nvPr/>
        </p:nvSpPr>
        <p:spPr>
          <a:xfrm>
            <a:off x="3344594" y="2201418"/>
            <a:ext cx="212523" cy="29147"/>
          </a:xfrm>
          <a:prstGeom prst="rect">
            <a:avLst/>
          </a:prstGeom>
          <a:solidFill>
            <a:srgbClr val="F09595">
              <a:alpha val="30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3" name="Shape 111"/>
          <p:cNvSpPr/>
          <p:nvPr/>
        </p:nvSpPr>
        <p:spPr>
          <a:xfrm>
            <a:off x="308610" y="2300859"/>
            <a:ext cx="8366760" cy="106299"/>
          </a:xfrm>
          <a:prstGeom prst="rect">
            <a:avLst/>
          </a:prstGeom>
          <a:solidFill>
            <a:srgbClr val="E24B4A">
              <a:alpha val="6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4" name="Shape 112"/>
          <p:cNvSpPr/>
          <p:nvPr/>
        </p:nvSpPr>
        <p:spPr>
          <a:xfrm>
            <a:off x="308610" y="2300859"/>
            <a:ext cx="41148" cy="106299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5" name="Text 113"/>
          <p:cNvSpPr/>
          <p:nvPr/>
        </p:nvSpPr>
        <p:spPr>
          <a:xfrm>
            <a:off x="377190" y="2314575"/>
            <a:ext cx="8366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88" b="1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Finalize 15 Signed MOUs</a:t>
            </a:r>
            <a:endParaRPr lang="en-US" sz="4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6" name="Text 114"/>
          <p:cNvSpPr/>
          <p:nvPr/>
        </p:nvSpPr>
        <p:spPr>
          <a:xfrm>
            <a:off x="1234440" y="2314575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7/13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7" name="Text 115"/>
          <p:cNvSpPr/>
          <p:nvPr/>
        </p:nvSpPr>
        <p:spPr>
          <a:xfrm>
            <a:off x="1659636" y="2314575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7/13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8" name="Shape 116"/>
          <p:cNvSpPr/>
          <p:nvPr/>
        </p:nvSpPr>
        <p:spPr>
          <a:xfrm>
            <a:off x="3592537" y="2321433"/>
            <a:ext cx="54864" cy="58293"/>
          </a:xfrm>
          <a:prstGeom prst="rect">
            <a:avLst/>
          </a:prstGeom>
          <a:solidFill>
            <a:srgbClr val="E24B4A"/>
          </a:solidFill>
          <a:ln w="10160">
            <a:solidFill>
              <a:srgbClr val="F09595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9" name="Shape 117"/>
          <p:cNvSpPr/>
          <p:nvPr/>
        </p:nvSpPr>
        <p:spPr>
          <a:xfrm>
            <a:off x="3592537" y="2321433"/>
            <a:ext cx="54864" cy="29147"/>
          </a:xfrm>
          <a:prstGeom prst="rect">
            <a:avLst/>
          </a:prstGeom>
          <a:solidFill>
            <a:srgbClr val="F09595">
              <a:alpha val="30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0" name="Shape 118"/>
          <p:cNvSpPr/>
          <p:nvPr/>
        </p:nvSpPr>
        <p:spPr>
          <a:xfrm>
            <a:off x="308610" y="2420874"/>
            <a:ext cx="8366760" cy="106299"/>
          </a:xfrm>
          <a:prstGeom prst="rect">
            <a:avLst/>
          </a:prstGeom>
          <a:solidFill>
            <a:srgbClr val="E24B4A">
              <a:alpha val="6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1" name="Text 119"/>
          <p:cNvSpPr/>
          <p:nvPr/>
        </p:nvSpPr>
        <p:spPr>
          <a:xfrm>
            <a:off x="377190" y="2434590"/>
            <a:ext cx="8366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88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★ All MOUs Signed</a:t>
            </a:r>
            <a:endParaRPr lang="en-US" sz="4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2" name="Text 120"/>
          <p:cNvSpPr/>
          <p:nvPr/>
        </p:nvSpPr>
        <p:spPr>
          <a:xfrm>
            <a:off x="1234440" y="2434590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7/13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3" name="Text 121"/>
          <p:cNvSpPr/>
          <p:nvPr/>
        </p:nvSpPr>
        <p:spPr>
          <a:xfrm>
            <a:off x="1659636" y="2434590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7/13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4" name="Shape 122"/>
          <p:cNvSpPr/>
          <p:nvPr/>
        </p:nvSpPr>
        <p:spPr>
          <a:xfrm rot="2700000">
            <a:off x="3551389" y="2448306"/>
            <a:ext cx="82296" cy="82296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5" name="Shape 123"/>
          <p:cNvSpPr/>
          <p:nvPr/>
        </p:nvSpPr>
        <p:spPr>
          <a:xfrm>
            <a:off x="308610" y="2540889"/>
            <a:ext cx="8366760" cy="106299"/>
          </a:xfrm>
          <a:prstGeom prst="rect">
            <a:avLst/>
          </a:prstGeom>
          <a:solidFill>
            <a:srgbClr val="1D9E75">
              <a:alpha val="12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6" name="Text 124"/>
          <p:cNvSpPr/>
          <p:nvPr/>
        </p:nvSpPr>
        <p:spPr>
          <a:xfrm>
            <a:off x="329184" y="2554605"/>
            <a:ext cx="187909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INSTALLATION &amp; DEPLOYMENT</a:t>
            </a:r>
            <a:endParaRPr lang="en-US" sz="5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7" name="Shape 125"/>
          <p:cNvSpPr/>
          <p:nvPr/>
        </p:nvSpPr>
        <p:spPr>
          <a:xfrm>
            <a:off x="3610248" y="2561463"/>
            <a:ext cx="619858" cy="65151"/>
          </a:xfrm>
          <a:prstGeom prst="rect">
            <a:avLst/>
          </a:prstGeom>
          <a:solidFill>
            <a:srgbClr val="1D9E75">
              <a:alpha val="50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8" name="Shape 126"/>
          <p:cNvSpPr/>
          <p:nvPr/>
        </p:nvSpPr>
        <p:spPr>
          <a:xfrm>
            <a:off x="308610" y="2660904"/>
            <a:ext cx="8366760" cy="106299"/>
          </a:xfrm>
          <a:prstGeom prst="rect">
            <a:avLst/>
          </a:prstGeom>
          <a:solidFill>
            <a:srgbClr val="E24B4A">
              <a:alpha val="6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9" name="Shape 127"/>
          <p:cNvSpPr/>
          <p:nvPr/>
        </p:nvSpPr>
        <p:spPr>
          <a:xfrm>
            <a:off x="308610" y="2660904"/>
            <a:ext cx="41148" cy="106299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0" name="Text 128"/>
          <p:cNvSpPr/>
          <p:nvPr/>
        </p:nvSpPr>
        <p:spPr>
          <a:xfrm>
            <a:off x="377190" y="2674620"/>
            <a:ext cx="8366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88" b="1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Equipment Delivery</a:t>
            </a:r>
            <a:endParaRPr lang="en-US" sz="4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1" name="Text 129"/>
          <p:cNvSpPr/>
          <p:nvPr/>
        </p:nvSpPr>
        <p:spPr>
          <a:xfrm>
            <a:off x="1234440" y="2674620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7/14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2" name="Text 130"/>
          <p:cNvSpPr/>
          <p:nvPr/>
        </p:nvSpPr>
        <p:spPr>
          <a:xfrm>
            <a:off x="1659636" y="2674620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7/20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3" name="Shape 131"/>
          <p:cNvSpPr/>
          <p:nvPr/>
        </p:nvSpPr>
        <p:spPr>
          <a:xfrm>
            <a:off x="3610248" y="2681478"/>
            <a:ext cx="123971" cy="58293"/>
          </a:xfrm>
          <a:prstGeom prst="rect">
            <a:avLst/>
          </a:prstGeom>
          <a:solidFill>
            <a:srgbClr val="E24B4A"/>
          </a:solidFill>
          <a:ln w="10160">
            <a:solidFill>
              <a:srgbClr val="F09595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4" name="Shape 132"/>
          <p:cNvSpPr/>
          <p:nvPr/>
        </p:nvSpPr>
        <p:spPr>
          <a:xfrm>
            <a:off x="3610248" y="2681478"/>
            <a:ext cx="123971" cy="29147"/>
          </a:xfrm>
          <a:prstGeom prst="rect">
            <a:avLst/>
          </a:prstGeom>
          <a:solidFill>
            <a:srgbClr val="F09595">
              <a:alpha val="30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5" name="Shape 133"/>
          <p:cNvSpPr/>
          <p:nvPr/>
        </p:nvSpPr>
        <p:spPr>
          <a:xfrm>
            <a:off x="308610" y="2780919"/>
            <a:ext cx="8366760" cy="106299"/>
          </a:xfrm>
          <a:prstGeom prst="rect">
            <a:avLst/>
          </a:prstGeom>
          <a:solidFill>
            <a:srgbClr val="E24B4A">
              <a:alpha val="6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6" name="Shape 134"/>
          <p:cNvSpPr/>
          <p:nvPr/>
        </p:nvSpPr>
        <p:spPr>
          <a:xfrm>
            <a:off x="308610" y="2780919"/>
            <a:ext cx="41148" cy="106299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7" name="Text 135"/>
          <p:cNvSpPr/>
          <p:nvPr/>
        </p:nvSpPr>
        <p:spPr>
          <a:xfrm>
            <a:off x="377190" y="2794635"/>
            <a:ext cx="8366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88" b="1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Install Units 1–5</a:t>
            </a:r>
            <a:endParaRPr lang="en-US" sz="4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8" name="Text 136"/>
          <p:cNvSpPr/>
          <p:nvPr/>
        </p:nvSpPr>
        <p:spPr>
          <a:xfrm>
            <a:off x="1234440" y="2794635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7/21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9" name="Text 137"/>
          <p:cNvSpPr/>
          <p:nvPr/>
        </p:nvSpPr>
        <p:spPr>
          <a:xfrm>
            <a:off x="1659636" y="2794635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7/27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0" name="Shape 138"/>
          <p:cNvSpPr/>
          <p:nvPr/>
        </p:nvSpPr>
        <p:spPr>
          <a:xfrm>
            <a:off x="3734219" y="2801493"/>
            <a:ext cx="123971" cy="58293"/>
          </a:xfrm>
          <a:prstGeom prst="rect">
            <a:avLst/>
          </a:prstGeom>
          <a:solidFill>
            <a:srgbClr val="E24B4A"/>
          </a:solidFill>
          <a:ln w="10160">
            <a:solidFill>
              <a:srgbClr val="F09595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1" name="Shape 139"/>
          <p:cNvSpPr/>
          <p:nvPr/>
        </p:nvSpPr>
        <p:spPr>
          <a:xfrm>
            <a:off x="3734219" y="2801493"/>
            <a:ext cx="123971" cy="29147"/>
          </a:xfrm>
          <a:prstGeom prst="rect">
            <a:avLst/>
          </a:prstGeom>
          <a:solidFill>
            <a:srgbClr val="F09595">
              <a:alpha val="30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2" name="Shape 140"/>
          <p:cNvSpPr/>
          <p:nvPr/>
        </p:nvSpPr>
        <p:spPr>
          <a:xfrm>
            <a:off x="308610" y="2900934"/>
            <a:ext cx="8366760" cy="106299"/>
          </a:xfrm>
          <a:prstGeom prst="rect">
            <a:avLst/>
          </a:prstGeom>
          <a:solidFill>
            <a:srgbClr val="E24B4A">
              <a:alpha val="6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3" name="Shape 141"/>
          <p:cNvSpPr/>
          <p:nvPr/>
        </p:nvSpPr>
        <p:spPr>
          <a:xfrm>
            <a:off x="308610" y="2900934"/>
            <a:ext cx="41148" cy="106299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4" name="Text 142"/>
          <p:cNvSpPr/>
          <p:nvPr/>
        </p:nvSpPr>
        <p:spPr>
          <a:xfrm>
            <a:off x="377190" y="2914650"/>
            <a:ext cx="8366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88" b="1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Install Units 6–10</a:t>
            </a:r>
            <a:endParaRPr lang="en-US" sz="4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5" name="Text 143"/>
          <p:cNvSpPr/>
          <p:nvPr/>
        </p:nvSpPr>
        <p:spPr>
          <a:xfrm>
            <a:off x="1234440" y="2914650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7/28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6" name="Text 144"/>
          <p:cNvSpPr/>
          <p:nvPr/>
        </p:nvSpPr>
        <p:spPr>
          <a:xfrm>
            <a:off x="1659636" y="2914650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8/3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7" name="Shape 145"/>
          <p:cNvSpPr/>
          <p:nvPr/>
        </p:nvSpPr>
        <p:spPr>
          <a:xfrm>
            <a:off x="3858191" y="2921508"/>
            <a:ext cx="123971" cy="58293"/>
          </a:xfrm>
          <a:prstGeom prst="rect">
            <a:avLst/>
          </a:prstGeom>
          <a:solidFill>
            <a:srgbClr val="E24B4A"/>
          </a:solidFill>
          <a:ln w="10160">
            <a:solidFill>
              <a:srgbClr val="F09595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8" name="Shape 146"/>
          <p:cNvSpPr/>
          <p:nvPr/>
        </p:nvSpPr>
        <p:spPr>
          <a:xfrm>
            <a:off x="3858191" y="2921508"/>
            <a:ext cx="123971" cy="29147"/>
          </a:xfrm>
          <a:prstGeom prst="rect">
            <a:avLst/>
          </a:prstGeom>
          <a:solidFill>
            <a:srgbClr val="F09595">
              <a:alpha val="30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9" name="Shape 147"/>
          <p:cNvSpPr/>
          <p:nvPr/>
        </p:nvSpPr>
        <p:spPr>
          <a:xfrm>
            <a:off x="308610" y="3020949"/>
            <a:ext cx="8366760" cy="106299"/>
          </a:xfrm>
          <a:prstGeom prst="rect">
            <a:avLst/>
          </a:prstGeom>
          <a:solidFill>
            <a:srgbClr val="E24B4A">
              <a:alpha val="6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0" name="Shape 148"/>
          <p:cNvSpPr/>
          <p:nvPr/>
        </p:nvSpPr>
        <p:spPr>
          <a:xfrm>
            <a:off x="308610" y="3020949"/>
            <a:ext cx="41148" cy="106299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1" name="Text 149"/>
          <p:cNvSpPr/>
          <p:nvPr/>
        </p:nvSpPr>
        <p:spPr>
          <a:xfrm>
            <a:off x="377190" y="3034665"/>
            <a:ext cx="8366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88" b="1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Install Units 11–15</a:t>
            </a:r>
            <a:endParaRPr lang="en-US" sz="4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2" name="Text 150"/>
          <p:cNvSpPr/>
          <p:nvPr/>
        </p:nvSpPr>
        <p:spPr>
          <a:xfrm>
            <a:off x="1234440" y="3034665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8/4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3" name="Text 151"/>
          <p:cNvSpPr/>
          <p:nvPr/>
        </p:nvSpPr>
        <p:spPr>
          <a:xfrm>
            <a:off x="1659636" y="3034665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8/10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4" name="Shape 152"/>
          <p:cNvSpPr/>
          <p:nvPr/>
        </p:nvSpPr>
        <p:spPr>
          <a:xfrm>
            <a:off x="3982162" y="3041523"/>
            <a:ext cx="123971" cy="58293"/>
          </a:xfrm>
          <a:prstGeom prst="rect">
            <a:avLst/>
          </a:prstGeom>
          <a:solidFill>
            <a:srgbClr val="E24B4A"/>
          </a:solidFill>
          <a:ln w="10160">
            <a:solidFill>
              <a:srgbClr val="F09595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5" name="Shape 153"/>
          <p:cNvSpPr/>
          <p:nvPr/>
        </p:nvSpPr>
        <p:spPr>
          <a:xfrm>
            <a:off x="3982162" y="3041523"/>
            <a:ext cx="123971" cy="29147"/>
          </a:xfrm>
          <a:prstGeom prst="rect">
            <a:avLst/>
          </a:prstGeom>
          <a:solidFill>
            <a:srgbClr val="F09595">
              <a:alpha val="30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6" name="Shape 154"/>
          <p:cNvSpPr/>
          <p:nvPr/>
        </p:nvSpPr>
        <p:spPr>
          <a:xfrm>
            <a:off x="308610" y="3140964"/>
            <a:ext cx="8366760" cy="106299"/>
          </a:xfrm>
          <a:prstGeom prst="rect">
            <a:avLst/>
          </a:prstGeom>
          <a:solidFill>
            <a:srgbClr val="E24B4A">
              <a:alpha val="6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7" name="Shape 155"/>
          <p:cNvSpPr/>
          <p:nvPr/>
        </p:nvSpPr>
        <p:spPr>
          <a:xfrm>
            <a:off x="308610" y="3140964"/>
            <a:ext cx="41148" cy="106299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8" name="Text 156"/>
          <p:cNvSpPr/>
          <p:nvPr/>
        </p:nvSpPr>
        <p:spPr>
          <a:xfrm>
            <a:off x="377190" y="3154680"/>
            <a:ext cx="8366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88" b="1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Connectivity &amp; Function Check</a:t>
            </a:r>
            <a:endParaRPr lang="en-US" sz="4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9" name="Text 157"/>
          <p:cNvSpPr/>
          <p:nvPr/>
        </p:nvSpPr>
        <p:spPr>
          <a:xfrm>
            <a:off x="1234440" y="3154680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8/11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0" name="Text 158"/>
          <p:cNvSpPr/>
          <p:nvPr/>
        </p:nvSpPr>
        <p:spPr>
          <a:xfrm>
            <a:off x="1659636" y="3154680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8/17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1" name="Shape 159"/>
          <p:cNvSpPr/>
          <p:nvPr/>
        </p:nvSpPr>
        <p:spPr>
          <a:xfrm>
            <a:off x="4106134" y="3161538"/>
            <a:ext cx="123971" cy="58293"/>
          </a:xfrm>
          <a:prstGeom prst="rect">
            <a:avLst/>
          </a:prstGeom>
          <a:solidFill>
            <a:srgbClr val="E24B4A"/>
          </a:solidFill>
          <a:ln w="10160">
            <a:solidFill>
              <a:srgbClr val="F09595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2" name="Shape 160"/>
          <p:cNvSpPr/>
          <p:nvPr/>
        </p:nvSpPr>
        <p:spPr>
          <a:xfrm>
            <a:off x="4106134" y="3161538"/>
            <a:ext cx="123971" cy="29147"/>
          </a:xfrm>
          <a:prstGeom prst="rect">
            <a:avLst/>
          </a:prstGeom>
          <a:solidFill>
            <a:srgbClr val="F09595">
              <a:alpha val="30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3" name="Shape 161"/>
          <p:cNvSpPr/>
          <p:nvPr/>
        </p:nvSpPr>
        <p:spPr>
          <a:xfrm>
            <a:off x="308610" y="3260979"/>
            <a:ext cx="8366760" cy="106299"/>
          </a:xfrm>
          <a:prstGeom prst="rect">
            <a:avLst/>
          </a:prstGeom>
          <a:solidFill>
            <a:srgbClr val="E24B4A">
              <a:alpha val="6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4" name="Text 162"/>
          <p:cNvSpPr/>
          <p:nvPr/>
        </p:nvSpPr>
        <p:spPr>
          <a:xfrm>
            <a:off x="377190" y="3274695"/>
            <a:ext cx="8366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88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★ All Kiosks Operational</a:t>
            </a:r>
            <a:endParaRPr lang="en-US" sz="4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5" name="Text 163"/>
          <p:cNvSpPr/>
          <p:nvPr/>
        </p:nvSpPr>
        <p:spPr>
          <a:xfrm>
            <a:off x="1234440" y="3274695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8/17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6" name="Text 164"/>
          <p:cNvSpPr/>
          <p:nvPr/>
        </p:nvSpPr>
        <p:spPr>
          <a:xfrm>
            <a:off x="1659636" y="3274695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8/17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7" name="Shape 165"/>
          <p:cNvSpPr/>
          <p:nvPr/>
        </p:nvSpPr>
        <p:spPr>
          <a:xfrm rot="2700000">
            <a:off x="4171247" y="3288411"/>
            <a:ext cx="82296" cy="82296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8" name="Shape 166"/>
          <p:cNvSpPr/>
          <p:nvPr/>
        </p:nvSpPr>
        <p:spPr>
          <a:xfrm>
            <a:off x="308610" y="3380994"/>
            <a:ext cx="8366760" cy="106299"/>
          </a:xfrm>
          <a:prstGeom prst="rect">
            <a:avLst/>
          </a:prstGeom>
          <a:solidFill>
            <a:srgbClr val="378ADD">
              <a:alpha val="12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9" name="Text 167"/>
          <p:cNvSpPr/>
          <p:nvPr/>
        </p:nvSpPr>
        <p:spPr>
          <a:xfrm>
            <a:off x="329184" y="3394710"/>
            <a:ext cx="187909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 b="1" dirty="0">
                <a:solidFill>
                  <a:srgbClr val="378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— PILOT OPERATIONS</a:t>
            </a:r>
            <a:endParaRPr lang="en-US" sz="5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0" name="Shape 168"/>
          <p:cNvSpPr/>
          <p:nvPr/>
        </p:nvSpPr>
        <p:spPr>
          <a:xfrm>
            <a:off x="4230106" y="3401568"/>
            <a:ext cx="3471203" cy="65151"/>
          </a:xfrm>
          <a:prstGeom prst="rect">
            <a:avLst/>
          </a:prstGeom>
          <a:solidFill>
            <a:srgbClr val="378ADD">
              <a:alpha val="50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1" name="Shape 169"/>
          <p:cNvSpPr/>
          <p:nvPr/>
        </p:nvSpPr>
        <p:spPr>
          <a:xfrm>
            <a:off x="308610" y="3501009"/>
            <a:ext cx="8366760" cy="106299"/>
          </a:xfrm>
          <a:prstGeom prst="rect">
            <a:avLst/>
          </a:prstGeom>
          <a:solidFill>
            <a:srgbClr val="E24B4A">
              <a:alpha val="6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2" name="Shape 170"/>
          <p:cNvSpPr/>
          <p:nvPr/>
        </p:nvSpPr>
        <p:spPr>
          <a:xfrm>
            <a:off x="308610" y="3501009"/>
            <a:ext cx="41148" cy="106299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3" name="Text 171"/>
          <p:cNvSpPr/>
          <p:nvPr/>
        </p:nvSpPr>
        <p:spPr>
          <a:xfrm>
            <a:off x="377190" y="3514725"/>
            <a:ext cx="8366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88" b="1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Venue Staff Training</a:t>
            </a:r>
            <a:endParaRPr lang="en-US" sz="4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4" name="Text 172"/>
          <p:cNvSpPr/>
          <p:nvPr/>
        </p:nvSpPr>
        <p:spPr>
          <a:xfrm>
            <a:off x="1234440" y="3514725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8/18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5" name="Text 173"/>
          <p:cNvSpPr/>
          <p:nvPr/>
        </p:nvSpPr>
        <p:spPr>
          <a:xfrm>
            <a:off x="1659636" y="3514725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8/31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6" name="Shape 174"/>
          <p:cNvSpPr/>
          <p:nvPr/>
        </p:nvSpPr>
        <p:spPr>
          <a:xfrm>
            <a:off x="4230106" y="3521583"/>
            <a:ext cx="247943" cy="58293"/>
          </a:xfrm>
          <a:prstGeom prst="rect">
            <a:avLst/>
          </a:prstGeom>
          <a:solidFill>
            <a:srgbClr val="E24B4A"/>
          </a:solidFill>
          <a:ln w="10160">
            <a:solidFill>
              <a:srgbClr val="F09595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7" name="Shape 175"/>
          <p:cNvSpPr/>
          <p:nvPr/>
        </p:nvSpPr>
        <p:spPr>
          <a:xfrm>
            <a:off x="4230106" y="3521583"/>
            <a:ext cx="247943" cy="29147"/>
          </a:xfrm>
          <a:prstGeom prst="rect">
            <a:avLst/>
          </a:prstGeom>
          <a:solidFill>
            <a:srgbClr val="F09595">
              <a:alpha val="30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8" name="Shape 176"/>
          <p:cNvSpPr/>
          <p:nvPr/>
        </p:nvSpPr>
        <p:spPr>
          <a:xfrm>
            <a:off x="308610" y="3621024"/>
            <a:ext cx="8366760" cy="106299"/>
          </a:xfrm>
          <a:prstGeom prst="rect">
            <a:avLst/>
          </a:prstGeom>
          <a:solidFill>
            <a:srgbClr val="071420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9" name="Text 177"/>
          <p:cNvSpPr/>
          <p:nvPr/>
        </p:nvSpPr>
        <p:spPr>
          <a:xfrm>
            <a:off x="377190" y="3634740"/>
            <a:ext cx="8366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88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Marketing Materials Design</a:t>
            </a:r>
            <a:endParaRPr lang="en-US" sz="4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0" name="Text 178"/>
          <p:cNvSpPr/>
          <p:nvPr/>
        </p:nvSpPr>
        <p:spPr>
          <a:xfrm>
            <a:off x="1234440" y="3634740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5/4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1" name="Text 179"/>
          <p:cNvSpPr/>
          <p:nvPr/>
        </p:nvSpPr>
        <p:spPr>
          <a:xfrm>
            <a:off x="1659636" y="3634740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5/22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2" name="Shape 180"/>
          <p:cNvSpPr/>
          <p:nvPr/>
        </p:nvSpPr>
        <p:spPr>
          <a:xfrm>
            <a:off x="2352822" y="3648456"/>
            <a:ext cx="336494" cy="44577"/>
          </a:xfrm>
          <a:prstGeom prst="rect">
            <a:avLst/>
          </a:prstGeom>
          <a:solidFill>
            <a:srgbClr val="378ADD">
              <a:alpha val="70000"/>
            </a:srgbClr>
          </a:solidFill>
          <a:ln w="3810">
            <a:solidFill>
              <a:srgbClr val="378ADD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3" name="Text 181"/>
          <p:cNvSpPr/>
          <p:nvPr/>
        </p:nvSpPr>
        <p:spPr>
          <a:xfrm>
            <a:off x="377190" y="3754755"/>
            <a:ext cx="8366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88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Signage Deployment</a:t>
            </a:r>
            <a:endParaRPr lang="en-US" sz="4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4" name="Text 182"/>
          <p:cNvSpPr/>
          <p:nvPr/>
        </p:nvSpPr>
        <p:spPr>
          <a:xfrm>
            <a:off x="1234440" y="3754755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5/25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5" name="Text 183"/>
          <p:cNvSpPr/>
          <p:nvPr/>
        </p:nvSpPr>
        <p:spPr>
          <a:xfrm>
            <a:off x="1659636" y="3754755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6/5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6" name="Shape 184"/>
          <p:cNvSpPr/>
          <p:nvPr/>
        </p:nvSpPr>
        <p:spPr>
          <a:xfrm>
            <a:off x="2724737" y="3768471"/>
            <a:ext cx="212523" cy="44577"/>
          </a:xfrm>
          <a:prstGeom prst="rect">
            <a:avLst/>
          </a:prstGeom>
          <a:solidFill>
            <a:srgbClr val="378ADD">
              <a:alpha val="70000"/>
            </a:srgbClr>
          </a:solidFill>
          <a:ln w="3810">
            <a:solidFill>
              <a:srgbClr val="378ADD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7" name="Shape 185"/>
          <p:cNvSpPr/>
          <p:nvPr/>
        </p:nvSpPr>
        <p:spPr>
          <a:xfrm>
            <a:off x="308610" y="3861054"/>
            <a:ext cx="8366760" cy="106299"/>
          </a:xfrm>
          <a:prstGeom prst="rect">
            <a:avLst/>
          </a:prstGeom>
          <a:solidFill>
            <a:srgbClr val="071420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8" name="Text 186"/>
          <p:cNvSpPr/>
          <p:nvPr/>
        </p:nvSpPr>
        <p:spPr>
          <a:xfrm>
            <a:off x="377190" y="3874770"/>
            <a:ext cx="8366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88" b="1" dirty="0">
                <a:solidFill>
                  <a:srgbClr val="378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★ Awareness Campaign Launch</a:t>
            </a:r>
            <a:endParaRPr lang="en-US" sz="4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9" name="Text 187"/>
          <p:cNvSpPr/>
          <p:nvPr/>
        </p:nvSpPr>
        <p:spPr>
          <a:xfrm>
            <a:off x="1234440" y="3874770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8/31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0" name="Text 188"/>
          <p:cNvSpPr/>
          <p:nvPr/>
        </p:nvSpPr>
        <p:spPr>
          <a:xfrm>
            <a:off x="1659636" y="3874770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8/31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1" name="Shape 189"/>
          <p:cNvSpPr/>
          <p:nvPr/>
        </p:nvSpPr>
        <p:spPr>
          <a:xfrm rot="2700000">
            <a:off x="4419190" y="3888486"/>
            <a:ext cx="82296" cy="82296"/>
          </a:xfrm>
          <a:prstGeom prst="rect">
            <a:avLst/>
          </a:prstGeom>
          <a:solidFill>
            <a:srgbClr val="378ADD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2" name="Text 190"/>
          <p:cNvSpPr/>
          <p:nvPr/>
        </p:nvSpPr>
        <p:spPr>
          <a:xfrm>
            <a:off x="377190" y="3994785"/>
            <a:ext cx="8366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88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Rideshare Partnership Outreach</a:t>
            </a:r>
            <a:endParaRPr lang="en-US" sz="4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3" name="Text 191"/>
          <p:cNvSpPr/>
          <p:nvPr/>
        </p:nvSpPr>
        <p:spPr>
          <a:xfrm>
            <a:off x="1234440" y="3994785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5/4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4" name="Text 192"/>
          <p:cNvSpPr/>
          <p:nvPr/>
        </p:nvSpPr>
        <p:spPr>
          <a:xfrm>
            <a:off x="1659636" y="3994785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6/12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5" name="Shape 193"/>
          <p:cNvSpPr/>
          <p:nvPr/>
        </p:nvSpPr>
        <p:spPr>
          <a:xfrm>
            <a:off x="2352822" y="4008501"/>
            <a:ext cx="708409" cy="44577"/>
          </a:xfrm>
          <a:prstGeom prst="rect">
            <a:avLst/>
          </a:prstGeom>
          <a:solidFill>
            <a:srgbClr val="378ADD">
              <a:alpha val="70000"/>
            </a:srgbClr>
          </a:solidFill>
          <a:ln w="3810">
            <a:solidFill>
              <a:srgbClr val="378ADD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6" name="Shape 194"/>
          <p:cNvSpPr/>
          <p:nvPr/>
        </p:nvSpPr>
        <p:spPr>
          <a:xfrm>
            <a:off x="308610" y="4101084"/>
            <a:ext cx="8366760" cy="106299"/>
          </a:xfrm>
          <a:prstGeom prst="rect">
            <a:avLst/>
          </a:prstGeom>
          <a:solidFill>
            <a:srgbClr val="E24B4A">
              <a:alpha val="6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7" name="Shape 195"/>
          <p:cNvSpPr/>
          <p:nvPr/>
        </p:nvSpPr>
        <p:spPr>
          <a:xfrm>
            <a:off x="308610" y="4101084"/>
            <a:ext cx="41148" cy="106299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8" name="Text 196"/>
          <p:cNvSpPr/>
          <p:nvPr/>
        </p:nvSpPr>
        <p:spPr>
          <a:xfrm>
            <a:off x="377190" y="4114800"/>
            <a:ext cx="8366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88" b="1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Kiosk Operations &amp; Monitoring</a:t>
            </a:r>
            <a:endParaRPr lang="en-US" sz="4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9" name="Text 197"/>
          <p:cNvSpPr/>
          <p:nvPr/>
        </p:nvSpPr>
        <p:spPr>
          <a:xfrm>
            <a:off x="1234440" y="4114800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0" name="Text 198"/>
          <p:cNvSpPr/>
          <p:nvPr/>
        </p:nvSpPr>
        <p:spPr>
          <a:xfrm>
            <a:off x="1659636" y="4114800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1" name="Shape 199"/>
          <p:cNvSpPr/>
          <p:nvPr/>
        </p:nvSpPr>
        <p:spPr>
          <a:xfrm>
            <a:off x="4478048" y="4121658"/>
            <a:ext cx="3223260" cy="58293"/>
          </a:xfrm>
          <a:prstGeom prst="rect">
            <a:avLst/>
          </a:prstGeom>
          <a:solidFill>
            <a:srgbClr val="E24B4A"/>
          </a:solidFill>
          <a:ln w="10160">
            <a:solidFill>
              <a:srgbClr val="F09595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2" name="Shape 200"/>
          <p:cNvSpPr/>
          <p:nvPr/>
        </p:nvSpPr>
        <p:spPr>
          <a:xfrm>
            <a:off x="4478048" y="4121658"/>
            <a:ext cx="3223260" cy="29147"/>
          </a:xfrm>
          <a:prstGeom prst="rect">
            <a:avLst/>
          </a:prstGeom>
          <a:solidFill>
            <a:srgbClr val="F09595">
              <a:alpha val="30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3" name="Shape 201"/>
          <p:cNvSpPr/>
          <p:nvPr/>
        </p:nvSpPr>
        <p:spPr>
          <a:xfrm>
            <a:off x="308610" y="4221099"/>
            <a:ext cx="8366760" cy="106299"/>
          </a:xfrm>
          <a:prstGeom prst="rect">
            <a:avLst/>
          </a:prstGeom>
          <a:solidFill>
            <a:srgbClr val="7F77DD">
              <a:alpha val="12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4" name="Text 202"/>
          <p:cNvSpPr/>
          <p:nvPr/>
        </p:nvSpPr>
        <p:spPr>
          <a:xfrm>
            <a:off x="329184" y="4234815"/>
            <a:ext cx="187909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— EVALUATION</a:t>
            </a:r>
            <a:endParaRPr lang="en-US" sz="5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5" name="Shape 203"/>
          <p:cNvSpPr/>
          <p:nvPr/>
        </p:nvSpPr>
        <p:spPr>
          <a:xfrm>
            <a:off x="4230105" y="4241673"/>
            <a:ext cx="4445265" cy="65151"/>
          </a:xfrm>
          <a:prstGeom prst="rect">
            <a:avLst/>
          </a:prstGeom>
          <a:solidFill>
            <a:srgbClr val="7F77DD">
              <a:alpha val="50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6" name="Shape 204"/>
          <p:cNvSpPr/>
          <p:nvPr/>
        </p:nvSpPr>
        <p:spPr>
          <a:xfrm>
            <a:off x="308610" y="4341114"/>
            <a:ext cx="8366760" cy="106299"/>
          </a:xfrm>
          <a:prstGeom prst="rect">
            <a:avLst/>
          </a:prstGeom>
          <a:solidFill>
            <a:srgbClr val="E24B4A">
              <a:alpha val="6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7" name="Shape 205"/>
          <p:cNvSpPr/>
          <p:nvPr/>
        </p:nvSpPr>
        <p:spPr>
          <a:xfrm>
            <a:off x="308610" y="4341114"/>
            <a:ext cx="41148" cy="106299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8" name="Text 206"/>
          <p:cNvSpPr/>
          <p:nvPr/>
        </p:nvSpPr>
        <p:spPr>
          <a:xfrm>
            <a:off x="377190" y="4354830"/>
            <a:ext cx="8366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88" b="1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Weekly Data Quality Checks</a:t>
            </a:r>
            <a:endParaRPr lang="en-US" sz="4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9" name="Text 207"/>
          <p:cNvSpPr/>
          <p:nvPr/>
        </p:nvSpPr>
        <p:spPr>
          <a:xfrm>
            <a:off x="1234440" y="4354830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8/18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0" name="Text 208"/>
          <p:cNvSpPr/>
          <p:nvPr/>
        </p:nvSpPr>
        <p:spPr>
          <a:xfrm>
            <a:off x="1659636" y="4354830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2/15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1" name="Shape 209"/>
          <p:cNvSpPr/>
          <p:nvPr/>
        </p:nvSpPr>
        <p:spPr>
          <a:xfrm>
            <a:off x="4230105" y="4361688"/>
            <a:ext cx="3223260" cy="58293"/>
          </a:xfrm>
          <a:prstGeom prst="rect">
            <a:avLst/>
          </a:prstGeom>
          <a:solidFill>
            <a:srgbClr val="E24B4A"/>
          </a:solidFill>
          <a:ln w="10160">
            <a:solidFill>
              <a:srgbClr val="F09595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2" name="Shape 210"/>
          <p:cNvSpPr/>
          <p:nvPr/>
        </p:nvSpPr>
        <p:spPr>
          <a:xfrm>
            <a:off x="4230105" y="4361688"/>
            <a:ext cx="3223260" cy="29147"/>
          </a:xfrm>
          <a:prstGeom prst="rect">
            <a:avLst/>
          </a:prstGeom>
          <a:solidFill>
            <a:srgbClr val="F09595">
              <a:alpha val="30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3" name="Text 211"/>
          <p:cNvSpPr/>
          <p:nvPr/>
        </p:nvSpPr>
        <p:spPr>
          <a:xfrm>
            <a:off x="377190" y="4474845"/>
            <a:ext cx="8366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88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DUI Baseline Data Request</a:t>
            </a:r>
            <a:endParaRPr lang="en-US" sz="4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4" name="Text 212"/>
          <p:cNvSpPr/>
          <p:nvPr/>
        </p:nvSpPr>
        <p:spPr>
          <a:xfrm>
            <a:off x="1234440" y="4474845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5/4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5" name="Text 213"/>
          <p:cNvSpPr/>
          <p:nvPr/>
        </p:nvSpPr>
        <p:spPr>
          <a:xfrm>
            <a:off x="1659636" y="4474845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5/29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6" name="Shape 214"/>
          <p:cNvSpPr/>
          <p:nvPr/>
        </p:nvSpPr>
        <p:spPr>
          <a:xfrm>
            <a:off x="2352821" y="4488561"/>
            <a:ext cx="460466" cy="44577"/>
          </a:xfrm>
          <a:prstGeom prst="rect">
            <a:avLst/>
          </a:prstGeom>
          <a:solidFill>
            <a:srgbClr val="7F77DD">
              <a:alpha val="70000"/>
            </a:srgbClr>
          </a:solidFill>
          <a:ln w="3810">
            <a:solidFill>
              <a:srgbClr val="7F77DD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7" name="Shape 215"/>
          <p:cNvSpPr/>
          <p:nvPr/>
        </p:nvSpPr>
        <p:spPr>
          <a:xfrm>
            <a:off x="308610" y="4581144"/>
            <a:ext cx="8366760" cy="106299"/>
          </a:xfrm>
          <a:prstGeom prst="rect">
            <a:avLst/>
          </a:prstGeom>
          <a:solidFill>
            <a:srgbClr val="071420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8" name="Text 216"/>
          <p:cNvSpPr/>
          <p:nvPr/>
        </p:nvSpPr>
        <p:spPr>
          <a:xfrm>
            <a:off x="377190" y="4594860"/>
            <a:ext cx="8366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88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Mid-Pilot KPI Review</a:t>
            </a:r>
            <a:endParaRPr lang="en-US" sz="4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9" name="Text 217"/>
          <p:cNvSpPr/>
          <p:nvPr/>
        </p:nvSpPr>
        <p:spPr>
          <a:xfrm>
            <a:off x="1234440" y="4594860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11/17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0" name="Text 218"/>
          <p:cNvSpPr/>
          <p:nvPr/>
        </p:nvSpPr>
        <p:spPr>
          <a:xfrm>
            <a:off x="1659636" y="4594860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11/23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1" name="Shape 219"/>
          <p:cNvSpPr/>
          <p:nvPr/>
        </p:nvSpPr>
        <p:spPr>
          <a:xfrm>
            <a:off x="5841736" y="4608576"/>
            <a:ext cx="123971" cy="44577"/>
          </a:xfrm>
          <a:prstGeom prst="rect">
            <a:avLst/>
          </a:prstGeom>
          <a:solidFill>
            <a:srgbClr val="7F77DD">
              <a:alpha val="70000"/>
            </a:srgbClr>
          </a:solidFill>
          <a:ln w="3810">
            <a:solidFill>
              <a:srgbClr val="7F77DD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2" name="Shape 220"/>
          <p:cNvSpPr/>
          <p:nvPr/>
        </p:nvSpPr>
        <p:spPr>
          <a:xfrm>
            <a:off x="308610" y="4701159"/>
            <a:ext cx="8366760" cy="106299"/>
          </a:xfrm>
          <a:prstGeom prst="rect">
            <a:avLst/>
          </a:prstGeom>
          <a:solidFill>
            <a:srgbClr val="E24B4A">
              <a:alpha val="6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3" name="Shape 221"/>
          <p:cNvSpPr/>
          <p:nvPr/>
        </p:nvSpPr>
        <p:spPr>
          <a:xfrm>
            <a:off x="308610" y="4701159"/>
            <a:ext cx="41148" cy="106299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4" name="Text 222"/>
          <p:cNvSpPr/>
          <p:nvPr/>
        </p:nvSpPr>
        <p:spPr>
          <a:xfrm>
            <a:off x="377190" y="4714875"/>
            <a:ext cx="8366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88" b="1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Final Data Aggregation</a:t>
            </a:r>
            <a:endParaRPr lang="en-US" sz="4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5" name="Text 223"/>
          <p:cNvSpPr/>
          <p:nvPr/>
        </p:nvSpPr>
        <p:spPr>
          <a:xfrm>
            <a:off x="1234440" y="4714875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3/2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6" name="Text 224"/>
          <p:cNvSpPr/>
          <p:nvPr/>
        </p:nvSpPr>
        <p:spPr>
          <a:xfrm>
            <a:off x="1659636" y="4714875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3/29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7" name="Shape 225"/>
          <p:cNvSpPr/>
          <p:nvPr/>
        </p:nvSpPr>
        <p:spPr>
          <a:xfrm>
            <a:off x="7701308" y="4721733"/>
            <a:ext cx="495887" cy="58293"/>
          </a:xfrm>
          <a:prstGeom prst="rect">
            <a:avLst/>
          </a:prstGeom>
          <a:solidFill>
            <a:srgbClr val="E24B4A"/>
          </a:solidFill>
          <a:ln w="10160">
            <a:solidFill>
              <a:srgbClr val="F09595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8" name="Shape 226"/>
          <p:cNvSpPr/>
          <p:nvPr/>
        </p:nvSpPr>
        <p:spPr>
          <a:xfrm>
            <a:off x="7701308" y="4721733"/>
            <a:ext cx="495887" cy="29147"/>
          </a:xfrm>
          <a:prstGeom prst="rect">
            <a:avLst/>
          </a:prstGeom>
          <a:solidFill>
            <a:srgbClr val="F09595">
              <a:alpha val="30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9" name="Shape 227"/>
          <p:cNvSpPr/>
          <p:nvPr/>
        </p:nvSpPr>
        <p:spPr>
          <a:xfrm>
            <a:off x="308610" y="4821174"/>
            <a:ext cx="8366760" cy="106299"/>
          </a:xfrm>
          <a:prstGeom prst="rect">
            <a:avLst/>
          </a:prstGeom>
          <a:solidFill>
            <a:srgbClr val="E24B4A">
              <a:alpha val="6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0" name="Shape 228"/>
          <p:cNvSpPr/>
          <p:nvPr/>
        </p:nvSpPr>
        <p:spPr>
          <a:xfrm>
            <a:off x="308610" y="4821174"/>
            <a:ext cx="41148" cy="106299"/>
          </a:xfrm>
          <a:prstGeom prst="rect">
            <a:avLst/>
          </a:prstGeom>
          <a:solidFill>
            <a:srgbClr val="E24B4A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1" name="Text 229"/>
          <p:cNvSpPr/>
          <p:nvPr/>
        </p:nvSpPr>
        <p:spPr>
          <a:xfrm>
            <a:off x="377190" y="4834890"/>
            <a:ext cx="8366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88" b="1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Final Report Compilation</a:t>
            </a:r>
            <a:endParaRPr lang="en-US" sz="4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2" name="Text 230"/>
          <p:cNvSpPr/>
          <p:nvPr/>
        </p:nvSpPr>
        <p:spPr>
          <a:xfrm>
            <a:off x="1234440" y="4834890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3/30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3" name="Text 231"/>
          <p:cNvSpPr/>
          <p:nvPr/>
        </p:nvSpPr>
        <p:spPr>
          <a:xfrm>
            <a:off x="1659636" y="4834890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4/26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4" name="Shape 232"/>
          <p:cNvSpPr/>
          <p:nvPr/>
        </p:nvSpPr>
        <p:spPr>
          <a:xfrm>
            <a:off x="8197194" y="4841748"/>
            <a:ext cx="478176" cy="58293"/>
          </a:xfrm>
          <a:prstGeom prst="rect">
            <a:avLst/>
          </a:prstGeom>
          <a:solidFill>
            <a:srgbClr val="E24B4A"/>
          </a:solidFill>
          <a:ln w="10160">
            <a:solidFill>
              <a:srgbClr val="F09595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5" name="Shape 233"/>
          <p:cNvSpPr/>
          <p:nvPr/>
        </p:nvSpPr>
        <p:spPr>
          <a:xfrm>
            <a:off x="8197194" y="4841748"/>
            <a:ext cx="478176" cy="29147"/>
          </a:xfrm>
          <a:prstGeom prst="rect">
            <a:avLst/>
          </a:prstGeom>
          <a:solidFill>
            <a:srgbClr val="F09595">
              <a:alpha val="30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6" name="Shape 234"/>
          <p:cNvSpPr/>
          <p:nvPr/>
        </p:nvSpPr>
        <p:spPr>
          <a:xfrm>
            <a:off x="308610" y="4941189"/>
            <a:ext cx="8366760" cy="106299"/>
          </a:xfrm>
          <a:prstGeom prst="rect">
            <a:avLst/>
          </a:prstGeom>
          <a:solidFill>
            <a:srgbClr val="E24B4A">
              <a:alpha val="6000"/>
            </a:srgbClr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7" name="Text 235"/>
          <p:cNvSpPr/>
          <p:nvPr/>
        </p:nvSpPr>
        <p:spPr>
          <a:xfrm>
            <a:off x="377190" y="4954905"/>
            <a:ext cx="8366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88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★ Final Report Delivered</a:t>
            </a:r>
            <a:endParaRPr lang="en-US" sz="4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8" name="Text 236"/>
          <p:cNvSpPr/>
          <p:nvPr/>
        </p:nvSpPr>
        <p:spPr>
          <a:xfrm>
            <a:off x="1234440" y="4954905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4/26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9" name="Text 237"/>
          <p:cNvSpPr/>
          <p:nvPr/>
        </p:nvSpPr>
        <p:spPr>
          <a:xfrm>
            <a:off x="1659636" y="4954905"/>
            <a:ext cx="411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45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4/26</a:t>
            </a:r>
            <a:endParaRPr lang="en-US" sz="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0" name="Shape 238"/>
          <p:cNvSpPr/>
          <p:nvPr/>
        </p:nvSpPr>
        <p:spPr>
          <a:xfrm rot="2700000">
            <a:off x="8634222" y="4968621"/>
            <a:ext cx="82296" cy="82296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1" name="Shape 239"/>
          <p:cNvSpPr/>
          <p:nvPr/>
        </p:nvSpPr>
        <p:spPr>
          <a:xfrm>
            <a:off x="308610" y="4855464"/>
            <a:ext cx="123444" cy="82296"/>
          </a:xfrm>
          <a:prstGeom prst="rect">
            <a:avLst/>
          </a:prstGeom>
          <a:solidFill>
            <a:srgbClr val="E24B4A">
              <a:alpha val="80000"/>
            </a:srgbClr>
          </a:solidFill>
          <a:ln w="6350">
            <a:solidFill>
              <a:srgbClr val="E24B4A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2" name="Text 240"/>
          <p:cNvSpPr/>
          <p:nvPr/>
        </p:nvSpPr>
        <p:spPr>
          <a:xfrm>
            <a:off x="459486" y="4834890"/>
            <a:ext cx="10287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25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</a:t>
            </a:r>
            <a:endParaRPr lang="en-US" sz="5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3" name="Shape 241"/>
          <p:cNvSpPr/>
          <p:nvPr/>
        </p:nvSpPr>
        <p:spPr>
          <a:xfrm>
            <a:off x="1556766" y="4855464"/>
            <a:ext cx="123444" cy="82296"/>
          </a:xfrm>
          <a:prstGeom prst="rect">
            <a:avLst/>
          </a:prstGeom>
          <a:solidFill>
            <a:srgbClr val="EF9F27">
              <a:alpha val="80000"/>
            </a:srgbClr>
          </a:solidFill>
          <a:ln w="6350">
            <a:solidFill>
              <a:srgbClr val="EF9F27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4" name="Text 242"/>
          <p:cNvSpPr/>
          <p:nvPr/>
        </p:nvSpPr>
        <p:spPr>
          <a:xfrm>
            <a:off x="1707642" y="4834890"/>
            <a:ext cx="10287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25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Dev</a:t>
            </a:r>
            <a:endParaRPr lang="en-US" sz="5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5" name="Shape 243"/>
          <p:cNvSpPr/>
          <p:nvPr/>
        </p:nvSpPr>
        <p:spPr>
          <a:xfrm>
            <a:off x="2804922" y="4855464"/>
            <a:ext cx="123444" cy="82296"/>
          </a:xfrm>
          <a:prstGeom prst="rect">
            <a:avLst/>
          </a:prstGeom>
          <a:solidFill>
            <a:srgbClr val="1D9E75">
              <a:alpha val="80000"/>
            </a:srgbClr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6" name="Text 244"/>
          <p:cNvSpPr/>
          <p:nvPr/>
        </p:nvSpPr>
        <p:spPr>
          <a:xfrm>
            <a:off x="2955798" y="4834890"/>
            <a:ext cx="10287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25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</a:t>
            </a:r>
            <a:endParaRPr lang="en-US" sz="5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7" name="Shape 245"/>
          <p:cNvSpPr/>
          <p:nvPr/>
        </p:nvSpPr>
        <p:spPr>
          <a:xfrm>
            <a:off x="4053078" y="4855464"/>
            <a:ext cx="123444" cy="82296"/>
          </a:xfrm>
          <a:prstGeom prst="rect">
            <a:avLst/>
          </a:prstGeom>
          <a:solidFill>
            <a:srgbClr val="378ADD">
              <a:alpha val="80000"/>
            </a:srgbClr>
          </a:solidFill>
          <a:ln w="6350">
            <a:solidFill>
              <a:srgbClr val="378ADD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8" name="Text 246"/>
          <p:cNvSpPr/>
          <p:nvPr/>
        </p:nvSpPr>
        <p:spPr>
          <a:xfrm>
            <a:off x="4203954" y="4834890"/>
            <a:ext cx="10287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25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5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9" name="Shape 247"/>
          <p:cNvSpPr/>
          <p:nvPr/>
        </p:nvSpPr>
        <p:spPr>
          <a:xfrm>
            <a:off x="5301234" y="4855464"/>
            <a:ext cx="123444" cy="82296"/>
          </a:xfrm>
          <a:prstGeom prst="rect">
            <a:avLst/>
          </a:prstGeom>
          <a:solidFill>
            <a:srgbClr val="7F77DD">
              <a:alpha val="80000"/>
            </a:srgbClr>
          </a:solidFill>
          <a:ln w="6350">
            <a:solidFill>
              <a:srgbClr val="7F77DD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0" name="Text 248"/>
          <p:cNvSpPr/>
          <p:nvPr/>
        </p:nvSpPr>
        <p:spPr>
          <a:xfrm>
            <a:off x="5452110" y="4834890"/>
            <a:ext cx="10287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25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5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1" name="Shape 249"/>
          <p:cNvSpPr/>
          <p:nvPr/>
        </p:nvSpPr>
        <p:spPr>
          <a:xfrm>
            <a:off x="6549390" y="4855464"/>
            <a:ext cx="123444" cy="82296"/>
          </a:xfrm>
          <a:prstGeom prst="rect">
            <a:avLst/>
          </a:prstGeom>
          <a:solidFill>
            <a:srgbClr val="E24B4A"/>
          </a:solidFill>
          <a:ln w="10160">
            <a:solidFill>
              <a:srgbClr val="F09595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2" name="Text 250"/>
          <p:cNvSpPr/>
          <p:nvPr/>
        </p:nvSpPr>
        <p:spPr>
          <a:xfrm>
            <a:off x="6700266" y="4834890"/>
            <a:ext cx="10287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25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Path</a:t>
            </a:r>
            <a:endParaRPr lang="en-US" sz="5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3" name="Shape 251"/>
          <p:cNvSpPr/>
          <p:nvPr/>
        </p:nvSpPr>
        <p:spPr>
          <a:xfrm>
            <a:off x="7797546" y="4882896"/>
            <a:ext cx="123444" cy="0"/>
          </a:xfrm>
          <a:prstGeom prst="line">
            <a:avLst/>
          </a:prstGeom>
          <a:noFill/>
          <a:ln w="19050">
            <a:solidFill>
              <a:srgbClr val="5DCAA5"/>
            </a:solidFill>
            <a:prstDash val="dash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4" name="Text 252"/>
          <p:cNvSpPr/>
          <p:nvPr/>
        </p:nvSpPr>
        <p:spPr>
          <a:xfrm>
            <a:off x="7948422" y="4834890"/>
            <a:ext cx="10287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25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5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5" name="Shape 253"/>
          <p:cNvSpPr/>
          <p:nvPr/>
        </p:nvSpPr>
        <p:spPr>
          <a:xfrm>
            <a:off x="308610" y="4786884"/>
            <a:ext cx="8503920" cy="0"/>
          </a:xfrm>
          <a:prstGeom prst="line">
            <a:avLst/>
          </a:prstGeom>
          <a:noFill/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6" name="Text 254"/>
          <p:cNvSpPr/>
          <p:nvPr/>
        </p:nvSpPr>
        <p:spPr>
          <a:xfrm>
            <a:off x="308610" y="4855464"/>
            <a:ext cx="27432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drinkwellleavebetter.com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7" name="Text 255"/>
          <p:cNvSpPr/>
          <p:nvPr/>
        </p:nvSpPr>
        <p:spPr>
          <a:xfrm>
            <a:off x="3086100" y="4855464"/>
            <a:ext cx="37719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525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path = tasks with zero float that control project end date</a:t>
            </a:r>
            <a:endParaRPr lang="en-US" sz="5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8" name="Text 256"/>
          <p:cNvSpPr/>
          <p:nvPr/>
        </p:nvSpPr>
        <p:spPr>
          <a:xfrm>
            <a:off x="7200900" y="4855464"/>
            <a:ext cx="157734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23, 2026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BS Milestones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8686800" cy="4754880"/>
          </a:xfrm>
          <a:prstGeom prst="rect">
            <a:avLst/>
          </a:prstGeom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274320"/>
            <a:ext cx="8503920" cy="4572000"/>
          </a:xfrm>
          <a:prstGeom prst="rect">
            <a:avLst/>
          </a:prstGeom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502920" y="32918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</a:rPr>
              <a:t>WBS Milestones &amp; Acceptance Criteria</a:t>
            </a:r>
          </a:p>
        </p:txBody>
      </p:sp>
      <p:sp>
        <p:nvSpPr>
          <p:cNvPr id="5" name="Subtitle"/>
          <p:cNvSpPr/>
          <p:nvPr/>
        </p:nvSpPr>
        <p:spPr>
          <a:xfrm>
            <a:off x="502920" y="78638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DCAA5"/>
                </a:solidFill>
                <a:latin typeface="Arial" pitchFamily="34" charset="0"/>
              </a:rPr>
              <a:t>STRUCTURED DELIVERABLES · MEASURABLE ACCEPTANCE CRITERIA · 9-MONTH TIMELINE</a:t>
            </a:r>
          </a:p>
        </p:txBody>
      </p:sp>
      <p:sp>
        <p:nvSpPr>
          <p:cNvPr id="6" name="Line1"/>
          <p:cNvSpPr/>
          <p:nvPr/>
        </p:nvSpPr>
        <p:spPr>
          <a:xfrm>
            <a:off x="502920" y="786384"/>
            <a:ext cx="8138160" cy="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HeaderBg"/>
          <p:cNvSpPr/>
          <p:nvPr/>
        </p:nvSpPr>
        <p:spPr>
          <a:xfrm>
            <a:off x="438912" y="932688"/>
            <a:ext cx="8321040" cy="237744"/>
          </a:xfrm>
          <a:prstGeom prst="rect">
            <a:avLst/>
          </a:prstGeom>
          <a:solidFill>
            <a:srgbClr val="0A1C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ColH1"/>
          <p:cNvSpPr/>
          <p:nvPr/>
        </p:nvSpPr>
        <p:spPr>
          <a:xfrm>
            <a:off x="475488" y="9509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DCAA5"/>
                </a:solidFill>
                <a:latin typeface="Arial" pitchFamily="34" charset="0"/>
              </a:rPr>
              <a:t>Milestone</a:t>
            </a:r>
          </a:p>
        </p:txBody>
      </p:sp>
      <p:sp>
        <p:nvSpPr>
          <p:cNvPr id="9" name="ColH2"/>
          <p:cNvSpPr/>
          <p:nvPr/>
        </p:nvSpPr>
        <p:spPr>
          <a:xfrm>
            <a:off x="2395488" y="9509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DCAA5"/>
                </a:solidFill>
                <a:latin typeface="Arial" pitchFamily="34" charset="0"/>
              </a:rPr>
              <a:t>Target Date</a:t>
            </a:r>
          </a:p>
        </p:txBody>
      </p:sp>
      <p:sp>
        <p:nvSpPr>
          <p:cNvPr id="10" name="ColH3"/>
          <p:cNvSpPr/>
          <p:nvPr/>
        </p:nvSpPr>
        <p:spPr>
          <a:xfrm>
            <a:off x="3584688" y="950976"/>
            <a:ext cx="487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DCAA5"/>
                </a:solidFill>
                <a:latin typeface="Arial" pitchFamily="34" charset="0"/>
              </a:rPr>
              <a:t>Acceptance Criteria</a:t>
            </a:r>
          </a:p>
        </p:txBody>
      </p:sp>
      <p:sp>
        <p:nvSpPr>
          <p:cNvPr id="11" name="HdrLine"/>
          <p:cNvSpPr/>
          <p:nvPr/>
        </p:nvSpPr>
        <p:spPr>
          <a:xfrm>
            <a:off x="438912" y="1170432"/>
            <a:ext cx="8321040" cy="0"/>
          </a:xfrm>
          <a:prstGeom prst="line">
            <a:avLst/>
          </a:prstGeom>
          <a:noFill/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RowBg0"/>
          <p:cNvSpPr/>
          <p:nvPr/>
        </p:nvSpPr>
        <p:spPr>
          <a:xfrm>
            <a:off x="438912" y="1207008"/>
            <a:ext cx="8321040" cy="393000"/>
          </a:xfrm>
          <a:prstGeom prst="rect">
            <a:avLst/>
          </a:prstGeom>
          <a:solidFill>
            <a:srgbClr val="071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Milestone0"/>
          <p:cNvSpPr/>
          <p:nvPr/>
        </p:nvSpPr>
        <p:spPr>
          <a:xfrm>
            <a:off x="475488" y="1267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</a:rPr>
              <a:t>Vendor Selected</a:t>
            </a:r>
          </a:p>
        </p:txBody>
      </p:sp>
      <p:sp>
        <p:nvSpPr>
          <p:cNvPr id="102" name="Date0"/>
          <p:cNvSpPr/>
          <p:nvPr/>
        </p:nvSpPr>
        <p:spPr>
          <a:xfrm>
            <a:off x="2395488" y="12670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D9E75"/>
                </a:solidFill>
                <a:latin typeface="Arial" pitchFamily="34" charset="0"/>
              </a:rPr>
              <a:t>Month 1</a:t>
            </a:r>
          </a:p>
        </p:txBody>
      </p:sp>
      <p:sp>
        <p:nvSpPr>
          <p:cNvPr id="103" name="Criteria0"/>
          <p:cNvSpPr/>
          <p:nvPr/>
        </p:nvSpPr>
        <p:spPr>
          <a:xfrm>
            <a:off x="3584688" y="1247008"/>
            <a:ext cx="4875264" cy="31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FE1CB"/>
                </a:solidFill>
                <a:latin typeface="Arial" pitchFamily="34" charset="0"/>
              </a:rPr>
              <a:t>Vendor meets cost, compliance, and data-capability targets; contract executed</a:t>
            </a:r>
          </a:p>
        </p:txBody>
      </p:sp>
      <p:sp>
        <p:nvSpPr>
          <p:cNvPr id="104" name="RowLine0"/>
          <p:cNvSpPr/>
          <p:nvPr/>
        </p:nvSpPr>
        <p:spPr>
          <a:xfrm>
            <a:off x="438912" y="1600008"/>
            <a:ext cx="8321040" cy="0"/>
          </a:xfrm>
          <a:prstGeom prst="line">
            <a:avLst/>
          </a:prstGeom>
          <a:noFill/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RowBg1"/>
          <p:cNvSpPr/>
          <p:nvPr/>
        </p:nvSpPr>
        <p:spPr>
          <a:xfrm>
            <a:off x="438912" y="1620000"/>
            <a:ext cx="8321040" cy="393000"/>
          </a:xfrm>
          <a:prstGeom prst="rect">
            <a:avLst/>
          </a:prstGeom>
          <a:solidFill>
            <a:srgbClr val="0A1C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Milestone1"/>
          <p:cNvSpPr/>
          <p:nvPr/>
        </p:nvSpPr>
        <p:spPr>
          <a:xfrm>
            <a:off x="475488" y="1680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</a:rPr>
              <a:t>15 Site MOUs Signed</a:t>
            </a:r>
          </a:p>
        </p:txBody>
      </p:sp>
      <p:sp>
        <p:nvSpPr>
          <p:cNvPr id="112" name="Date1"/>
          <p:cNvSpPr/>
          <p:nvPr/>
        </p:nvSpPr>
        <p:spPr>
          <a:xfrm>
            <a:off x="2395488" y="1680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D9E75"/>
                </a:solidFill>
                <a:latin typeface="Arial" pitchFamily="34" charset="0"/>
              </a:rPr>
              <a:t>Month 2</a:t>
            </a:r>
          </a:p>
        </p:txBody>
      </p:sp>
      <p:sp>
        <p:nvSpPr>
          <p:cNvPr id="113" name="Criteria1"/>
          <p:cNvSpPr/>
          <p:nvPr/>
        </p:nvSpPr>
        <p:spPr>
          <a:xfrm>
            <a:off x="3584688" y="1660000"/>
            <a:ext cx="4875264" cy="31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FE1CB"/>
                </a:solidFill>
                <a:latin typeface="Arial" pitchFamily="34" charset="0"/>
              </a:rPr>
              <a:t>All 15 venue agreements fully executed; site walkthroughs confirmed</a:t>
            </a:r>
          </a:p>
        </p:txBody>
      </p:sp>
      <p:sp>
        <p:nvSpPr>
          <p:cNvPr id="114" name="RowLine1"/>
          <p:cNvSpPr/>
          <p:nvPr/>
        </p:nvSpPr>
        <p:spPr>
          <a:xfrm>
            <a:off x="438912" y="2013000"/>
            <a:ext cx="8321040" cy="0"/>
          </a:xfrm>
          <a:prstGeom prst="line">
            <a:avLst/>
          </a:prstGeom>
          <a:noFill/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RowBg2"/>
          <p:cNvSpPr/>
          <p:nvPr/>
        </p:nvSpPr>
        <p:spPr>
          <a:xfrm>
            <a:off x="438912" y="2033000"/>
            <a:ext cx="8321040" cy="393000"/>
          </a:xfrm>
          <a:prstGeom prst="rect">
            <a:avLst/>
          </a:prstGeom>
          <a:solidFill>
            <a:srgbClr val="071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Milestone2"/>
          <p:cNvSpPr/>
          <p:nvPr/>
        </p:nvSpPr>
        <p:spPr>
          <a:xfrm>
            <a:off x="475488" y="209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</a:rPr>
              <a:t>All Kiosks Operational</a:t>
            </a:r>
          </a:p>
        </p:txBody>
      </p:sp>
      <p:sp>
        <p:nvSpPr>
          <p:cNvPr id="122" name="Date2"/>
          <p:cNvSpPr/>
          <p:nvPr/>
        </p:nvSpPr>
        <p:spPr>
          <a:xfrm>
            <a:off x="2395488" y="2093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D9E75"/>
                </a:solidFill>
                <a:latin typeface="Arial" pitchFamily="34" charset="0"/>
              </a:rPr>
              <a:t>Month 3</a:t>
            </a:r>
          </a:p>
        </p:txBody>
      </p:sp>
      <p:sp>
        <p:nvSpPr>
          <p:cNvPr id="123" name="Criteria2"/>
          <p:cNvSpPr/>
          <p:nvPr/>
        </p:nvSpPr>
        <p:spPr>
          <a:xfrm>
            <a:off x="3584688" y="2073000"/>
            <a:ext cx="4875264" cy="31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FE1CB"/>
                </a:solidFill>
                <a:latin typeface="Arial" pitchFamily="34" charset="0"/>
              </a:rPr>
              <a:t>100% unit functionality confirmed across all locations; connectivity verified</a:t>
            </a:r>
          </a:p>
        </p:txBody>
      </p:sp>
      <p:sp>
        <p:nvSpPr>
          <p:cNvPr id="124" name="RowLine2"/>
          <p:cNvSpPr/>
          <p:nvPr/>
        </p:nvSpPr>
        <p:spPr>
          <a:xfrm>
            <a:off x="438912" y="2426000"/>
            <a:ext cx="8321040" cy="0"/>
          </a:xfrm>
          <a:prstGeom prst="line">
            <a:avLst/>
          </a:prstGeom>
          <a:noFill/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RowBg3"/>
          <p:cNvSpPr/>
          <p:nvPr/>
        </p:nvSpPr>
        <p:spPr>
          <a:xfrm>
            <a:off x="438912" y="2446000"/>
            <a:ext cx="8321040" cy="393000"/>
          </a:xfrm>
          <a:prstGeom prst="rect">
            <a:avLst/>
          </a:prstGeom>
          <a:solidFill>
            <a:srgbClr val="0A1C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Milestone3"/>
          <p:cNvSpPr/>
          <p:nvPr/>
        </p:nvSpPr>
        <p:spPr>
          <a:xfrm>
            <a:off x="475488" y="250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</a:rPr>
              <a:t>Awareness Campaign Live</a:t>
            </a:r>
          </a:p>
        </p:txBody>
      </p:sp>
      <p:sp>
        <p:nvSpPr>
          <p:cNvPr id="132" name="Date3"/>
          <p:cNvSpPr/>
          <p:nvPr/>
        </p:nvSpPr>
        <p:spPr>
          <a:xfrm>
            <a:off x="2395488" y="250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D9E75"/>
                </a:solidFill>
                <a:latin typeface="Arial" pitchFamily="34" charset="0"/>
              </a:rPr>
              <a:t>Month 3</a:t>
            </a:r>
          </a:p>
        </p:txBody>
      </p:sp>
      <p:sp>
        <p:nvSpPr>
          <p:cNvPr id="133" name="Criteria3"/>
          <p:cNvSpPr/>
          <p:nvPr/>
        </p:nvSpPr>
        <p:spPr>
          <a:xfrm>
            <a:off x="3584688" y="2486000"/>
            <a:ext cx="4875264" cy="31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FE1CB"/>
                </a:solidFill>
                <a:latin typeface="Arial" pitchFamily="34" charset="0"/>
              </a:rPr>
              <a:t>Marketing materials deployed at all 15 sites; rideshare promo codes active</a:t>
            </a:r>
          </a:p>
        </p:txBody>
      </p:sp>
      <p:sp>
        <p:nvSpPr>
          <p:cNvPr id="134" name="RowLine3"/>
          <p:cNvSpPr/>
          <p:nvPr/>
        </p:nvSpPr>
        <p:spPr>
          <a:xfrm>
            <a:off x="438912" y="2839000"/>
            <a:ext cx="8321040" cy="0"/>
          </a:xfrm>
          <a:prstGeom prst="line">
            <a:avLst/>
          </a:prstGeom>
          <a:noFill/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RowBg4"/>
          <p:cNvSpPr/>
          <p:nvPr/>
        </p:nvSpPr>
        <p:spPr>
          <a:xfrm>
            <a:off x="438912" y="2859000"/>
            <a:ext cx="8321040" cy="393000"/>
          </a:xfrm>
          <a:prstGeom prst="rect">
            <a:avLst/>
          </a:prstGeom>
          <a:solidFill>
            <a:srgbClr val="071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" name="Milestone4"/>
          <p:cNvSpPr/>
          <p:nvPr/>
        </p:nvSpPr>
        <p:spPr>
          <a:xfrm>
            <a:off x="475488" y="291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</a:rPr>
              <a:t>Pilot Monitoring Complete</a:t>
            </a:r>
          </a:p>
        </p:txBody>
      </p:sp>
      <p:sp>
        <p:nvSpPr>
          <p:cNvPr id="142" name="Date4"/>
          <p:cNvSpPr/>
          <p:nvPr/>
        </p:nvSpPr>
        <p:spPr>
          <a:xfrm>
            <a:off x="2395488" y="2919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D9E75"/>
                </a:solidFill>
                <a:latin typeface="Arial" pitchFamily="34" charset="0"/>
              </a:rPr>
              <a:t>Month 9</a:t>
            </a:r>
          </a:p>
        </p:txBody>
      </p:sp>
      <p:sp>
        <p:nvSpPr>
          <p:cNvPr id="143" name="Criteria4"/>
          <p:cNvSpPr/>
          <p:nvPr/>
        </p:nvSpPr>
        <p:spPr>
          <a:xfrm>
            <a:off x="3584688" y="2899000"/>
            <a:ext cx="4875264" cy="31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FE1CB"/>
                </a:solidFill>
                <a:latin typeface="Arial" pitchFamily="34" charset="0"/>
              </a:rPr>
              <a:t>Six-month data collected consistently; 95%+ device uptime maintained</a:t>
            </a:r>
          </a:p>
        </p:txBody>
      </p:sp>
      <p:sp>
        <p:nvSpPr>
          <p:cNvPr id="144" name="RowLine4"/>
          <p:cNvSpPr/>
          <p:nvPr/>
        </p:nvSpPr>
        <p:spPr>
          <a:xfrm>
            <a:off x="438912" y="3252000"/>
            <a:ext cx="8321040" cy="0"/>
          </a:xfrm>
          <a:prstGeom prst="line">
            <a:avLst/>
          </a:prstGeom>
          <a:noFill/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RowBg5"/>
          <p:cNvSpPr/>
          <p:nvPr/>
        </p:nvSpPr>
        <p:spPr>
          <a:xfrm>
            <a:off x="438912" y="3272000"/>
            <a:ext cx="8321040" cy="393000"/>
          </a:xfrm>
          <a:prstGeom prst="rect">
            <a:avLst/>
          </a:prstGeom>
          <a:solidFill>
            <a:srgbClr val="0A1C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" name="Milestone5"/>
          <p:cNvSpPr/>
          <p:nvPr/>
        </p:nvSpPr>
        <p:spPr>
          <a:xfrm>
            <a:off x="475488" y="333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</a:rPr>
              <a:t>Final Evaluation Report</a:t>
            </a:r>
          </a:p>
        </p:txBody>
      </p:sp>
      <p:sp>
        <p:nvSpPr>
          <p:cNvPr id="152" name="Date5"/>
          <p:cNvSpPr/>
          <p:nvPr/>
        </p:nvSpPr>
        <p:spPr>
          <a:xfrm>
            <a:off x="2395488" y="333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D9E75"/>
                </a:solidFill>
                <a:latin typeface="Arial" pitchFamily="34" charset="0"/>
              </a:rPr>
              <a:t>Month 9</a:t>
            </a:r>
          </a:p>
        </p:txBody>
      </p:sp>
      <p:sp>
        <p:nvSpPr>
          <p:cNvPr id="153" name="Criteria5"/>
          <p:cNvSpPr/>
          <p:nvPr/>
        </p:nvSpPr>
        <p:spPr>
          <a:xfrm>
            <a:off x="3584688" y="3312000"/>
            <a:ext cx="4875264" cy="31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FE1CB"/>
                </a:solidFill>
                <a:latin typeface="Arial" pitchFamily="34" charset="0"/>
              </a:rPr>
              <a:t>KPI analysis delivered to sponsor; DUI baseline delta documented</a:t>
            </a:r>
          </a:p>
        </p:txBody>
      </p:sp>
      <p:sp>
        <p:nvSpPr>
          <p:cNvPr id="154" name="RowLine5"/>
          <p:cNvSpPr/>
          <p:nvPr/>
        </p:nvSpPr>
        <p:spPr>
          <a:xfrm>
            <a:off x="438912" y="3665000"/>
            <a:ext cx="8321040" cy="0"/>
          </a:xfrm>
          <a:prstGeom prst="line">
            <a:avLst/>
          </a:prstGeom>
          <a:noFill/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BottomLine"/>
          <p:cNvSpPr/>
          <p:nvPr/>
        </p:nvSpPr>
        <p:spPr>
          <a:xfrm>
            <a:off x="502920" y="4535424"/>
            <a:ext cx="8138160" cy="0"/>
          </a:xfrm>
          <a:prstGeom prst="line">
            <a:avLst/>
          </a:prstGeom>
          <a:noFill/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FooterLeft"/>
          <p:cNvSpPr/>
          <p:nvPr/>
        </p:nvSpPr>
        <p:spPr>
          <a:xfrm>
            <a:off x="502920" y="46268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D9E75"/>
                </a:solidFill>
                <a:latin typeface="Arial" pitchFamily="34" charset="0"/>
              </a:rPr>
              <a:t>drinkwellleavebetter.com</a:t>
            </a:r>
          </a:p>
        </p:txBody>
      </p:sp>
      <p:sp>
        <p:nvSpPr>
          <p:cNvPr id="202" name="FooterRight"/>
          <p:cNvSpPr/>
          <p:nvPr/>
        </p:nvSpPr>
        <p:spPr>
          <a:xfrm>
            <a:off x="5029200" y="462686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</a:rPr>
              <a:t>UBER  |  LYFT  |  SD SAFETY  |  CA OTS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8686800" cy="4754880"/>
          </a:xfrm>
          <a:prstGeom prst="rect">
            <a:avLst/>
          </a:prstGeom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274320"/>
            <a:ext cx="8503920" cy="4572000"/>
          </a:xfrm>
          <a:prstGeom prst="rect">
            <a:avLst/>
          </a:prstGeom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Stakeholder Analysis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78638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· INTEREST · PRIORITY · KEY CONCERN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731520"/>
            <a:ext cx="8138160" cy="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4535424"/>
            <a:ext cx="8138160" cy="0"/>
          </a:xfrm>
          <a:prstGeom prst="line">
            <a:avLst/>
          </a:prstGeom>
          <a:noFill/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46268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drinkwellleavebetter.com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462686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UBER  |  LYFT  |  SD SAFETY  |  CA OTS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8912" y="932688"/>
            <a:ext cx="8321040" cy="237744"/>
          </a:xfrm>
          <a:prstGeom prst="rect">
            <a:avLst/>
          </a:prstGeom>
          <a:solidFill>
            <a:srgbClr val="0A1C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9509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956816" y="95097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980944" y="9509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005072" y="950976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47488" y="95097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089904" y="950976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Concern / Cadence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38912" y="1170432"/>
            <a:ext cx="8321040" cy="0"/>
          </a:xfrm>
          <a:prstGeom prst="line">
            <a:avLst/>
          </a:prstGeom>
          <a:noFill/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8912" y="1207008"/>
            <a:ext cx="8321040" cy="493776"/>
          </a:xfrm>
          <a:prstGeom prst="rect">
            <a:avLst/>
          </a:prstGeom>
          <a:solidFill>
            <a:srgbClr val="071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" y="13167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Sponsor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956816" y="131673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980944" y="1371600"/>
            <a:ext cx="804672" cy="128016"/>
          </a:xfrm>
          <a:prstGeom prst="rect">
            <a:avLst/>
          </a:prstGeom>
          <a:solidFill>
            <a:srgbClr val="0A1C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980944" y="1371600"/>
            <a:ext cx="764438" cy="128016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980944" y="1298448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005072" y="1371600"/>
            <a:ext cx="804672" cy="128016"/>
          </a:xfrm>
          <a:prstGeom prst="rect">
            <a:avLst/>
          </a:prstGeom>
          <a:solidFill>
            <a:srgbClr val="0A1C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005072" y="1371600"/>
            <a:ext cx="724205" cy="128016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005072" y="1298448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047488" y="1335024"/>
            <a:ext cx="731520" cy="201168"/>
          </a:xfrm>
          <a:prstGeom prst="rect">
            <a:avLst/>
          </a:prstGeom>
          <a:solidFill>
            <a:srgbClr val="1D9E75">
              <a:alpha val="80000"/>
            </a:srgbClr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47488" y="133502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089904" y="131673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efficiency &amp; pilot success | Weekly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38912" y="1700784"/>
            <a:ext cx="8321040" cy="0"/>
          </a:xfrm>
          <a:prstGeom prst="line">
            <a:avLst/>
          </a:prstGeom>
          <a:noFill/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" y="1828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 Owners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956816" y="182880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Internal/Ext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980944" y="1883664"/>
            <a:ext cx="804672" cy="128016"/>
          </a:xfrm>
          <a:prstGeom prst="rect">
            <a:avLst/>
          </a:prstGeom>
          <a:solidFill>
            <a:srgbClr val="0A1C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980944" y="1883664"/>
            <a:ext cx="643738" cy="128016"/>
          </a:xfrm>
          <a:prstGeom prst="rect">
            <a:avLst/>
          </a:prstGeom>
          <a:solidFill>
            <a:srgbClr val="378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980944" y="181051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378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005072" y="1883664"/>
            <a:ext cx="804672" cy="128016"/>
          </a:xfrm>
          <a:prstGeom prst="rect">
            <a:avLst/>
          </a:prstGeom>
          <a:solidFill>
            <a:srgbClr val="0A1C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005072" y="1883664"/>
            <a:ext cx="683971" cy="128016"/>
          </a:xfrm>
          <a:prstGeom prst="rect">
            <a:avLst/>
          </a:prstGeom>
          <a:solidFill>
            <a:srgbClr val="378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005072" y="181051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378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047488" y="1847088"/>
            <a:ext cx="731520" cy="201168"/>
          </a:xfrm>
          <a:prstGeom prst="rect">
            <a:avLst/>
          </a:prstGeom>
          <a:solidFill>
            <a:srgbClr val="378ADD">
              <a:alpha val="80000"/>
            </a:srgbClr>
          </a:solidFill>
          <a:ln w="635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47488" y="18470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089904" y="182880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Liability reduction &amp; customer safety | Weekly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38912" y="2212848"/>
            <a:ext cx="8321040" cy="0"/>
          </a:xfrm>
          <a:prstGeom prst="line">
            <a:avLst/>
          </a:prstGeom>
          <a:noFill/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38912" y="2231136"/>
            <a:ext cx="8321040" cy="493776"/>
          </a:xfrm>
          <a:prstGeom prst="rect">
            <a:avLst/>
          </a:prstGeom>
          <a:solidFill>
            <a:srgbClr val="071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5488" y="23408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Team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956816" y="234086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980944" y="2395728"/>
            <a:ext cx="804672" cy="128016"/>
          </a:xfrm>
          <a:prstGeom prst="rect">
            <a:avLst/>
          </a:prstGeom>
          <a:solidFill>
            <a:srgbClr val="0A1C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980944" y="2395728"/>
            <a:ext cx="683971" cy="128016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980944" y="2322576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005072" y="2395728"/>
            <a:ext cx="804672" cy="128016"/>
          </a:xfrm>
          <a:prstGeom prst="rect">
            <a:avLst/>
          </a:prstGeom>
          <a:solidFill>
            <a:srgbClr val="0A1C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005072" y="2395728"/>
            <a:ext cx="764438" cy="128016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005072" y="2322576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047488" y="2359152"/>
            <a:ext cx="731520" cy="201168"/>
          </a:xfrm>
          <a:prstGeom prst="rect">
            <a:avLst/>
          </a:prstGeom>
          <a:solidFill>
            <a:srgbClr val="1D9E75">
              <a:alpha val="80000"/>
            </a:srgbClr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047488" y="235915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089904" y="234086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uptime &amp; data quality | Weekly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38912" y="2724912"/>
            <a:ext cx="8321040" cy="0"/>
          </a:xfrm>
          <a:prstGeom prst="line">
            <a:avLst/>
          </a:prstGeom>
          <a:noFill/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75488" y="2852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Advocates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1956816" y="285292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980944" y="2907792"/>
            <a:ext cx="804672" cy="128016"/>
          </a:xfrm>
          <a:prstGeom prst="rect">
            <a:avLst/>
          </a:prstGeom>
          <a:solidFill>
            <a:srgbClr val="0A1C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2980944" y="2907792"/>
            <a:ext cx="402336" cy="128016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980944" y="2834640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005072" y="2907792"/>
            <a:ext cx="804672" cy="128016"/>
          </a:xfrm>
          <a:prstGeom prst="rect">
            <a:avLst/>
          </a:prstGeom>
          <a:solidFill>
            <a:srgbClr val="0A1C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005072" y="2907792"/>
            <a:ext cx="724205" cy="128016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005072" y="2834640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5047488" y="2871216"/>
            <a:ext cx="731520" cy="201168"/>
          </a:xfrm>
          <a:prstGeom prst="rect">
            <a:avLst/>
          </a:prstGeom>
          <a:solidFill>
            <a:srgbClr val="EF9F27">
              <a:alpha val="80000"/>
            </a:srgbClr>
          </a:solidFill>
          <a:ln w="63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047488" y="28712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6089904" y="285292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safety outcomes | Monthly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38912" y="3236976"/>
            <a:ext cx="8321040" cy="0"/>
          </a:xfrm>
          <a:prstGeom prst="line">
            <a:avLst/>
          </a:prstGeom>
          <a:noFill/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438912" y="3255264"/>
            <a:ext cx="8321040" cy="493776"/>
          </a:xfrm>
          <a:prstGeom prst="rect">
            <a:avLst/>
          </a:prstGeom>
          <a:solidFill>
            <a:srgbClr val="071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75488" y="3364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Rideshare Providers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1956816" y="336499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2980944" y="3419856"/>
            <a:ext cx="804672" cy="128016"/>
          </a:xfrm>
          <a:prstGeom prst="rect">
            <a:avLst/>
          </a:prstGeom>
          <a:solidFill>
            <a:srgbClr val="0A1C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2980944" y="3419856"/>
            <a:ext cx="442570" cy="128016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2980944" y="334670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4005072" y="3419856"/>
            <a:ext cx="804672" cy="128016"/>
          </a:xfrm>
          <a:prstGeom prst="rect">
            <a:avLst/>
          </a:prstGeom>
          <a:solidFill>
            <a:srgbClr val="0A1C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4005072" y="3419856"/>
            <a:ext cx="563270" cy="128016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005072" y="334670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5047488" y="3383280"/>
            <a:ext cx="731520" cy="201168"/>
          </a:xfrm>
          <a:prstGeom prst="rect">
            <a:avLst/>
          </a:prstGeom>
          <a:solidFill>
            <a:srgbClr val="7F77DD">
              <a:alpha val="80000"/>
            </a:srgbClr>
          </a:solidFill>
          <a:ln w="635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5047488" y="33832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6089904" y="336499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demand signals | Monthly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438912" y="3749040"/>
            <a:ext cx="8321040" cy="0"/>
          </a:xfrm>
          <a:prstGeom prst="line">
            <a:avLst/>
          </a:prstGeom>
          <a:noFill/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475488" y="3877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Health Orgs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1956816" y="387705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2980944" y="3931920"/>
            <a:ext cx="804672" cy="128016"/>
          </a:xfrm>
          <a:prstGeom prst="rect">
            <a:avLst/>
          </a:prstGeom>
          <a:solidFill>
            <a:srgbClr val="0A1C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2980944" y="3931920"/>
            <a:ext cx="321869" cy="128016"/>
          </a:xfrm>
          <a:prstGeom prst="rect">
            <a:avLst/>
          </a:prstGeom>
          <a:solidFill>
            <a:srgbClr val="5F5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2980944" y="3858768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4005072" y="3931920"/>
            <a:ext cx="804672" cy="128016"/>
          </a:xfrm>
          <a:prstGeom prst="rect">
            <a:avLst/>
          </a:prstGeom>
          <a:solidFill>
            <a:srgbClr val="0A1C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4005072" y="3931920"/>
            <a:ext cx="523037" cy="128016"/>
          </a:xfrm>
          <a:prstGeom prst="rect">
            <a:avLst/>
          </a:prstGeom>
          <a:solidFill>
            <a:srgbClr val="5F5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4005072" y="3858768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5047488" y="3895344"/>
            <a:ext cx="731520" cy="201168"/>
          </a:xfrm>
          <a:prstGeom prst="rect">
            <a:avLst/>
          </a:prstGeom>
          <a:solidFill>
            <a:srgbClr val="5F5E5A">
              <a:alpha val="80000"/>
            </a:srgbClr>
          </a:solidFill>
          <a:ln w="635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5047488" y="389534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6089904" y="387705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intervention data | Quarterly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438912" y="4261104"/>
            <a:ext cx="8321040" cy="0"/>
          </a:xfrm>
          <a:prstGeom prst="line">
            <a:avLst/>
          </a:prstGeom>
          <a:noFill/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8686800" cy="4754880"/>
          </a:xfrm>
          <a:prstGeom prst="rect">
            <a:avLst/>
          </a:prstGeom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274320"/>
            <a:ext cx="8503920" cy="4572000"/>
          </a:xfrm>
          <a:prstGeom prst="rect">
            <a:avLst/>
          </a:prstGeom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Strategy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78638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INVESTMENT CASE — COSTS · REVENUE · RETURN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723900"/>
            <a:ext cx="8138160" cy="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4535424"/>
            <a:ext cx="8138160" cy="0"/>
          </a:xfrm>
          <a:prstGeom prst="line">
            <a:avLst/>
          </a:prstGeom>
          <a:noFill/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46268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drinkwellleavebetter.com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462686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UBER  |  LYFT  |  SD SAFETY  |  CA OTS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" y="960120"/>
            <a:ext cx="4114800" cy="987552"/>
          </a:xfrm>
          <a:prstGeom prst="rect">
            <a:avLst/>
          </a:prstGeom>
          <a:solidFill>
            <a:srgbClr val="071420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" y="960120"/>
            <a:ext cx="4114800" cy="54864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10058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Investment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987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$65,000 / year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1298448"/>
            <a:ext cx="3877056" cy="0"/>
          </a:xfrm>
          <a:prstGeom prst="line">
            <a:avLst/>
          </a:prstGeom>
          <a:noFill/>
          <a:ln w="508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13533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kiosks × $3,500 installation &amp; maintenance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64992" y="13533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$52,500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" y="15910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Part-time coordinator (recommended)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64992" y="15910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$12,500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" y="2029968"/>
            <a:ext cx="4114800" cy="1389888"/>
          </a:xfrm>
          <a:prstGeom prst="rect">
            <a:avLst/>
          </a:prstGeom>
          <a:solidFill>
            <a:srgbClr val="071420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" y="2029968"/>
            <a:ext cx="4114800" cy="54864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20756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Streams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6888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$432K est.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94360" y="2377440"/>
            <a:ext cx="3877056" cy="0"/>
          </a:xfrm>
          <a:prstGeom prst="line">
            <a:avLst/>
          </a:prstGeom>
          <a:noFill/>
          <a:ln w="508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94360" y="2450592"/>
            <a:ext cx="73152" cy="73152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3232" y="24231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Kiosk screen advertising (15 kiosks)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64992" y="24231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$180,000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94360" y="2670048"/>
            <a:ext cx="73152" cy="73152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13232" y="264261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grants (CA OTS / NHTSA)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64992" y="264261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$150,000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94360" y="2889504"/>
            <a:ext cx="73152" cy="73152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13232" y="286207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data licensing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64992" y="28620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$60,000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94360" y="3108960"/>
            <a:ext cx="73152" cy="73152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13232" y="30815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venue subscriptions (SaaS)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364992" y="3081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$35,880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94360" y="3328416"/>
            <a:ext cx="73152" cy="73152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13232" y="330098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Rideshare referral commissions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364992" y="33009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$7,000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5488" y="3520440"/>
            <a:ext cx="4114800" cy="804672"/>
          </a:xfrm>
          <a:prstGeom prst="rect">
            <a:avLst/>
          </a:prstGeom>
          <a:solidFill>
            <a:srgbClr val="1D9E75">
              <a:alpha val="15000"/>
            </a:srgbClr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94360" y="35844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Estimated Year 1 Net Profit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286000" y="354787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$367,880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594360" y="3858768"/>
            <a:ext cx="3877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all operating costs · 5.7× revenue-to-cost ratio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700016" y="960120"/>
            <a:ext cx="0" cy="3364992"/>
          </a:xfrm>
          <a:prstGeom prst="line">
            <a:avLst/>
          </a:prstGeom>
          <a:noFill/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28032" y="960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ROI by Scenario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828032" y="1280160"/>
            <a:ext cx="3840480" cy="548640"/>
          </a:xfrm>
          <a:prstGeom prst="rect">
            <a:avLst/>
          </a:prstGeom>
          <a:solidFill>
            <a:srgbClr val="071420"/>
          </a:solidFill>
          <a:ln w="889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864608" y="1335024"/>
            <a:ext cx="804672" cy="201168"/>
          </a:xfrm>
          <a:prstGeom prst="rect">
            <a:avLst/>
          </a:prstGeom>
          <a:solidFill>
            <a:srgbClr val="EF9F27">
              <a:alpha val="80000"/>
            </a:srgbClr>
          </a:solidFill>
          <a:ln w="63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64608" y="1335024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742432" y="13350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fatal DUI prevented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828032" y="155448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$1.4M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126480" y="1554480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21× ROI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828032" y="1901952"/>
            <a:ext cx="3840480" cy="548640"/>
          </a:xfrm>
          <a:prstGeom prst="rect">
            <a:avLst/>
          </a:prstGeom>
          <a:solidFill>
            <a:srgbClr val="071420"/>
          </a:solidFill>
          <a:ln w="889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864608" y="1956816"/>
            <a:ext cx="804672" cy="201168"/>
          </a:xfrm>
          <a:prstGeom prst="rect">
            <a:avLst/>
          </a:prstGeom>
          <a:solidFill>
            <a:srgbClr val="1D9E75">
              <a:alpha val="80000"/>
            </a:srgbClr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864608" y="195681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742432" y="19568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incidents prevented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828032" y="21762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$4.2M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6126480" y="2176272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64× ROI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4828032" y="2523744"/>
            <a:ext cx="3840480" cy="548640"/>
          </a:xfrm>
          <a:prstGeom prst="rect">
            <a:avLst/>
          </a:prstGeom>
          <a:solidFill>
            <a:srgbClr val="071420"/>
          </a:solidFill>
          <a:ln w="889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864608" y="2578608"/>
            <a:ext cx="804672" cy="201168"/>
          </a:xfrm>
          <a:prstGeom prst="rect">
            <a:avLst/>
          </a:prstGeom>
          <a:solidFill>
            <a:srgbClr val="378ADD">
              <a:alpha val="80000"/>
            </a:srgbClr>
          </a:solidFill>
          <a:ln w="635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864608" y="257860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Optimistic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742432" y="25786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incidents prevented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828032" y="27980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78A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$14M+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6126480" y="2798064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78A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215× ROI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4828032" y="3218688"/>
            <a:ext cx="3840480" cy="0"/>
          </a:xfrm>
          <a:prstGeom prst="line">
            <a:avLst/>
          </a:prstGeom>
          <a:noFill/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828032" y="32735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Investor Breakeven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828032" y="3611880"/>
            <a:ext cx="91440" cy="9144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956048" y="35844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owners (liability avoidance)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7178040" y="358444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828032" y="3831336"/>
            <a:ext cx="91440" cy="91440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956048" y="380390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/ brand sponsors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7178040" y="3803904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828032" y="4050792"/>
            <a:ext cx="91440" cy="91440"/>
          </a:xfrm>
          <a:prstGeom prst="ellipse">
            <a:avLst/>
          </a:prstGeom>
          <a:solidFill>
            <a:srgbClr val="378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956048" y="40233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Govt / grant funders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7178040" y="4023360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378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1–2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828032" y="4270248"/>
            <a:ext cx="91440" cy="91440"/>
          </a:xfrm>
          <a:prstGeom prst="ellipse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956048" y="424281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Uber / Lyft rideshare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7178040" y="4242816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2–3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8686800" cy="4754880"/>
          </a:xfrm>
          <a:prstGeom prst="rect">
            <a:avLst/>
          </a:prstGeom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274320"/>
            <a:ext cx="8503920" cy="4572000"/>
          </a:xfrm>
          <a:prstGeom prst="rect">
            <a:avLst/>
          </a:prstGeom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Analysis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78638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 · LIKELIHOOD · MITIGATION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786384"/>
            <a:ext cx="8138160" cy="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4535424"/>
            <a:ext cx="8138160" cy="0"/>
          </a:xfrm>
          <a:prstGeom prst="line">
            <a:avLst/>
          </a:prstGeom>
          <a:noFill/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46268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drinkwellleavebetter.com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462686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UBER  |  LYFT  |  SD SAFETY  |  CA OTS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8912" y="932688"/>
            <a:ext cx="8321040" cy="237744"/>
          </a:xfrm>
          <a:prstGeom prst="rect">
            <a:avLst/>
          </a:prstGeom>
          <a:solidFill>
            <a:srgbClr val="0A1C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950976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920240" y="9509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Likelihood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852928" y="950976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730752" y="9509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870448" y="95097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38912" y="1170432"/>
            <a:ext cx="8321040" cy="0"/>
          </a:xfrm>
          <a:prstGeom prst="line">
            <a:avLst/>
          </a:prstGeom>
          <a:noFill/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38912" y="1207008"/>
            <a:ext cx="8321040" cy="786384"/>
          </a:xfrm>
          <a:prstGeom prst="rect">
            <a:avLst/>
          </a:prstGeom>
          <a:solidFill>
            <a:srgbClr val="071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" y="137160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Delays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920240" y="1426464"/>
            <a:ext cx="731520" cy="201168"/>
          </a:xfrm>
          <a:prstGeom prst="rect">
            <a:avLst/>
          </a:prstGeom>
          <a:solidFill>
            <a:srgbClr val="EF9F27">
              <a:alpha val="80000"/>
            </a:srgbClr>
          </a:solidFill>
          <a:ln w="63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920240" y="142646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852928" y="1426464"/>
            <a:ext cx="694944" cy="201168"/>
          </a:xfrm>
          <a:prstGeom prst="rect">
            <a:avLst/>
          </a:prstGeom>
          <a:solidFill>
            <a:srgbClr val="E24B4A">
              <a:alpha val="80000"/>
            </a:srgbClr>
          </a:solidFill>
          <a:ln w="635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852928" y="142646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730752" y="133502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Lead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870448" y="129844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vendor shortlist; 2 backups pre-qualified during RFP phase.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38912" y="1993392"/>
            <a:ext cx="8321040" cy="0"/>
          </a:xfrm>
          <a:prstGeom prst="line">
            <a:avLst/>
          </a:prstGeom>
          <a:noFill/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" y="2176272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 Withdrawal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920240" y="2231136"/>
            <a:ext cx="731520" cy="201168"/>
          </a:xfrm>
          <a:prstGeom prst="rect">
            <a:avLst/>
          </a:prstGeom>
          <a:solidFill>
            <a:srgbClr val="1D9E75">
              <a:alpha val="80000"/>
            </a:srgbClr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920240" y="223113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Low-Med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852928" y="2231136"/>
            <a:ext cx="694944" cy="201168"/>
          </a:xfrm>
          <a:prstGeom prst="rect">
            <a:avLst/>
          </a:prstGeom>
          <a:solidFill>
            <a:srgbClr val="EF9F27">
              <a:alpha val="80000"/>
            </a:srgbClr>
          </a:solidFill>
          <a:ln w="63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852928" y="223113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730752" y="213969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Lead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870448" y="210312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5 alternate backup locations; flexible MOU exit clauses.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38912" y="2798064"/>
            <a:ext cx="8321040" cy="0"/>
          </a:xfrm>
          <a:prstGeom prst="line">
            <a:avLst/>
          </a:prstGeom>
          <a:noFill/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38912" y="2816352"/>
            <a:ext cx="8321040" cy="786384"/>
          </a:xfrm>
          <a:prstGeom prst="rect">
            <a:avLst/>
          </a:prstGeom>
          <a:solidFill>
            <a:srgbClr val="071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5488" y="2980944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Public Adoption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920240" y="3035808"/>
            <a:ext cx="731520" cy="201168"/>
          </a:xfrm>
          <a:prstGeom prst="rect">
            <a:avLst/>
          </a:prstGeom>
          <a:solidFill>
            <a:srgbClr val="EF9F27">
              <a:alpha val="80000"/>
            </a:srgbClr>
          </a:solidFill>
          <a:ln w="63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920240" y="30358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852928" y="3035808"/>
            <a:ext cx="694944" cy="201168"/>
          </a:xfrm>
          <a:prstGeom prst="rect">
            <a:avLst/>
          </a:prstGeom>
          <a:solidFill>
            <a:srgbClr val="E24B4A">
              <a:alpha val="80000"/>
            </a:srgbClr>
          </a:solidFill>
          <a:ln w="635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852928" y="3035808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730752" y="29443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Lead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870448" y="290779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Pre-launch awareness campaign; rideshare promo codes as incentive.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38912" y="3602736"/>
            <a:ext cx="8321040" cy="0"/>
          </a:xfrm>
          <a:prstGeom prst="line">
            <a:avLst/>
          </a:prstGeom>
          <a:noFill/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5488" y="3785616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Malfunction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920240" y="3840480"/>
            <a:ext cx="731520" cy="201168"/>
          </a:xfrm>
          <a:prstGeom prst="rect">
            <a:avLst/>
          </a:prstGeom>
          <a:solidFill>
            <a:srgbClr val="EF9F27">
              <a:alpha val="80000"/>
            </a:srgbClr>
          </a:solidFill>
          <a:ln w="63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920240" y="38404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852928" y="3840480"/>
            <a:ext cx="694944" cy="201168"/>
          </a:xfrm>
          <a:prstGeom prst="rect">
            <a:avLst/>
          </a:prstGeom>
          <a:solidFill>
            <a:srgbClr val="E24B4A">
              <a:alpha val="80000"/>
            </a:srgbClr>
          </a:solidFill>
          <a:ln w="635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852928" y="384048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730752" y="3749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Lead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870448" y="371246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SLA with 48-hr response; spare units held in inventory.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38912" y="4407408"/>
            <a:ext cx="8321040" cy="0"/>
          </a:xfrm>
          <a:prstGeom prst="line">
            <a:avLst/>
          </a:prstGeom>
          <a:noFill/>
          <a:ln w="3810">
            <a:solidFill>
              <a:srgbClr val="0F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Quality Standards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uterBorder"/>
          <p:cNvSpPr/>
          <p:nvPr/>
        </p:nvSpPr>
        <p:spPr>
          <a:xfrm>
            <a:off x="228600" y="182880"/>
            <a:ext cx="8686800" cy="4754880"/>
          </a:xfrm>
          <a:prstGeom prst="rect">
            <a:avLst/>
          </a:prstGeom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InnerBorder"/>
          <p:cNvSpPr/>
          <p:nvPr/>
        </p:nvSpPr>
        <p:spPr>
          <a:xfrm>
            <a:off x="320040" y="274320"/>
            <a:ext cx="8503920" cy="4572000"/>
          </a:xfrm>
          <a:prstGeom prst="rect">
            <a:avLst/>
          </a:prstGeom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502920" y="32918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</a:rPr>
              <a:t>Quality Plan &amp; Evaluation Standards</a:t>
            </a:r>
          </a:p>
        </p:txBody>
      </p:sp>
      <p:sp>
        <p:nvSpPr>
          <p:cNvPr id="5" name="Subtitle"/>
          <p:cNvSpPr/>
          <p:nvPr/>
        </p:nvSpPr>
        <p:spPr>
          <a:xfrm>
            <a:off x="502920" y="78638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DCAA5"/>
                </a:solidFill>
                <a:latin typeface="Arial" pitchFamily="34" charset="0"/>
              </a:rPr>
              <a:t>DEVICE UPTIME · DATA INTEGRITY · VENDOR COMPLIANCE · SCALABLE EVALUATION</a:t>
            </a:r>
          </a:p>
        </p:txBody>
      </p:sp>
      <p:sp>
        <p:nvSpPr>
          <p:cNvPr id="6" name="TitleLine"/>
          <p:cNvSpPr/>
          <p:nvPr/>
        </p:nvSpPr>
        <p:spPr>
          <a:xfrm>
            <a:off x="502920" y="771144"/>
            <a:ext cx="8138160" cy="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CardBg01"/>
          <p:cNvSpPr/>
          <p:nvPr/>
        </p:nvSpPr>
        <p:spPr>
          <a:xfrm>
            <a:off x="438912" y="990000"/>
            <a:ext cx="3932544" cy="1620000"/>
          </a:xfrm>
          <a:prstGeom prst="rect">
            <a:avLst/>
          </a:prstGeom>
          <a:solidFill>
            <a:srgbClr val="071420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CardNum01"/>
          <p:cNvSpPr/>
          <p:nvPr/>
        </p:nvSpPr>
        <p:spPr>
          <a:xfrm>
            <a:off x="530352" y="1081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9E75"/>
                </a:solidFill>
                <a:latin typeface="Georgia" pitchFamily="34" charset="0"/>
              </a:rPr>
              <a:t>01</a:t>
            </a:r>
          </a:p>
        </p:txBody>
      </p:sp>
      <p:sp>
        <p:nvSpPr>
          <p:cNvPr id="202" name="CardTitle01"/>
          <p:cNvSpPr/>
          <p:nvPr/>
        </p:nvSpPr>
        <p:spPr>
          <a:xfrm>
            <a:off x="530352" y="1690000"/>
            <a:ext cx="374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Device Uptime Target</a:t>
            </a:r>
          </a:p>
        </p:txBody>
      </p:sp>
      <p:sp>
        <p:nvSpPr>
          <p:cNvPr id="203" name="CardBody01"/>
          <p:cNvSpPr/>
          <p:nvPr/>
        </p:nvSpPr>
        <p:spPr>
          <a:xfrm>
            <a:off x="530352" y="1990000"/>
            <a:ext cx="3749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FE1CB"/>
                </a:solidFill>
                <a:latin typeface="Arial" pitchFamily="34" charset="0"/>
              </a:rPr>
              <a:t>95% uptime across all 15 kiosks, enforced via vendor SLA with 48-hr response requirement. Spare units held in inventory to prevent service gaps at high-traffic sites.</a:t>
            </a:r>
          </a:p>
        </p:txBody>
      </p:sp>
      <p:sp>
        <p:nvSpPr>
          <p:cNvPr id="7" name="CardBg02"/>
          <p:cNvSpPr/>
          <p:nvPr/>
        </p:nvSpPr>
        <p:spPr>
          <a:xfrm>
            <a:off x="4695456" y="990000"/>
            <a:ext cx="3932544" cy="1620000"/>
          </a:xfrm>
          <a:prstGeom prst="rect">
            <a:avLst/>
          </a:prstGeom>
          <a:solidFill>
            <a:srgbClr val="071420"/>
          </a:solidFill>
          <a:ln w="635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CardNum02"/>
          <p:cNvSpPr/>
          <p:nvPr/>
        </p:nvSpPr>
        <p:spPr>
          <a:xfrm>
            <a:off x="4786896" y="1081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78ADD"/>
                </a:solidFill>
                <a:latin typeface="Georgia" pitchFamily="34" charset="0"/>
              </a:rPr>
              <a:t>02</a:t>
            </a:r>
          </a:p>
        </p:txBody>
      </p:sp>
      <p:sp>
        <p:nvSpPr>
          <p:cNvPr id="9" name="CardTitle02"/>
          <p:cNvSpPr/>
          <p:nvPr/>
        </p:nvSpPr>
        <p:spPr>
          <a:xfrm>
            <a:off x="4786896" y="1690000"/>
            <a:ext cx="374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Weekly Data Integrity Checks</a:t>
            </a:r>
          </a:p>
        </p:txBody>
      </p:sp>
      <p:sp>
        <p:nvSpPr>
          <p:cNvPr id="204" name="CardBody02"/>
          <p:cNvSpPr/>
          <p:nvPr/>
        </p:nvSpPr>
        <p:spPr>
          <a:xfrm>
            <a:off x="4786896" y="1990000"/>
            <a:ext cx="3749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FE1CB"/>
                </a:solidFill>
                <a:latin typeface="Arial" pitchFamily="34" charset="0"/>
              </a:rPr>
              <a:t>Systematic review of usage logs, BAC ranges, and rideshare conversion rates. Anomalies trigger immediate vendor escalation. 100% data collection rate required for evaluation validity.</a:t>
            </a:r>
          </a:p>
        </p:txBody>
      </p:sp>
      <p:sp>
        <p:nvSpPr>
          <p:cNvPr id="10" name="CardBg03"/>
          <p:cNvSpPr/>
          <p:nvPr/>
        </p:nvSpPr>
        <p:spPr>
          <a:xfrm>
            <a:off x="438912" y="2750000"/>
            <a:ext cx="3932544" cy="1620000"/>
          </a:xfrm>
          <a:prstGeom prst="rect">
            <a:avLst/>
          </a:prstGeom>
          <a:solidFill>
            <a:srgbClr val="071420"/>
          </a:solidFill>
          <a:ln w="63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ardNum03"/>
          <p:cNvSpPr/>
          <p:nvPr/>
        </p:nvSpPr>
        <p:spPr>
          <a:xfrm>
            <a:off x="530352" y="2841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F9F27"/>
                </a:solidFill>
                <a:latin typeface="Georgia" pitchFamily="34" charset="0"/>
              </a:rPr>
              <a:t>03</a:t>
            </a:r>
          </a:p>
        </p:txBody>
      </p:sp>
      <p:sp>
        <p:nvSpPr>
          <p:cNvPr id="12" name="CardTitle03"/>
          <p:cNvSpPr/>
          <p:nvPr/>
        </p:nvSpPr>
        <p:spPr>
          <a:xfrm>
            <a:off x="530352" y="3450000"/>
            <a:ext cx="374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Vendor Compliance Standards</a:t>
            </a:r>
          </a:p>
        </p:txBody>
      </p:sp>
      <p:sp>
        <p:nvSpPr>
          <p:cNvPr id="205" name="CardBody03"/>
          <p:cNvSpPr/>
          <p:nvPr/>
        </p:nvSpPr>
        <p:spPr>
          <a:xfrm>
            <a:off x="530352" y="3750000"/>
            <a:ext cx="3749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FE1CB"/>
                </a:solidFill>
                <a:latin typeface="Arial" pitchFamily="34" charset="0"/>
              </a:rPr>
              <a:t>Vendor agreements mandate real-time uptime dashboards, API-accessible usage data, and proven maintenance history. Compliance verification is a zero-float critical path task.</a:t>
            </a:r>
          </a:p>
        </p:txBody>
      </p:sp>
      <p:sp>
        <p:nvSpPr>
          <p:cNvPr id="13" name="CardBg04"/>
          <p:cNvSpPr/>
          <p:nvPr/>
        </p:nvSpPr>
        <p:spPr>
          <a:xfrm>
            <a:off x="4695456" y="2750000"/>
            <a:ext cx="3932544" cy="1620000"/>
          </a:xfrm>
          <a:prstGeom prst="rect">
            <a:avLst/>
          </a:prstGeom>
          <a:solidFill>
            <a:srgbClr val="071420"/>
          </a:solidFill>
          <a:ln w="63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CardNum04"/>
          <p:cNvSpPr/>
          <p:nvPr/>
        </p:nvSpPr>
        <p:spPr>
          <a:xfrm>
            <a:off x="4786896" y="2841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9E75"/>
                </a:solidFill>
                <a:latin typeface="Georgia" pitchFamily="34" charset="0"/>
              </a:rPr>
              <a:t>04</a:t>
            </a:r>
          </a:p>
        </p:txBody>
      </p:sp>
      <p:sp>
        <p:nvSpPr>
          <p:cNvPr id="15" name="CardTitle04"/>
          <p:cNvSpPr/>
          <p:nvPr/>
        </p:nvSpPr>
        <p:spPr>
          <a:xfrm>
            <a:off x="4786896" y="3450000"/>
            <a:ext cx="374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Scalable Evaluation Framework</a:t>
            </a:r>
          </a:p>
        </p:txBody>
      </p:sp>
      <p:sp>
        <p:nvSpPr>
          <p:cNvPr id="206" name="CardBody04"/>
          <p:cNvSpPr/>
          <p:nvPr/>
        </p:nvSpPr>
        <p:spPr>
          <a:xfrm>
            <a:off x="4786896" y="3750000"/>
            <a:ext cx="3749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FE1CB"/>
                </a:solidFill>
                <a:latin typeface="Arial" pitchFamily="34" charset="0"/>
              </a:rPr>
              <a:t>Pilot results feed a structured KPI report delivered Month 9. The framework is designed to support evidence-based expansion decisions and replication across other metro markets.</a:t>
            </a:r>
          </a:p>
        </p:txBody>
      </p:sp>
      <p:sp>
        <p:nvSpPr>
          <p:cNvPr id="300" name="FootLine"/>
          <p:cNvSpPr/>
          <p:nvPr/>
        </p:nvSpPr>
        <p:spPr>
          <a:xfrm>
            <a:off x="502920" y="4535424"/>
            <a:ext cx="8138160" cy="0"/>
          </a:xfrm>
          <a:prstGeom prst="line">
            <a:avLst/>
          </a:prstGeom>
          <a:noFill/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1" name="FootLeft"/>
          <p:cNvSpPr/>
          <p:nvPr/>
        </p:nvSpPr>
        <p:spPr>
          <a:xfrm>
            <a:off x="502920" y="46268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D9E75"/>
                </a:solidFill>
                <a:latin typeface="Arial" pitchFamily="34" charset="0"/>
              </a:rPr>
              <a:t>drinkwellleavebetter.com</a:t>
            </a:r>
          </a:p>
        </p:txBody>
      </p:sp>
      <p:sp>
        <p:nvSpPr>
          <p:cNvPr id="302" name="FootRight"/>
          <p:cNvSpPr/>
          <p:nvPr/>
        </p:nvSpPr>
        <p:spPr>
          <a:xfrm>
            <a:off x="5029200" y="462686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</a:rPr>
              <a:t>UBER  |  LYFT  |  SD SAFETY  |  CA OTS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8686800" cy="4754880"/>
          </a:xfrm>
          <a:prstGeom prst="rect">
            <a:avLst/>
          </a:prstGeom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274320"/>
            <a:ext cx="8503920" cy="4572000"/>
          </a:xfrm>
          <a:prstGeom prst="rect">
            <a:avLst/>
          </a:prstGeom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2918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 &amp; Recommendations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78638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KNOW · WHAT WE RECOMMEND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786384"/>
            <a:ext cx="8138160" cy="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4535424"/>
            <a:ext cx="8138160" cy="0"/>
          </a:xfrm>
          <a:prstGeom prst="line">
            <a:avLst/>
          </a:prstGeom>
          <a:noFill/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46268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drinkwellleavebetter.com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462686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UBER  |  LYFT  |  SD SAFETY  |  CA OTS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" y="987552"/>
            <a:ext cx="4160520" cy="1572768"/>
          </a:xfrm>
          <a:prstGeom prst="rect">
            <a:avLst/>
          </a:prstGeom>
          <a:solidFill>
            <a:srgbClr val="071420"/>
          </a:solidFill>
          <a:ln w="1016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" y="987552"/>
            <a:ext cx="4160520" cy="54864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85216" y="109728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133856" y="1097280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Case Is Unusually Clear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5216" y="1536192"/>
            <a:ext cx="3931920" cy="0"/>
          </a:xfrm>
          <a:prstGeom prst="line">
            <a:avLst/>
          </a:prstGeom>
          <a:noFill/>
          <a:ln w="508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5216" y="1609344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$52,500 vs. $1.4M — a 97% cost advantage per prevented DUI tragedy. The social ROI model uses accepted NHTSA cost-of-crash valuation methodology, giving this figure institutional credibility. Lead with it in every investor and grant conversation.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46320" y="987552"/>
            <a:ext cx="4160520" cy="1572768"/>
          </a:xfrm>
          <a:prstGeom prst="rect">
            <a:avLst/>
          </a:prstGeom>
          <a:solidFill>
            <a:srgbClr val="071420"/>
          </a:solidFill>
          <a:ln w="1016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46320" y="987552"/>
            <a:ext cx="4160520" cy="54864"/>
          </a:xfrm>
          <a:prstGeom prst="rect">
            <a:avLst/>
          </a:prstGeom>
          <a:solidFill>
            <a:srgbClr val="378A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56048" y="109728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78A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504688" y="1097280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Location Selection Is Everything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56048" y="1536192"/>
            <a:ext cx="3931920" cy="0"/>
          </a:xfrm>
          <a:prstGeom prst="line">
            <a:avLst/>
          </a:prstGeom>
          <a:noFill/>
          <a:ln w="508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56048" y="1609344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kiosk at a bar exit outperforms one in a parking garage by 5× in BAC interactions — consistent with nudge theory: interventions closest to the decision point drive the highest behavioral change. Score all 15 sites on foot traffic, rideshare proximity, and BAC interaction potential.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" y="2706624"/>
            <a:ext cx="4160520" cy="1572768"/>
          </a:xfrm>
          <a:prstGeom prst="rect">
            <a:avLst/>
          </a:prstGeom>
          <a:solidFill>
            <a:srgbClr val="071420"/>
          </a:solidFill>
          <a:ln w="1016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488" y="2706624"/>
            <a:ext cx="4160520" cy="54864"/>
          </a:xfrm>
          <a:prstGeom prst="rect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5216" y="281635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133856" y="2816352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Prioritize Vendor Data Capability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5216" y="3255264"/>
            <a:ext cx="3931920" cy="0"/>
          </a:xfrm>
          <a:prstGeom prst="line">
            <a:avLst/>
          </a:prstGeom>
          <a:noFill/>
          <a:ln w="508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85216" y="3328416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is commoditized. The program differentiator is real-time uptime dashboards, API data access, and rigorous data collection integrity — the evaluation framework only holds if the data infrastructure supports it. Vendor compliance verification is a critical path task, not an afterthought.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2706624"/>
            <a:ext cx="4160520" cy="1572768"/>
          </a:xfrm>
          <a:prstGeom prst="rect">
            <a:avLst/>
          </a:prstGeom>
          <a:solidFill>
            <a:srgbClr val="071420"/>
          </a:solidFill>
          <a:ln w="1016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46320" y="2706624"/>
            <a:ext cx="4160520" cy="54864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56048" y="281635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7F77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5504688" y="2816352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Awareness Campaign on Day 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56048" y="3255264"/>
            <a:ext cx="3931920" cy="0"/>
          </a:xfrm>
          <a:prstGeom prst="line">
            <a:avLst/>
          </a:prstGeom>
          <a:noFill/>
          <a:ln w="508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56048" y="3328416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behavioral economics model only works if patrons know kiosks exist before their first encounter. Marketing must precede deployment — baseline DUI data is only valid when the choice environment is fully established from day one of operations.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8686800" cy="4754880"/>
          </a:xfrm>
          <a:prstGeom prst="rect">
            <a:avLst/>
          </a:prstGeom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274320"/>
            <a:ext cx="8503920" cy="4572000"/>
          </a:xfrm>
          <a:prstGeom prst="rect">
            <a:avLst/>
          </a:prstGeom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4535424"/>
            <a:ext cx="8138160" cy="0"/>
          </a:xfrm>
          <a:prstGeom prst="line">
            <a:avLst/>
          </a:prstGeom>
          <a:noFill/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6268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drinkwellleavebetter.com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62686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UBER  |  LYFT  |  SD SAFETY  |  CA OTS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182880"/>
            <a:ext cx="91440" cy="475488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621792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 Isn't Whether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02920" y="1115568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Can Afford This.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02920" y="1719072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Whether We Can Afford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02920" y="2212848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E24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Another Year Without It.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8138160" cy="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" y="2962656"/>
            <a:ext cx="1316736" cy="804672"/>
          </a:xfrm>
          <a:prstGeom prst="rect">
            <a:avLst/>
          </a:prstGeom>
          <a:solidFill>
            <a:srgbClr val="071420"/>
          </a:solidFill>
          <a:ln w="762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01752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90-day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" y="340156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target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911096" y="2962656"/>
            <a:ext cx="1316736" cy="804672"/>
          </a:xfrm>
          <a:prstGeom prst="rect">
            <a:avLst/>
          </a:prstGeom>
          <a:solidFill>
            <a:srgbClr val="071420"/>
          </a:solidFill>
          <a:ln w="762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911096" y="301752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78A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911096" y="340156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kiosks deployed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319272" y="2962656"/>
            <a:ext cx="1316736" cy="804672"/>
          </a:xfrm>
          <a:prstGeom prst="rect">
            <a:avLst/>
          </a:prstGeom>
          <a:solidFill>
            <a:srgbClr val="071420"/>
          </a:solidFill>
          <a:ln w="762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19272" y="301752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$65K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319272" y="340156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investment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727448" y="2962656"/>
            <a:ext cx="1316736" cy="804672"/>
          </a:xfrm>
          <a:prstGeom prst="rect">
            <a:avLst/>
          </a:prstGeom>
          <a:solidFill>
            <a:srgbClr val="071420"/>
          </a:solidFill>
          <a:ln w="762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27448" y="301752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$367K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727448" y="340156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profit Y1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135624" y="2962656"/>
            <a:ext cx="1316736" cy="804672"/>
          </a:xfrm>
          <a:prstGeom prst="rect">
            <a:avLst/>
          </a:prstGeom>
          <a:solidFill>
            <a:srgbClr val="071420"/>
          </a:solidFill>
          <a:ln w="762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35624" y="301752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24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21×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135624" y="340156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social ROI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543800" y="2962656"/>
            <a:ext cx="1316736" cy="804672"/>
          </a:xfrm>
          <a:prstGeom prst="rect">
            <a:avLst/>
          </a:prstGeom>
          <a:solidFill>
            <a:srgbClr val="071420"/>
          </a:solidFill>
          <a:ln w="7620">
            <a:solidFill>
              <a:srgbClr val="7F77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543800" y="301752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F77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97%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543800" y="340156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advantage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02920" y="387705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investment: $65,000  ·  97% less than one preventable tragedy  ·  Fully scalable model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2920" y="416966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SafeNight SD  ·  drinkwellleavebetter.com  ·  San Diego, California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4DCD5C9-3017-4DED-91E3-D4B8D08C0643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5918775f-e28a-4c3b-99a3-f2048469fad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1849</Words>
  <Application>Microsoft Office PowerPoint</Application>
  <PresentationFormat>On-screen Show (16:9)</PresentationFormat>
  <Paragraphs>463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SafeNight SD — Investor Pitch</dc:title>
  <dc:subject>PptxGenJS Presentation</dc:subject>
  <dc:creator>PptxGenJS</dc:creator>
  <cp:lastModifiedBy>brenda Laime</cp:lastModifiedBy>
  <cp:revision>3</cp:revision>
  <dcterms:created xsi:type="dcterms:W3CDTF">2026-04-25T00:04:17Z</dcterms:created>
  <dcterms:modified xsi:type="dcterms:W3CDTF">2026-04-30T00:05:15Z</dcterms:modified>
</cp:coreProperties>
</file>