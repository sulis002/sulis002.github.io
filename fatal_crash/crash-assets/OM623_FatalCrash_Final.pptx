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17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0433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303827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4446904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5/3/2026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5193372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5/3/2026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0865569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5/3/2026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7947010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5/3/2026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5068009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5392779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3857248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0332181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4461502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50603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2932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5/3/2026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951185700"/>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C2A8"/>
          </a:solidFill>
          <a:ln/>
        </p:spPr>
        <p:txBody>
          <a:bodyPr/>
          <a:lstStyle/>
          <a:p>
            <a:endParaRPr lang="en-US"/>
          </a:p>
        </p:txBody>
      </p:sp>
      <p:sp>
        <p:nvSpPr>
          <p:cNvPr id="3" name="Shape 1"/>
          <p:cNvSpPr/>
          <p:nvPr/>
        </p:nvSpPr>
        <p:spPr>
          <a:xfrm>
            <a:off x="5120640" y="-1097280"/>
            <a:ext cx="5943600" cy="5943600"/>
          </a:xfrm>
          <a:prstGeom prst="ellipse">
            <a:avLst/>
          </a:prstGeom>
          <a:solidFill>
            <a:srgbClr val="1A3354"/>
          </a:solidFill>
          <a:ln w="19050">
            <a:solidFill>
              <a:srgbClr val="00C2A8"/>
            </a:solidFill>
            <a:prstDash val="solid"/>
          </a:ln>
        </p:spPr>
        <p:txBody>
          <a:bodyPr/>
          <a:lstStyle/>
          <a:p>
            <a:endParaRPr lang="en-US"/>
          </a:p>
        </p:txBody>
      </p:sp>
      <p:sp>
        <p:nvSpPr>
          <p:cNvPr id="4" name="Shape 2"/>
          <p:cNvSpPr/>
          <p:nvPr/>
        </p:nvSpPr>
        <p:spPr>
          <a:xfrm>
            <a:off x="5669280" y="-731520"/>
            <a:ext cx="4754880" cy="4754880"/>
          </a:xfrm>
          <a:prstGeom prst="ellipse">
            <a:avLst/>
          </a:prstGeom>
          <a:solidFill>
            <a:srgbClr val="112240"/>
          </a:solidFill>
          <a:ln/>
        </p:spPr>
        <p:txBody>
          <a:bodyPr/>
          <a:lstStyle/>
          <a:p>
            <a:endParaRPr lang="en-US"/>
          </a:p>
        </p:txBody>
      </p:sp>
      <p:sp>
        <p:nvSpPr>
          <p:cNvPr id="5" name="Text 3"/>
          <p:cNvSpPr/>
          <p:nvPr/>
        </p:nvSpPr>
        <p:spPr>
          <a:xfrm>
            <a:off x="457200" y="274320"/>
            <a:ext cx="5029200" cy="274320"/>
          </a:xfrm>
          <a:prstGeom prst="rect">
            <a:avLst/>
          </a:prstGeom>
          <a:noFill/>
          <a:ln/>
        </p:spPr>
        <p:txBody>
          <a:bodyPr wrap="square" lIns="0" tIns="0" rIns="0" bIns="0" rtlCol="0" anchor="ctr"/>
          <a:lstStyle/>
          <a:p>
            <a:pPr marL="0" indent="0">
              <a:buNone/>
            </a:pPr>
            <a:r>
              <a:rPr lang="en-US" sz="900" b="1" kern="0" spc="200" dirty="0">
                <a:solidFill>
                  <a:srgbClr val="00C2A8"/>
                </a:solidFill>
                <a:latin typeface="Calibri" pitchFamily="34" charset="0"/>
                <a:ea typeface="Calibri" pitchFamily="34" charset="-122"/>
                <a:cs typeface="Calibri" pitchFamily="34" charset="-120"/>
              </a:rPr>
              <a:t>OM 623  ·  SPRING 2026  · SUPPLY CHAIN ANALYTICS</a:t>
            </a:r>
            <a:endParaRPr lang="en-US" sz="900" dirty="0"/>
          </a:p>
        </p:txBody>
      </p:sp>
      <p:sp>
        <p:nvSpPr>
          <p:cNvPr id="6" name="Text 4"/>
          <p:cNvSpPr/>
          <p:nvPr/>
        </p:nvSpPr>
        <p:spPr>
          <a:xfrm>
            <a:off x="457200" y="685800"/>
            <a:ext cx="5029200" cy="2651760"/>
          </a:xfrm>
          <a:prstGeom prst="rect">
            <a:avLst/>
          </a:prstGeom>
          <a:noFill/>
          <a:ln/>
        </p:spPr>
        <p:txBody>
          <a:bodyPr wrap="square" lIns="0" tIns="0" rIns="0" bIns="0" rtlCol="0" anchor="t"/>
          <a:lstStyle/>
          <a:p>
            <a:pPr marL="0" indent="0" algn="l">
              <a:lnSpc>
                <a:spcPct val="110000"/>
              </a:lnSpc>
              <a:buNone/>
            </a:pPr>
            <a:r>
              <a:rPr lang="en-US" sz="4800" b="1" dirty="0">
                <a:solidFill>
                  <a:srgbClr val="FFFFFF"/>
                </a:solidFill>
                <a:latin typeface="Georgia" pitchFamily="34" charset="0"/>
                <a:ea typeface="Georgia" pitchFamily="34" charset="-122"/>
                <a:cs typeface="Georgia" pitchFamily="34" charset="-120"/>
              </a:rPr>
              <a:t>Predicting</a:t>
            </a:r>
            <a:endParaRPr lang="en-US" sz="4800" dirty="0"/>
          </a:p>
          <a:p>
            <a:pPr marL="0" indent="0" algn="l">
              <a:lnSpc>
                <a:spcPct val="110000"/>
              </a:lnSpc>
              <a:buNone/>
            </a:pPr>
            <a:r>
              <a:rPr lang="en-US" sz="4800" b="1" dirty="0">
                <a:solidFill>
                  <a:srgbClr val="FFFFFF"/>
                </a:solidFill>
                <a:latin typeface="Georgia" pitchFamily="34" charset="0"/>
                <a:ea typeface="Georgia" pitchFamily="34" charset="-122"/>
                <a:cs typeface="Georgia" pitchFamily="34" charset="-120"/>
              </a:rPr>
              <a:t>Fatal Crash</a:t>
            </a:r>
            <a:endParaRPr lang="en-US" sz="4800" dirty="0"/>
          </a:p>
          <a:p>
            <a:pPr marL="0" indent="0" algn="l">
              <a:lnSpc>
                <a:spcPct val="110000"/>
              </a:lnSpc>
              <a:buNone/>
            </a:pPr>
            <a:r>
              <a:rPr lang="en-US" sz="4800" b="1" dirty="0">
                <a:solidFill>
                  <a:srgbClr val="FFFFFF"/>
                </a:solidFill>
                <a:latin typeface="Georgia" pitchFamily="34" charset="0"/>
                <a:ea typeface="Georgia" pitchFamily="34" charset="-122"/>
                <a:cs typeface="Georgia" pitchFamily="34" charset="-120"/>
              </a:rPr>
              <a:t>Outcomes</a:t>
            </a:r>
            <a:endParaRPr lang="en-US" sz="4800" dirty="0"/>
          </a:p>
        </p:txBody>
      </p:sp>
      <p:sp>
        <p:nvSpPr>
          <p:cNvPr id="7" name="Shape 5"/>
          <p:cNvSpPr/>
          <p:nvPr/>
        </p:nvSpPr>
        <p:spPr>
          <a:xfrm>
            <a:off x="457200" y="3429000"/>
            <a:ext cx="1645920" cy="64008"/>
          </a:xfrm>
          <a:prstGeom prst="rect">
            <a:avLst/>
          </a:prstGeom>
          <a:solidFill>
            <a:srgbClr val="00C2A8"/>
          </a:solidFill>
          <a:ln/>
        </p:spPr>
        <p:txBody>
          <a:bodyPr/>
          <a:lstStyle/>
          <a:p>
            <a:endParaRPr lang="en-US"/>
          </a:p>
        </p:txBody>
      </p:sp>
      <p:sp>
        <p:nvSpPr>
          <p:cNvPr id="8" name="Text 6"/>
          <p:cNvSpPr/>
          <p:nvPr/>
        </p:nvSpPr>
        <p:spPr>
          <a:xfrm>
            <a:off x="457200" y="3611880"/>
            <a:ext cx="5029200" cy="640080"/>
          </a:xfrm>
          <a:prstGeom prst="rect">
            <a:avLst/>
          </a:prstGeom>
          <a:noFill/>
          <a:ln/>
        </p:spPr>
        <p:txBody>
          <a:bodyPr wrap="square" lIns="0" tIns="0" rIns="0" bIns="0" rtlCol="0" anchor="ctr"/>
          <a:lstStyle/>
          <a:p>
            <a:pPr marL="0" indent="0" algn="l">
              <a:buNone/>
            </a:pPr>
            <a:r>
              <a:rPr lang="en-US" sz="1100" dirty="0">
                <a:solidFill>
                  <a:srgbClr val="8BA4BF"/>
                </a:solidFill>
                <a:latin typeface="Calibri" pitchFamily="34" charset="0"/>
                <a:ea typeface="Calibri" pitchFamily="34" charset="-122"/>
                <a:cs typeface="Calibri" pitchFamily="34" charset="-120"/>
              </a:rPr>
              <a:t>A Machine Learning Analysis of 2023 U.S. Fatal Crashes</a:t>
            </a:r>
            <a:endParaRPr lang="en-US" sz="1100" dirty="0"/>
          </a:p>
          <a:p>
            <a:pPr marL="0" indent="0" algn="l">
              <a:buNone/>
            </a:pPr>
            <a:r>
              <a:rPr lang="en-US" sz="1100" dirty="0">
                <a:solidFill>
                  <a:srgbClr val="8BA4BF"/>
                </a:solidFill>
                <a:latin typeface="Calibri" pitchFamily="34" charset="0"/>
                <a:ea typeface="Calibri" pitchFamily="34" charset="-122"/>
                <a:cs typeface="Calibri" pitchFamily="34" charset="-120"/>
              </a:rPr>
              <a:t>Using NHTSA FARS Data · Linear Regression &amp; Decision Tree</a:t>
            </a:r>
            <a:endParaRPr lang="en-US" sz="1100" dirty="0"/>
          </a:p>
        </p:txBody>
      </p:sp>
      <p:sp>
        <p:nvSpPr>
          <p:cNvPr id="9" name="Shape 7"/>
          <p:cNvSpPr/>
          <p:nvPr/>
        </p:nvSpPr>
        <p:spPr>
          <a:xfrm>
            <a:off x="457200" y="4434840"/>
            <a:ext cx="2743200" cy="201168"/>
          </a:xfrm>
          <a:prstGeom prst="rect">
            <a:avLst/>
          </a:prstGeom>
          <a:solidFill>
            <a:srgbClr val="1A3354"/>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0" name="Shape 8"/>
          <p:cNvSpPr/>
          <p:nvPr/>
        </p:nvSpPr>
        <p:spPr>
          <a:xfrm>
            <a:off x="457200" y="4434840"/>
            <a:ext cx="45720" cy="201168"/>
          </a:xfrm>
          <a:prstGeom prst="rect">
            <a:avLst/>
          </a:prstGeom>
          <a:solidFill>
            <a:srgbClr val="00C2A8"/>
          </a:solidFill>
          <a:ln/>
        </p:spPr>
        <p:txBody>
          <a:bodyPr/>
          <a:lstStyle/>
          <a:p>
            <a:endParaRPr lang="en-US"/>
          </a:p>
        </p:txBody>
      </p:sp>
      <p:sp>
        <p:nvSpPr>
          <p:cNvPr id="11" name="Text 9"/>
          <p:cNvSpPr/>
          <p:nvPr/>
        </p:nvSpPr>
        <p:spPr>
          <a:xfrm>
            <a:off x="576072" y="4434840"/>
            <a:ext cx="2624328" cy="201168"/>
          </a:xfrm>
          <a:prstGeom prst="rect">
            <a:avLst/>
          </a:prstGeom>
          <a:noFill/>
          <a:ln/>
        </p:spPr>
        <p:txBody>
          <a:bodyPr wrap="square" lIns="0" tIns="0" rIns="0" bIns="0" rtlCol="0" anchor="ctr"/>
          <a:lstStyle/>
          <a:p>
            <a:pPr marL="0" indent="0">
              <a:buNone/>
            </a:pPr>
            <a:r>
              <a:rPr lang="en-US" sz="1000" dirty="0">
                <a:solidFill>
                  <a:srgbClr val="E8F0F8"/>
                </a:solidFill>
                <a:latin typeface="Calibri" pitchFamily="34" charset="0"/>
                <a:ea typeface="Calibri" pitchFamily="34" charset="-122"/>
                <a:cs typeface="Calibri" pitchFamily="34" charset="-120"/>
              </a:rPr>
              <a:t>Clarissa Hardin</a:t>
            </a:r>
            <a:endParaRPr lang="en-US" sz="1000" dirty="0"/>
          </a:p>
        </p:txBody>
      </p:sp>
      <p:sp>
        <p:nvSpPr>
          <p:cNvPr id="12" name="Shape 10"/>
          <p:cNvSpPr/>
          <p:nvPr/>
        </p:nvSpPr>
        <p:spPr>
          <a:xfrm>
            <a:off x="457200" y="4654296"/>
            <a:ext cx="2743200" cy="201168"/>
          </a:xfrm>
          <a:prstGeom prst="rect">
            <a:avLst/>
          </a:prstGeom>
          <a:solidFill>
            <a:srgbClr val="1A3354"/>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3" name="Shape 11"/>
          <p:cNvSpPr/>
          <p:nvPr/>
        </p:nvSpPr>
        <p:spPr>
          <a:xfrm>
            <a:off x="457200" y="4654296"/>
            <a:ext cx="45720" cy="201168"/>
          </a:xfrm>
          <a:prstGeom prst="rect">
            <a:avLst/>
          </a:prstGeom>
          <a:solidFill>
            <a:srgbClr val="00C2A8"/>
          </a:solidFill>
          <a:ln/>
        </p:spPr>
        <p:txBody>
          <a:bodyPr/>
          <a:lstStyle/>
          <a:p>
            <a:endParaRPr lang="en-US"/>
          </a:p>
        </p:txBody>
      </p:sp>
      <p:sp>
        <p:nvSpPr>
          <p:cNvPr id="14" name="Text 12"/>
          <p:cNvSpPr/>
          <p:nvPr/>
        </p:nvSpPr>
        <p:spPr>
          <a:xfrm>
            <a:off x="576072" y="4654296"/>
            <a:ext cx="2624328" cy="201168"/>
          </a:xfrm>
          <a:prstGeom prst="rect">
            <a:avLst/>
          </a:prstGeom>
          <a:noFill/>
          <a:ln/>
        </p:spPr>
        <p:txBody>
          <a:bodyPr wrap="square" lIns="0" tIns="0" rIns="0" bIns="0" rtlCol="0" anchor="ctr"/>
          <a:lstStyle/>
          <a:p>
            <a:pPr marL="0" indent="0">
              <a:buNone/>
            </a:pPr>
            <a:r>
              <a:rPr lang="en-US" sz="1000" dirty="0">
                <a:solidFill>
                  <a:srgbClr val="E8F0F8"/>
                </a:solidFill>
                <a:latin typeface="Calibri" pitchFamily="34" charset="0"/>
                <a:ea typeface="Calibri" pitchFamily="34" charset="-122"/>
                <a:cs typeface="Calibri" pitchFamily="34" charset="-120"/>
              </a:rPr>
              <a:t>Brenda Laime Jaime</a:t>
            </a:r>
            <a:endParaRPr lang="en-US" sz="1000" dirty="0"/>
          </a:p>
        </p:txBody>
      </p:sp>
      <p:sp>
        <p:nvSpPr>
          <p:cNvPr id="15" name="Shape 13"/>
          <p:cNvSpPr/>
          <p:nvPr/>
        </p:nvSpPr>
        <p:spPr>
          <a:xfrm>
            <a:off x="457200" y="4873752"/>
            <a:ext cx="2743200" cy="201168"/>
          </a:xfrm>
          <a:prstGeom prst="rect">
            <a:avLst/>
          </a:prstGeom>
          <a:solidFill>
            <a:srgbClr val="1A3354"/>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6" name="Shape 14"/>
          <p:cNvSpPr/>
          <p:nvPr/>
        </p:nvSpPr>
        <p:spPr>
          <a:xfrm>
            <a:off x="457200" y="4873752"/>
            <a:ext cx="45720" cy="201168"/>
          </a:xfrm>
          <a:prstGeom prst="rect">
            <a:avLst/>
          </a:prstGeom>
          <a:solidFill>
            <a:srgbClr val="00C2A8"/>
          </a:solidFill>
          <a:ln/>
        </p:spPr>
        <p:txBody>
          <a:bodyPr/>
          <a:lstStyle/>
          <a:p>
            <a:endParaRPr lang="en-US"/>
          </a:p>
        </p:txBody>
      </p:sp>
      <p:sp>
        <p:nvSpPr>
          <p:cNvPr id="17" name="Text 15"/>
          <p:cNvSpPr/>
          <p:nvPr/>
        </p:nvSpPr>
        <p:spPr>
          <a:xfrm>
            <a:off x="576072" y="4873752"/>
            <a:ext cx="2624328" cy="201168"/>
          </a:xfrm>
          <a:prstGeom prst="rect">
            <a:avLst/>
          </a:prstGeom>
          <a:noFill/>
          <a:ln/>
        </p:spPr>
        <p:txBody>
          <a:bodyPr wrap="square" lIns="0" tIns="0" rIns="0" bIns="0" rtlCol="0" anchor="ctr"/>
          <a:lstStyle/>
          <a:p>
            <a:pPr marL="0" indent="0">
              <a:buNone/>
            </a:pPr>
            <a:r>
              <a:rPr lang="en-US" sz="1000" dirty="0">
                <a:solidFill>
                  <a:srgbClr val="E8F0F8"/>
                </a:solidFill>
                <a:latin typeface="Calibri" pitchFamily="34" charset="0"/>
                <a:ea typeface="Calibri" pitchFamily="34" charset="-122"/>
                <a:cs typeface="Calibri" pitchFamily="34" charset="-120"/>
              </a:rPr>
              <a:t>Natasha Sulistyo</a:t>
            </a:r>
            <a:endParaRPr lang="en-US" sz="1000" dirty="0"/>
          </a:p>
        </p:txBody>
      </p:sp>
      <p:sp>
        <p:nvSpPr>
          <p:cNvPr id="18" name="Text 16"/>
          <p:cNvSpPr/>
          <p:nvPr/>
        </p:nvSpPr>
        <p:spPr>
          <a:xfrm>
            <a:off x="6217920" y="1188720"/>
            <a:ext cx="2560320" cy="548640"/>
          </a:xfrm>
          <a:prstGeom prst="rect">
            <a:avLst/>
          </a:prstGeom>
          <a:noFill/>
          <a:ln/>
        </p:spPr>
        <p:txBody>
          <a:bodyPr wrap="square" lIns="0" tIns="0" rIns="0" bIns="0" rtlCol="0" anchor="ctr"/>
          <a:lstStyle/>
          <a:p>
            <a:pPr marL="0" indent="0" algn="ctr">
              <a:buNone/>
            </a:pPr>
            <a:r>
              <a:rPr lang="en-US" sz="3600" b="1" dirty="0">
                <a:solidFill>
                  <a:srgbClr val="00C2A8"/>
                </a:solidFill>
                <a:latin typeface="Georgia" pitchFamily="34" charset="0"/>
                <a:ea typeface="Georgia" pitchFamily="34" charset="-122"/>
                <a:cs typeface="Georgia" pitchFamily="34" charset="-120"/>
              </a:rPr>
              <a:t>37,654</a:t>
            </a:r>
            <a:endParaRPr lang="en-US" sz="3600" dirty="0"/>
          </a:p>
        </p:txBody>
      </p:sp>
      <p:sp>
        <p:nvSpPr>
          <p:cNvPr id="19" name="Text 17"/>
          <p:cNvSpPr/>
          <p:nvPr/>
        </p:nvSpPr>
        <p:spPr>
          <a:xfrm>
            <a:off x="6217920" y="1691640"/>
            <a:ext cx="2560320" cy="274320"/>
          </a:xfrm>
          <a:prstGeom prst="rect">
            <a:avLst/>
          </a:prstGeom>
          <a:noFill/>
          <a:ln/>
        </p:spPr>
        <p:txBody>
          <a:bodyPr wrap="square" lIns="0" tIns="0" rIns="0" bIns="0" rtlCol="0" anchor="ctr"/>
          <a:lstStyle/>
          <a:p>
            <a:pPr marL="0" indent="0" algn="ctr">
              <a:buNone/>
            </a:pPr>
            <a:r>
              <a:rPr lang="en-US" sz="1000" dirty="0">
                <a:solidFill>
                  <a:srgbClr val="E8F0F8"/>
                </a:solidFill>
                <a:latin typeface="Calibri" pitchFamily="34" charset="0"/>
                <a:ea typeface="Calibri" pitchFamily="34" charset="-122"/>
                <a:cs typeface="Calibri" pitchFamily="34" charset="-120"/>
              </a:rPr>
              <a:t>Fatal crashes</a:t>
            </a:r>
            <a:endParaRPr lang="en-US" sz="1000" dirty="0"/>
          </a:p>
        </p:txBody>
      </p:sp>
      <p:sp>
        <p:nvSpPr>
          <p:cNvPr id="20" name="Shape 18"/>
          <p:cNvSpPr/>
          <p:nvPr/>
        </p:nvSpPr>
        <p:spPr>
          <a:xfrm>
            <a:off x="6766560" y="2057400"/>
            <a:ext cx="1463040" cy="13716"/>
          </a:xfrm>
          <a:prstGeom prst="rect">
            <a:avLst/>
          </a:prstGeom>
          <a:solidFill>
            <a:srgbClr val="1A3354"/>
          </a:solidFill>
          <a:ln/>
        </p:spPr>
        <p:txBody>
          <a:bodyPr/>
          <a:lstStyle/>
          <a:p>
            <a:endParaRPr lang="en-US"/>
          </a:p>
        </p:txBody>
      </p:sp>
      <p:sp>
        <p:nvSpPr>
          <p:cNvPr id="21" name="Text 19"/>
          <p:cNvSpPr/>
          <p:nvPr/>
        </p:nvSpPr>
        <p:spPr>
          <a:xfrm>
            <a:off x="6217920" y="2423160"/>
            <a:ext cx="2560320" cy="548640"/>
          </a:xfrm>
          <a:prstGeom prst="rect">
            <a:avLst/>
          </a:prstGeom>
          <a:noFill/>
          <a:ln/>
        </p:spPr>
        <p:txBody>
          <a:bodyPr wrap="square" lIns="0" tIns="0" rIns="0" bIns="0" rtlCol="0" anchor="ctr"/>
          <a:lstStyle/>
          <a:p>
            <a:pPr marL="0" indent="0" algn="ctr">
              <a:buNone/>
            </a:pPr>
            <a:r>
              <a:rPr lang="en-US" sz="3600" b="1" dirty="0">
                <a:solidFill>
                  <a:srgbClr val="00C2A8"/>
                </a:solidFill>
                <a:latin typeface="Georgia" pitchFamily="34" charset="0"/>
                <a:ea typeface="Georgia" pitchFamily="34" charset="-122"/>
                <a:cs typeface="Georgia" pitchFamily="34" charset="-120"/>
              </a:rPr>
              <a:t>14</a:t>
            </a:r>
            <a:endParaRPr lang="en-US" sz="3600" dirty="0"/>
          </a:p>
        </p:txBody>
      </p:sp>
      <p:sp>
        <p:nvSpPr>
          <p:cNvPr id="22" name="Text 20"/>
          <p:cNvSpPr/>
          <p:nvPr/>
        </p:nvSpPr>
        <p:spPr>
          <a:xfrm>
            <a:off x="6217920" y="2926080"/>
            <a:ext cx="2560320" cy="274320"/>
          </a:xfrm>
          <a:prstGeom prst="rect">
            <a:avLst/>
          </a:prstGeom>
          <a:noFill/>
          <a:ln/>
        </p:spPr>
        <p:txBody>
          <a:bodyPr wrap="square" lIns="0" tIns="0" rIns="0" bIns="0" rtlCol="0" anchor="ctr"/>
          <a:lstStyle/>
          <a:p>
            <a:pPr marL="0" indent="0" algn="ctr">
              <a:buNone/>
            </a:pPr>
            <a:r>
              <a:rPr lang="en-US" sz="1000" dirty="0">
                <a:solidFill>
                  <a:srgbClr val="E8F0F8"/>
                </a:solidFill>
                <a:latin typeface="Calibri" pitchFamily="34" charset="0"/>
                <a:ea typeface="Calibri" pitchFamily="34" charset="-122"/>
                <a:cs typeface="Calibri" pitchFamily="34" charset="-120"/>
              </a:rPr>
              <a:t>Predictors used</a:t>
            </a:r>
            <a:endParaRPr lang="en-US" sz="1000" dirty="0"/>
          </a:p>
        </p:txBody>
      </p:sp>
      <p:sp>
        <p:nvSpPr>
          <p:cNvPr id="23" name="Shape 21"/>
          <p:cNvSpPr/>
          <p:nvPr/>
        </p:nvSpPr>
        <p:spPr>
          <a:xfrm>
            <a:off x="6766560" y="3291840"/>
            <a:ext cx="1463040" cy="13716"/>
          </a:xfrm>
          <a:prstGeom prst="rect">
            <a:avLst/>
          </a:prstGeom>
          <a:solidFill>
            <a:srgbClr val="1A3354"/>
          </a:solidFill>
          <a:ln/>
        </p:spPr>
        <p:txBody>
          <a:bodyPr/>
          <a:lstStyle/>
          <a:p>
            <a:endParaRPr lang="en-US"/>
          </a:p>
        </p:txBody>
      </p:sp>
      <p:sp>
        <p:nvSpPr>
          <p:cNvPr id="24" name="Text 22"/>
          <p:cNvSpPr/>
          <p:nvPr/>
        </p:nvSpPr>
        <p:spPr>
          <a:xfrm>
            <a:off x="6217920" y="3657600"/>
            <a:ext cx="2560320" cy="548640"/>
          </a:xfrm>
          <a:prstGeom prst="rect">
            <a:avLst/>
          </a:prstGeom>
          <a:noFill/>
          <a:ln/>
        </p:spPr>
        <p:txBody>
          <a:bodyPr wrap="square" lIns="0" tIns="0" rIns="0" bIns="0" rtlCol="0" anchor="ctr"/>
          <a:lstStyle/>
          <a:p>
            <a:pPr marL="0" indent="0" algn="ctr">
              <a:buNone/>
            </a:pPr>
            <a:r>
              <a:rPr lang="en-US" sz="3600" b="1" dirty="0">
                <a:solidFill>
                  <a:srgbClr val="00C2A8"/>
                </a:solidFill>
                <a:latin typeface="Georgia" pitchFamily="34" charset="0"/>
                <a:ea typeface="Georgia" pitchFamily="34" charset="-122"/>
                <a:cs typeface="Georgia" pitchFamily="34" charset="-120"/>
              </a:rPr>
              <a:t>93%</a:t>
            </a:r>
            <a:endParaRPr lang="en-US" sz="3600" dirty="0"/>
          </a:p>
        </p:txBody>
      </p:sp>
      <p:sp>
        <p:nvSpPr>
          <p:cNvPr id="25" name="Text 23"/>
          <p:cNvSpPr/>
          <p:nvPr/>
        </p:nvSpPr>
        <p:spPr>
          <a:xfrm>
            <a:off x="6217920" y="4160520"/>
            <a:ext cx="2560320" cy="274320"/>
          </a:xfrm>
          <a:prstGeom prst="rect">
            <a:avLst/>
          </a:prstGeom>
          <a:noFill/>
          <a:ln/>
        </p:spPr>
        <p:txBody>
          <a:bodyPr wrap="square" lIns="0" tIns="0" rIns="0" bIns="0" rtlCol="0" anchor="ctr"/>
          <a:lstStyle/>
          <a:p>
            <a:pPr marL="0" indent="0" algn="ctr">
              <a:buNone/>
            </a:pPr>
            <a:r>
              <a:rPr lang="en-US" sz="1000" dirty="0">
                <a:solidFill>
                  <a:srgbClr val="E8F0F8"/>
                </a:solidFill>
                <a:latin typeface="Calibri" pitchFamily="34" charset="0"/>
                <a:ea typeface="Calibri" pitchFamily="34" charset="-122"/>
                <a:cs typeface="Calibri" pitchFamily="34" charset="-120"/>
              </a:rPr>
              <a:t>Single-fatality crashes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2A8"/>
          </a:solidFill>
          <a:ln/>
        </p:spPr>
        <p:txBody>
          <a:bodyPr/>
          <a:lstStyle/>
          <a:p>
            <a:endParaRPr lang="en-US"/>
          </a:p>
        </p:txBody>
      </p:sp>
      <p:sp>
        <p:nvSpPr>
          <p:cNvPr id="3" name="Text 1"/>
          <p:cNvSpPr/>
          <p:nvPr/>
        </p:nvSpPr>
        <p:spPr>
          <a:xfrm>
            <a:off x="411480" y="109728"/>
            <a:ext cx="832104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Project Description</a:t>
            </a:r>
            <a:endParaRPr lang="en-US" sz="2600" dirty="0"/>
          </a:p>
        </p:txBody>
      </p:sp>
      <p:sp>
        <p:nvSpPr>
          <p:cNvPr id="4" name="Text 2"/>
          <p:cNvSpPr/>
          <p:nvPr/>
        </p:nvSpPr>
        <p:spPr>
          <a:xfrm>
            <a:off x="411480" y="603504"/>
            <a:ext cx="8321040" cy="256032"/>
          </a:xfrm>
          <a:prstGeom prst="rect">
            <a:avLst/>
          </a:prstGeom>
          <a:noFill/>
          <a:ln/>
        </p:spPr>
        <p:txBody>
          <a:bodyPr wrap="square" lIns="0" tIns="0" rIns="0" bIns="0" rtlCol="0" anchor="ctr"/>
          <a:lstStyle/>
          <a:p>
            <a:pPr marL="0" indent="0" algn="l">
              <a:buNone/>
            </a:pPr>
            <a:r>
              <a:rPr lang="en-US" sz="1100" kern="0" spc="150" dirty="0">
                <a:solidFill>
                  <a:srgbClr val="00C2A8"/>
                </a:solidFill>
                <a:latin typeface="Calibri" pitchFamily="34" charset="0"/>
                <a:ea typeface="Calibri" pitchFamily="34" charset="-122"/>
                <a:cs typeface="Calibri" pitchFamily="34" charset="-120"/>
              </a:rPr>
              <a:t>WHAT WE BUILT AND WHY IT MATTERS</a:t>
            </a:r>
            <a:endParaRPr lang="en-US" sz="1100" dirty="0"/>
          </a:p>
        </p:txBody>
      </p:sp>
      <p:sp>
        <p:nvSpPr>
          <p:cNvPr id="5" name="Shape 3"/>
          <p:cNvSpPr/>
          <p:nvPr/>
        </p:nvSpPr>
        <p:spPr>
          <a:xfrm>
            <a:off x="411480" y="859536"/>
            <a:ext cx="8321040" cy="13716"/>
          </a:xfrm>
          <a:prstGeom prst="rect">
            <a:avLst/>
          </a:prstGeom>
          <a:solidFill>
            <a:srgbClr val="1A3354"/>
          </a:solidFill>
          <a:ln/>
        </p:spPr>
        <p:txBody>
          <a:bodyPr/>
          <a:lstStyle/>
          <a:p>
            <a:endParaRPr lang="en-US"/>
          </a:p>
        </p:txBody>
      </p:sp>
      <p:sp>
        <p:nvSpPr>
          <p:cNvPr id="6" name="Shape 4"/>
          <p:cNvSpPr/>
          <p:nvPr/>
        </p:nvSpPr>
        <p:spPr>
          <a:xfrm>
            <a:off x="411480" y="1005840"/>
            <a:ext cx="4023360" cy="141732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7" name="Shape 5"/>
          <p:cNvSpPr/>
          <p:nvPr/>
        </p:nvSpPr>
        <p:spPr>
          <a:xfrm>
            <a:off x="411480" y="1005840"/>
            <a:ext cx="64008" cy="1417320"/>
          </a:xfrm>
          <a:prstGeom prst="rect">
            <a:avLst/>
          </a:prstGeom>
          <a:solidFill>
            <a:srgbClr val="E05252"/>
          </a:solidFill>
          <a:ln/>
        </p:spPr>
        <p:txBody>
          <a:bodyPr/>
          <a:lstStyle/>
          <a:p>
            <a:endParaRPr lang="en-US"/>
          </a:p>
        </p:txBody>
      </p:sp>
      <p:sp>
        <p:nvSpPr>
          <p:cNvPr id="8" name="Text 6"/>
          <p:cNvSpPr/>
          <p:nvPr/>
        </p:nvSpPr>
        <p:spPr>
          <a:xfrm>
            <a:off x="566928" y="1042416"/>
            <a:ext cx="3749040" cy="274320"/>
          </a:xfrm>
          <a:prstGeom prst="rect">
            <a:avLst/>
          </a:prstGeom>
          <a:noFill/>
          <a:ln/>
        </p:spPr>
        <p:txBody>
          <a:bodyPr wrap="square" lIns="0" tIns="0" rIns="0" bIns="0" rtlCol="0" anchor="ctr"/>
          <a:lstStyle/>
          <a:p>
            <a:pPr marL="0" indent="0">
              <a:buNone/>
            </a:pPr>
            <a:r>
              <a:rPr lang="en-US" sz="1100" b="1" dirty="0">
                <a:solidFill>
                  <a:srgbClr val="E05252"/>
                </a:solidFill>
                <a:latin typeface="Calibri" pitchFamily="34" charset="0"/>
                <a:ea typeface="Calibri" pitchFamily="34" charset="-122"/>
                <a:cs typeface="Calibri" pitchFamily="34" charset="-120"/>
              </a:rPr>
              <a:t>The Problem</a:t>
            </a:r>
            <a:endParaRPr lang="en-US" sz="1100" dirty="0"/>
          </a:p>
        </p:txBody>
      </p:sp>
      <p:sp>
        <p:nvSpPr>
          <p:cNvPr id="9" name="Text 7"/>
          <p:cNvSpPr/>
          <p:nvPr/>
        </p:nvSpPr>
        <p:spPr>
          <a:xfrm>
            <a:off x="566928" y="1325880"/>
            <a:ext cx="3749040" cy="1005840"/>
          </a:xfrm>
          <a:prstGeom prst="rect">
            <a:avLst/>
          </a:prstGeom>
          <a:noFill/>
          <a:ln/>
        </p:spPr>
        <p:txBody>
          <a:bodyPr wrap="square" lIns="0" tIns="0" rIns="0" bIns="0" rtlCol="0" anchor="ctr"/>
          <a:lstStyle/>
          <a:p>
            <a:pPr marL="0" indent="0">
              <a:buNone/>
            </a:pPr>
            <a:r>
              <a:rPr lang="en-US" sz="1050" dirty="0">
                <a:solidFill>
                  <a:srgbClr val="E8F0F8"/>
                </a:solidFill>
                <a:latin typeface="Calibri" pitchFamily="34" charset="0"/>
                <a:ea typeface="Calibri" pitchFamily="34" charset="-122"/>
                <a:cs typeface="Calibri" pitchFamily="34" charset="-120"/>
              </a:rPr>
              <a:t>Not all crashes are equally deadly — some kill 1 person, others kill 4 or 5. Safety decisions are often based on experience, not data. We need a way to predict which conditions make a crash more deadly.</a:t>
            </a:r>
            <a:endParaRPr lang="en-US" sz="1050" dirty="0"/>
          </a:p>
        </p:txBody>
      </p:sp>
      <p:sp>
        <p:nvSpPr>
          <p:cNvPr id="10" name="Shape 8"/>
          <p:cNvSpPr/>
          <p:nvPr/>
        </p:nvSpPr>
        <p:spPr>
          <a:xfrm>
            <a:off x="4617720" y="1005840"/>
            <a:ext cx="4114800" cy="141732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1" name="Shape 9"/>
          <p:cNvSpPr/>
          <p:nvPr/>
        </p:nvSpPr>
        <p:spPr>
          <a:xfrm>
            <a:off x="4617720" y="1005840"/>
            <a:ext cx="64008" cy="1417320"/>
          </a:xfrm>
          <a:prstGeom prst="rect">
            <a:avLst/>
          </a:prstGeom>
          <a:solidFill>
            <a:srgbClr val="00C2A8"/>
          </a:solidFill>
          <a:ln/>
        </p:spPr>
        <p:txBody>
          <a:bodyPr/>
          <a:lstStyle/>
          <a:p>
            <a:endParaRPr lang="en-US"/>
          </a:p>
        </p:txBody>
      </p:sp>
      <p:sp>
        <p:nvSpPr>
          <p:cNvPr id="12" name="Text 10"/>
          <p:cNvSpPr/>
          <p:nvPr/>
        </p:nvSpPr>
        <p:spPr>
          <a:xfrm>
            <a:off x="4773168" y="1042416"/>
            <a:ext cx="3840480" cy="274320"/>
          </a:xfrm>
          <a:prstGeom prst="rect">
            <a:avLst/>
          </a:prstGeom>
          <a:noFill/>
          <a:ln/>
        </p:spPr>
        <p:txBody>
          <a:bodyPr wrap="square" lIns="0" tIns="0" rIns="0" bIns="0" rtlCol="0" anchor="ctr"/>
          <a:lstStyle/>
          <a:p>
            <a:pPr marL="0" indent="0">
              <a:buNone/>
            </a:pPr>
            <a:r>
              <a:rPr lang="en-US" sz="1100" b="1" dirty="0">
                <a:solidFill>
                  <a:srgbClr val="00C2A8"/>
                </a:solidFill>
                <a:latin typeface="Calibri" pitchFamily="34" charset="0"/>
                <a:ea typeface="Calibri" pitchFamily="34" charset="-122"/>
                <a:cs typeface="Calibri" pitchFamily="34" charset="-120"/>
              </a:rPr>
              <a:t>Our Goal</a:t>
            </a:r>
            <a:endParaRPr lang="en-US" sz="1100" dirty="0"/>
          </a:p>
        </p:txBody>
      </p:sp>
      <p:sp>
        <p:nvSpPr>
          <p:cNvPr id="13" name="Text 11"/>
          <p:cNvSpPr/>
          <p:nvPr/>
        </p:nvSpPr>
        <p:spPr>
          <a:xfrm>
            <a:off x="4773168" y="1325880"/>
            <a:ext cx="3840480" cy="1005840"/>
          </a:xfrm>
          <a:prstGeom prst="rect">
            <a:avLst/>
          </a:prstGeom>
          <a:noFill/>
          <a:ln/>
        </p:spPr>
        <p:txBody>
          <a:bodyPr wrap="square" lIns="0" tIns="0" rIns="0" bIns="0" rtlCol="0" anchor="ctr"/>
          <a:lstStyle/>
          <a:p>
            <a:pPr marL="0" indent="0">
              <a:buNone/>
            </a:pPr>
            <a:r>
              <a:rPr lang="en-US" sz="1050" dirty="0">
                <a:solidFill>
                  <a:srgbClr val="E8F0F8"/>
                </a:solidFill>
                <a:latin typeface="Calibri" pitchFamily="34" charset="0"/>
                <a:ea typeface="Calibri" pitchFamily="34" charset="-122"/>
                <a:cs typeface="Calibri" pitchFamily="34" charset="-120"/>
              </a:rPr>
              <a:t>Predict </a:t>
            </a:r>
            <a:r>
              <a:rPr lang="en-US" sz="1050" b="1" dirty="0">
                <a:solidFill>
                  <a:srgbClr val="FFFFFF"/>
                </a:solidFill>
                <a:latin typeface="Calibri" pitchFamily="34" charset="0"/>
                <a:ea typeface="Calibri" pitchFamily="34" charset="-122"/>
                <a:cs typeface="Calibri" pitchFamily="34" charset="-120"/>
              </a:rPr>
              <a:t>fatalities per crash</a:t>
            </a:r>
            <a:r>
              <a:rPr lang="en-US" sz="1050" dirty="0">
                <a:solidFill>
                  <a:srgbClr val="E8F0F8"/>
                </a:solidFill>
                <a:latin typeface="Calibri" pitchFamily="34" charset="0"/>
                <a:ea typeface="Calibri" pitchFamily="34" charset="-122"/>
                <a:cs typeface="Calibri" pitchFamily="34" charset="-120"/>
              </a:rPr>
              <a:t> · Compare Linear Regression vs Decision Tree · Find which crash conditions drive the worst outcomes</a:t>
            </a:r>
            <a:endParaRPr lang="en-US" sz="1050" dirty="0"/>
          </a:p>
        </p:txBody>
      </p:sp>
      <p:sp>
        <p:nvSpPr>
          <p:cNvPr id="14" name="Text 12"/>
          <p:cNvSpPr/>
          <p:nvPr/>
        </p:nvSpPr>
        <p:spPr>
          <a:xfrm>
            <a:off x="411480" y="2578608"/>
            <a:ext cx="8321040" cy="228600"/>
          </a:xfrm>
          <a:prstGeom prst="rect">
            <a:avLst/>
          </a:prstGeom>
          <a:noFill/>
          <a:ln/>
        </p:spPr>
        <p:txBody>
          <a:bodyPr wrap="square" lIns="0" tIns="0" rIns="0" bIns="0" rtlCol="0" anchor="ctr"/>
          <a:lstStyle/>
          <a:p>
            <a:pPr marL="0" indent="0">
              <a:buNone/>
            </a:pPr>
            <a:r>
              <a:rPr lang="en-US" sz="900" b="1" kern="0" spc="200" dirty="0">
                <a:solidFill>
                  <a:srgbClr val="00C2A8"/>
                </a:solidFill>
                <a:latin typeface="Calibri" pitchFamily="34" charset="0"/>
                <a:ea typeface="Calibri" pitchFamily="34" charset="-122"/>
                <a:cs typeface="Calibri" pitchFamily="34" charset="-120"/>
              </a:rPr>
              <a:t>WHO BENEFITS</a:t>
            </a:r>
            <a:endParaRPr lang="en-US" sz="900" dirty="0"/>
          </a:p>
        </p:txBody>
      </p:sp>
      <p:sp>
        <p:nvSpPr>
          <p:cNvPr id="15" name="Shape 13"/>
          <p:cNvSpPr/>
          <p:nvPr/>
        </p:nvSpPr>
        <p:spPr>
          <a:xfrm>
            <a:off x="411480" y="2834640"/>
            <a:ext cx="1965960" cy="18288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6" name="Shape 14"/>
          <p:cNvSpPr/>
          <p:nvPr/>
        </p:nvSpPr>
        <p:spPr>
          <a:xfrm>
            <a:off x="411480" y="2834640"/>
            <a:ext cx="1965960" cy="45720"/>
          </a:xfrm>
          <a:prstGeom prst="rect">
            <a:avLst/>
          </a:prstGeom>
          <a:solidFill>
            <a:srgbClr val="00C2A8"/>
          </a:solidFill>
          <a:ln/>
        </p:spPr>
        <p:txBody>
          <a:bodyPr/>
          <a:lstStyle/>
          <a:p>
            <a:endParaRPr lang="en-US"/>
          </a:p>
        </p:txBody>
      </p:sp>
      <p:pic>
        <p:nvPicPr>
          <p:cNvPr id="17" name="Image 0" descr="preencoded.png"/>
          <p:cNvPicPr>
            <a:picLocks noChangeAspect="1"/>
          </p:cNvPicPr>
          <p:nvPr/>
        </p:nvPicPr>
        <p:blipFill>
          <a:blip r:embed="rId3"/>
          <a:stretch>
            <a:fillRect/>
          </a:stretch>
        </p:blipFill>
        <p:spPr>
          <a:xfrm>
            <a:off x="1097280" y="2971800"/>
            <a:ext cx="502920" cy="502920"/>
          </a:xfrm>
          <a:prstGeom prst="rect">
            <a:avLst/>
          </a:prstGeom>
        </p:spPr>
      </p:pic>
      <p:sp>
        <p:nvSpPr>
          <p:cNvPr id="18" name="Text 15"/>
          <p:cNvSpPr/>
          <p:nvPr/>
        </p:nvSpPr>
        <p:spPr>
          <a:xfrm>
            <a:off x="502920" y="3547872"/>
            <a:ext cx="17830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City Planners</a:t>
            </a:r>
            <a:endParaRPr lang="en-US" sz="1000" dirty="0"/>
          </a:p>
        </p:txBody>
      </p:sp>
      <p:sp>
        <p:nvSpPr>
          <p:cNvPr id="19" name="Text 16"/>
          <p:cNvSpPr/>
          <p:nvPr/>
        </p:nvSpPr>
        <p:spPr>
          <a:xfrm>
            <a:off x="502920" y="3858768"/>
            <a:ext cx="1783080" cy="594360"/>
          </a:xfrm>
          <a:prstGeom prst="rect">
            <a:avLst/>
          </a:prstGeom>
          <a:noFill/>
          <a:ln/>
        </p:spPr>
        <p:txBody>
          <a:bodyPr wrap="square" lIns="0" tIns="0" rIns="0" bIns="0" rtlCol="0" anchor="ctr"/>
          <a:lstStyle/>
          <a:p>
            <a:pPr marL="0" indent="0" algn="ctr">
              <a:buNone/>
            </a:pPr>
            <a:r>
              <a:rPr lang="en-US" sz="900" dirty="0">
                <a:solidFill>
                  <a:srgbClr val="8BA4BF"/>
                </a:solidFill>
                <a:latin typeface="Calibri" pitchFamily="34" charset="0"/>
                <a:ea typeface="Calibri" pitchFamily="34" charset="-122"/>
                <a:cs typeface="Calibri" pitchFamily="34" charset="-120"/>
              </a:rPr>
              <a:t>Direct resources to high-risk areas</a:t>
            </a:r>
            <a:endParaRPr lang="en-US" sz="900" dirty="0"/>
          </a:p>
        </p:txBody>
      </p:sp>
      <p:sp>
        <p:nvSpPr>
          <p:cNvPr id="20" name="Shape 17"/>
          <p:cNvSpPr/>
          <p:nvPr/>
        </p:nvSpPr>
        <p:spPr>
          <a:xfrm>
            <a:off x="2532888" y="2834640"/>
            <a:ext cx="1965960" cy="18288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21" name="Shape 18"/>
          <p:cNvSpPr/>
          <p:nvPr/>
        </p:nvSpPr>
        <p:spPr>
          <a:xfrm>
            <a:off x="2532888" y="2834640"/>
            <a:ext cx="1965960" cy="45720"/>
          </a:xfrm>
          <a:prstGeom prst="rect">
            <a:avLst/>
          </a:prstGeom>
          <a:solidFill>
            <a:srgbClr val="F5A623"/>
          </a:solidFill>
          <a:ln/>
        </p:spPr>
        <p:txBody>
          <a:bodyPr/>
          <a:lstStyle/>
          <a:p>
            <a:endParaRPr lang="en-US"/>
          </a:p>
        </p:txBody>
      </p:sp>
      <p:pic>
        <p:nvPicPr>
          <p:cNvPr id="22" name="Image 1" descr="preencoded.png"/>
          <p:cNvPicPr>
            <a:picLocks noChangeAspect="1"/>
          </p:cNvPicPr>
          <p:nvPr/>
        </p:nvPicPr>
        <p:blipFill>
          <a:blip r:embed="rId4"/>
          <a:stretch>
            <a:fillRect/>
          </a:stretch>
        </p:blipFill>
        <p:spPr>
          <a:xfrm>
            <a:off x="3218688" y="2971800"/>
            <a:ext cx="502920" cy="502920"/>
          </a:xfrm>
          <a:prstGeom prst="rect">
            <a:avLst/>
          </a:prstGeom>
        </p:spPr>
      </p:pic>
      <p:sp>
        <p:nvSpPr>
          <p:cNvPr id="23" name="Text 19"/>
          <p:cNvSpPr/>
          <p:nvPr/>
        </p:nvSpPr>
        <p:spPr>
          <a:xfrm>
            <a:off x="2624328" y="3547872"/>
            <a:ext cx="17830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Rideshare Companies</a:t>
            </a:r>
            <a:endParaRPr lang="en-US" sz="1000" dirty="0"/>
          </a:p>
        </p:txBody>
      </p:sp>
      <p:sp>
        <p:nvSpPr>
          <p:cNvPr id="24" name="Text 20"/>
          <p:cNvSpPr/>
          <p:nvPr/>
        </p:nvSpPr>
        <p:spPr>
          <a:xfrm>
            <a:off x="2624328" y="3858768"/>
            <a:ext cx="1783080" cy="594360"/>
          </a:xfrm>
          <a:prstGeom prst="rect">
            <a:avLst/>
          </a:prstGeom>
          <a:noFill/>
          <a:ln/>
        </p:spPr>
        <p:txBody>
          <a:bodyPr wrap="square" lIns="0" tIns="0" rIns="0" bIns="0" rtlCol="0" anchor="ctr"/>
          <a:lstStyle/>
          <a:p>
            <a:pPr marL="0" indent="0" algn="ctr">
              <a:buNone/>
            </a:pPr>
            <a:r>
              <a:rPr lang="en-US" sz="900" dirty="0">
                <a:solidFill>
                  <a:srgbClr val="8BA4BF"/>
                </a:solidFill>
                <a:latin typeface="Calibri" pitchFamily="34" charset="0"/>
                <a:ea typeface="Calibri" pitchFamily="34" charset="-122"/>
                <a:cs typeface="Calibri" pitchFamily="34" charset="-120"/>
              </a:rPr>
              <a:t>Surge drivers during risky hours</a:t>
            </a:r>
            <a:endParaRPr lang="en-US" sz="900" dirty="0"/>
          </a:p>
        </p:txBody>
      </p:sp>
      <p:sp>
        <p:nvSpPr>
          <p:cNvPr id="25" name="Shape 21"/>
          <p:cNvSpPr/>
          <p:nvPr/>
        </p:nvSpPr>
        <p:spPr>
          <a:xfrm>
            <a:off x="4654296" y="2834640"/>
            <a:ext cx="1965960" cy="18288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26" name="Shape 22"/>
          <p:cNvSpPr/>
          <p:nvPr/>
        </p:nvSpPr>
        <p:spPr>
          <a:xfrm>
            <a:off x="4654296" y="2834640"/>
            <a:ext cx="1965960" cy="45720"/>
          </a:xfrm>
          <a:prstGeom prst="rect">
            <a:avLst/>
          </a:prstGeom>
          <a:solidFill>
            <a:srgbClr val="00957E"/>
          </a:solidFill>
          <a:ln/>
        </p:spPr>
        <p:txBody>
          <a:bodyPr/>
          <a:lstStyle/>
          <a:p>
            <a:endParaRPr lang="en-US"/>
          </a:p>
        </p:txBody>
      </p:sp>
      <p:pic>
        <p:nvPicPr>
          <p:cNvPr id="27" name="Image 2" descr="preencoded.png"/>
          <p:cNvPicPr>
            <a:picLocks noChangeAspect="1"/>
          </p:cNvPicPr>
          <p:nvPr/>
        </p:nvPicPr>
        <p:blipFill>
          <a:blip r:embed="rId5"/>
          <a:stretch>
            <a:fillRect/>
          </a:stretch>
        </p:blipFill>
        <p:spPr>
          <a:xfrm>
            <a:off x="5340096" y="2971800"/>
            <a:ext cx="502920" cy="502920"/>
          </a:xfrm>
          <a:prstGeom prst="rect">
            <a:avLst/>
          </a:prstGeom>
        </p:spPr>
      </p:pic>
      <p:sp>
        <p:nvSpPr>
          <p:cNvPr id="28" name="Text 23"/>
          <p:cNvSpPr/>
          <p:nvPr/>
        </p:nvSpPr>
        <p:spPr>
          <a:xfrm>
            <a:off x="4745736" y="3547872"/>
            <a:ext cx="17830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Public Health Agencies</a:t>
            </a:r>
            <a:endParaRPr lang="en-US" sz="1000" dirty="0"/>
          </a:p>
        </p:txBody>
      </p:sp>
      <p:sp>
        <p:nvSpPr>
          <p:cNvPr id="29" name="Text 24"/>
          <p:cNvSpPr/>
          <p:nvPr/>
        </p:nvSpPr>
        <p:spPr>
          <a:xfrm>
            <a:off x="4745736" y="3858768"/>
            <a:ext cx="1783080" cy="594360"/>
          </a:xfrm>
          <a:prstGeom prst="rect">
            <a:avLst/>
          </a:prstGeom>
          <a:noFill/>
          <a:ln/>
        </p:spPr>
        <p:txBody>
          <a:bodyPr wrap="square" lIns="0" tIns="0" rIns="0" bIns="0" rtlCol="0" anchor="ctr"/>
          <a:lstStyle/>
          <a:p>
            <a:pPr marL="0" indent="0" algn="ctr">
              <a:buNone/>
            </a:pPr>
            <a:r>
              <a:rPr lang="en-US" sz="900" dirty="0">
                <a:solidFill>
                  <a:srgbClr val="8BA4BF"/>
                </a:solidFill>
                <a:latin typeface="Calibri" pitchFamily="34" charset="0"/>
                <a:ea typeface="Calibri" pitchFamily="34" charset="-122"/>
                <a:cs typeface="Calibri" pitchFamily="34" charset="-120"/>
              </a:rPr>
              <a:t>Target late-night prevention</a:t>
            </a:r>
            <a:endParaRPr lang="en-US" sz="900" dirty="0"/>
          </a:p>
        </p:txBody>
      </p:sp>
      <p:sp>
        <p:nvSpPr>
          <p:cNvPr id="30" name="Shape 25"/>
          <p:cNvSpPr/>
          <p:nvPr/>
        </p:nvSpPr>
        <p:spPr>
          <a:xfrm>
            <a:off x="6775704" y="2834640"/>
            <a:ext cx="1965960" cy="18288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31" name="Shape 26"/>
          <p:cNvSpPr/>
          <p:nvPr/>
        </p:nvSpPr>
        <p:spPr>
          <a:xfrm>
            <a:off x="6775704" y="2834640"/>
            <a:ext cx="1965960" cy="45720"/>
          </a:xfrm>
          <a:prstGeom prst="rect">
            <a:avLst/>
          </a:prstGeom>
          <a:solidFill>
            <a:srgbClr val="E05252"/>
          </a:solidFill>
          <a:ln/>
        </p:spPr>
        <p:txBody>
          <a:bodyPr/>
          <a:lstStyle/>
          <a:p>
            <a:endParaRPr lang="en-US"/>
          </a:p>
        </p:txBody>
      </p:sp>
      <p:pic>
        <p:nvPicPr>
          <p:cNvPr id="32" name="Image 3" descr="preencoded.png"/>
          <p:cNvPicPr>
            <a:picLocks noChangeAspect="1"/>
          </p:cNvPicPr>
          <p:nvPr/>
        </p:nvPicPr>
        <p:blipFill>
          <a:blip r:embed="rId6"/>
          <a:stretch>
            <a:fillRect/>
          </a:stretch>
        </p:blipFill>
        <p:spPr>
          <a:xfrm>
            <a:off x="7461504" y="2971800"/>
            <a:ext cx="502920" cy="502920"/>
          </a:xfrm>
          <a:prstGeom prst="rect">
            <a:avLst/>
          </a:prstGeom>
        </p:spPr>
      </p:pic>
      <p:sp>
        <p:nvSpPr>
          <p:cNvPr id="33" name="Text 27"/>
          <p:cNvSpPr/>
          <p:nvPr/>
        </p:nvSpPr>
        <p:spPr>
          <a:xfrm>
            <a:off x="6867144" y="3547872"/>
            <a:ext cx="17830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Emergency Services</a:t>
            </a:r>
            <a:endParaRPr lang="en-US" sz="1000" dirty="0"/>
          </a:p>
        </p:txBody>
      </p:sp>
      <p:sp>
        <p:nvSpPr>
          <p:cNvPr id="34" name="Text 28"/>
          <p:cNvSpPr/>
          <p:nvPr/>
        </p:nvSpPr>
        <p:spPr>
          <a:xfrm>
            <a:off x="6867144" y="3858768"/>
            <a:ext cx="1783080" cy="594360"/>
          </a:xfrm>
          <a:prstGeom prst="rect">
            <a:avLst/>
          </a:prstGeom>
          <a:noFill/>
          <a:ln/>
        </p:spPr>
        <p:txBody>
          <a:bodyPr wrap="square" lIns="0" tIns="0" rIns="0" bIns="0" rtlCol="0" anchor="ctr"/>
          <a:lstStyle/>
          <a:p>
            <a:pPr marL="0" indent="0" algn="ctr">
              <a:buNone/>
            </a:pPr>
            <a:r>
              <a:rPr lang="en-US" sz="900" dirty="0">
                <a:solidFill>
                  <a:srgbClr val="8BA4BF"/>
                </a:solidFill>
                <a:latin typeface="Calibri" pitchFamily="34" charset="0"/>
                <a:ea typeface="Calibri" pitchFamily="34" charset="-122"/>
                <a:cs typeface="Calibri" pitchFamily="34" charset="-120"/>
              </a:rPr>
              <a:t>Pre-position near high-risk roads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2A8"/>
          </a:solidFill>
          <a:ln/>
        </p:spPr>
        <p:txBody>
          <a:bodyPr/>
          <a:lstStyle/>
          <a:p>
            <a:endParaRPr lang="en-US"/>
          </a:p>
        </p:txBody>
      </p:sp>
      <p:sp>
        <p:nvSpPr>
          <p:cNvPr id="3" name="Text 1"/>
          <p:cNvSpPr/>
          <p:nvPr/>
        </p:nvSpPr>
        <p:spPr>
          <a:xfrm>
            <a:off x="411480" y="109728"/>
            <a:ext cx="832104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Introduction — Why This Matters</a:t>
            </a:r>
            <a:endParaRPr lang="en-US" sz="2600" dirty="0"/>
          </a:p>
        </p:txBody>
      </p:sp>
      <p:sp>
        <p:nvSpPr>
          <p:cNvPr id="4" name="Text 2"/>
          <p:cNvSpPr/>
          <p:nvPr/>
        </p:nvSpPr>
        <p:spPr>
          <a:xfrm>
            <a:off x="411480" y="603504"/>
            <a:ext cx="8321040" cy="256032"/>
          </a:xfrm>
          <a:prstGeom prst="rect">
            <a:avLst/>
          </a:prstGeom>
          <a:noFill/>
          <a:ln/>
        </p:spPr>
        <p:txBody>
          <a:bodyPr wrap="square" lIns="0" tIns="0" rIns="0" bIns="0" rtlCol="0" anchor="ctr"/>
          <a:lstStyle/>
          <a:p>
            <a:pPr marL="0" indent="0" algn="l">
              <a:buNone/>
            </a:pPr>
            <a:r>
              <a:rPr lang="en-US" sz="1100" kern="0" spc="150" dirty="0">
                <a:solidFill>
                  <a:srgbClr val="00C2A8"/>
                </a:solidFill>
                <a:latin typeface="Calibri" pitchFamily="34" charset="0"/>
                <a:ea typeface="Calibri" pitchFamily="34" charset="-122"/>
                <a:cs typeface="Calibri" pitchFamily="34" charset="-120"/>
              </a:rPr>
              <a:t>CONTEXT AND MOTIVATION</a:t>
            </a:r>
            <a:endParaRPr lang="en-US" sz="1100" dirty="0"/>
          </a:p>
        </p:txBody>
      </p:sp>
      <p:sp>
        <p:nvSpPr>
          <p:cNvPr id="5" name="Shape 3"/>
          <p:cNvSpPr/>
          <p:nvPr/>
        </p:nvSpPr>
        <p:spPr>
          <a:xfrm>
            <a:off x="411480" y="859536"/>
            <a:ext cx="8321040" cy="13716"/>
          </a:xfrm>
          <a:prstGeom prst="rect">
            <a:avLst/>
          </a:prstGeom>
          <a:solidFill>
            <a:srgbClr val="1A3354"/>
          </a:solidFill>
          <a:ln/>
        </p:spPr>
        <p:txBody>
          <a:bodyPr/>
          <a:lstStyle/>
          <a:p>
            <a:endParaRPr lang="en-US"/>
          </a:p>
        </p:txBody>
      </p:sp>
      <p:sp>
        <p:nvSpPr>
          <p:cNvPr id="6" name="Shape 4"/>
          <p:cNvSpPr/>
          <p:nvPr/>
        </p:nvSpPr>
        <p:spPr>
          <a:xfrm>
            <a:off x="411480" y="987552"/>
            <a:ext cx="1965960" cy="118872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7" name="Shape 5"/>
          <p:cNvSpPr/>
          <p:nvPr/>
        </p:nvSpPr>
        <p:spPr>
          <a:xfrm>
            <a:off x="411480" y="987552"/>
            <a:ext cx="1965960" cy="50292"/>
          </a:xfrm>
          <a:prstGeom prst="rect">
            <a:avLst/>
          </a:prstGeom>
          <a:solidFill>
            <a:srgbClr val="00C2A8"/>
          </a:solidFill>
          <a:ln/>
        </p:spPr>
        <p:txBody>
          <a:bodyPr/>
          <a:lstStyle/>
          <a:p>
            <a:endParaRPr lang="en-US"/>
          </a:p>
        </p:txBody>
      </p:sp>
      <p:sp>
        <p:nvSpPr>
          <p:cNvPr id="8" name="Text 6"/>
          <p:cNvSpPr/>
          <p:nvPr/>
        </p:nvSpPr>
        <p:spPr>
          <a:xfrm>
            <a:off x="502920" y="1078992"/>
            <a:ext cx="1783080" cy="653796"/>
          </a:xfrm>
          <a:prstGeom prst="rect">
            <a:avLst/>
          </a:prstGeom>
          <a:noFill/>
          <a:ln/>
        </p:spPr>
        <p:txBody>
          <a:bodyPr wrap="square" lIns="0" tIns="0" rIns="0" bIns="0" rtlCol="0" anchor="ctr"/>
          <a:lstStyle/>
          <a:p>
            <a:pPr marL="0" indent="0" algn="ctr">
              <a:buNone/>
            </a:pPr>
            <a:r>
              <a:rPr lang="en-US" sz="3000" b="1" dirty="0">
                <a:solidFill>
                  <a:srgbClr val="00C2A8"/>
                </a:solidFill>
                <a:latin typeface="Georgia" pitchFamily="34" charset="0"/>
                <a:ea typeface="Georgia" pitchFamily="34" charset="-122"/>
                <a:cs typeface="Georgia" pitchFamily="34" charset="-120"/>
              </a:rPr>
              <a:t>37,654</a:t>
            </a:r>
            <a:endParaRPr lang="en-US" sz="3000" dirty="0"/>
          </a:p>
        </p:txBody>
      </p:sp>
      <p:sp>
        <p:nvSpPr>
          <p:cNvPr id="9" name="Text 7"/>
          <p:cNvSpPr/>
          <p:nvPr/>
        </p:nvSpPr>
        <p:spPr>
          <a:xfrm>
            <a:off x="484632" y="1700784"/>
            <a:ext cx="1819656" cy="451714"/>
          </a:xfrm>
          <a:prstGeom prst="rect">
            <a:avLst/>
          </a:prstGeom>
          <a:noFill/>
          <a:ln/>
        </p:spPr>
        <p:txBody>
          <a:bodyPr wrap="square" lIns="0" tIns="0" rIns="0" bIns="0" rtlCol="0" anchor="t"/>
          <a:lstStyle/>
          <a:p>
            <a:pPr marL="0" indent="0" algn="ctr">
              <a:buNone/>
            </a:pPr>
            <a:r>
              <a:rPr lang="en-US" sz="950" dirty="0">
                <a:solidFill>
                  <a:srgbClr val="E8F0F8"/>
                </a:solidFill>
                <a:latin typeface="Calibri" pitchFamily="34" charset="0"/>
                <a:ea typeface="Calibri" pitchFamily="34" charset="-122"/>
                <a:cs typeface="Calibri" pitchFamily="34" charset="-120"/>
              </a:rPr>
              <a:t>Fatal crashes</a:t>
            </a:r>
            <a:endParaRPr lang="en-US" sz="950" dirty="0"/>
          </a:p>
          <a:p>
            <a:pPr marL="0" indent="0" algn="ctr">
              <a:buNone/>
            </a:pPr>
            <a:r>
              <a:rPr lang="en-US" sz="950" dirty="0">
                <a:solidFill>
                  <a:srgbClr val="E8F0F8"/>
                </a:solidFill>
                <a:latin typeface="Calibri" pitchFamily="34" charset="0"/>
                <a:ea typeface="Calibri" pitchFamily="34" charset="-122"/>
                <a:cs typeface="Calibri" pitchFamily="34" charset="-120"/>
              </a:rPr>
              <a:t>in 2023 (NHTSA FARS)</a:t>
            </a:r>
            <a:endParaRPr lang="en-US" sz="950" dirty="0"/>
          </a:p>
        </p:txBody>
      </p:sp>
      <p:sp>
        <p:nvSpPr>
          <p:cNvPr id="10" name="Shape 8"/>
          <p:cNvSpPr/>
          <p:nvPr/>
        </p:nvSpPr>
        <p:spPr>
          <a:xfrm>
            <a:off x="2514600" y="987552"/>
            <a:ext cx="1965960" cy="118872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1" name="Shape 9"/>
          <p:cNvSpPr/>
          <p:nvPr/>
        </p:nvSpPr>
        <p:spPr>
          <a:xfrm>
            <a:off x="2514600" y="987552"/>
            <a:ext cx="1965960" cy="50292"/>
          </a:xfrm>
          <a:prstGeom prst="rect">
            <a:avLst/>
          </a:prstGeom>
          <a:solidFill>
            <a:srgbClr val="F5A623"/>
          </a:solidFill>
          <a:ln/>
        </p:spPr>
        <p:txBody>
          <a:bodyPr/>
          <a:lstStyle/>
          <a:p>
            <a:endParaRPr lang="en-US"/>
          </a:p>
        </p:txBody>
      </p:sp>
      <p:sp>
        <p:nvSpPr>
          <p:cNvPr id="12" name="Text 10"/>
          <p:cNvSpPr/>
          <p:nvPr/>
        </p:nvSpPr>
        <p:spPr>
          <a:xfrm>
            <a:off x="2606040" y="1078992"/>
            <a:ext cx="1783080" cy="653796"/>
          </a:xfrm>
          <a:prstGeom prst="rect">
            <a:avLst/>
          </a:prstGeom>
          <a:noFill/>
          <a:ln/>
        </p:spPr>
        <p:txBody>
          <a:bodyPr wrap="square" lIns="0" tIns="0" rIns="0" bIns="0" rtlCol="0" anchor="ctr"/>
          <a:lstStyle/>
          <a:p>
            <a:pPr marL="0" indent="0" algn="ctr">
              <a:buNone/>
            </a:pPr>
            <a:r>
              <a:rPr lang="en-US" sz="3000" b="1" dirty="0">
                <a:solidFill>
                  <a:srgbClr val="F5A623"/>
                </a:solidFill>
                <a:latin typeface="Georgia" pitchFamily="34" charset="0"/>
                <a:ea typeface="Georgia" pitchFamily="34" charset="-122"/>
                <a:cs typeface="Georgia" pitchFamily="34" charset="-120"/>
              </a:rPr>
              <a:t>14</a:t>
            </a:r>
            <a:endParaRPr lang="en-US" sz="3000" dirty="0"/>
          </a:p>
        </p:txBody>
      </p:sp>
      <p:sp>
        <p:nvSpPr>
          <p:cNvPr id="13" name="Text 11"/>
          <p:cNvSpPr/>
          <p:nvPr/>
        </p:nvSpPr>
        <p:spPr>
          <a:xfrm>
            <a:off x="2587752" y="1700784"/>
            <a:ext cx="1819656" cy="451714"/>
          </a:xfrm>
          <a:prstGeom prst="rect">
            <a:avLst/>
          </a:prstGeom>
          <a:noFill/>
          <a:ln/>
        </p:spPr>
        <p:txBody>
          <a:bodyPr wrap="square" lIns="0" tIns="0" rIns="0" bIns="0" rtlCol="0" anchor="t"/>
          <a:lstStyle/>
          <a:p>
            <a:pPr marL="0" indent="0" algn="ctr">
              <a:buNone/>
            </a:pPr>
            <a:r>
              <a:rPr lang="en-US" sz="950" dirty="0">
                <a:solidFill>
                  <a:srgbClr val="E8F0F8"/>
                </a:solidFill>
                <a:latin typeface="Calibri" pitchFamily="34" charset="0"/>
                <a:ea typeface="Calibri" pitchFamily="34" charset="-122"/>
                <a:cs typeface="Calibri" pitchFamily="34" charset="-120"/>
              </a:rPr>
              <a:t>Predictor variables</a:t>
            </a:r>
            <a:endParaRPr lang="en-US" sz="950" dirty="0"/>
          </a:p>
          <a:p>
            <a:pPr marL="0" indent="0" algn="ctr">
              <a:buNone/>
            </a:pPr>
            <a:r>
              <a:rPr lang="en-US" sz="950" dirty="0">
                <a:solidFill>
                  <a:srgbClr val="E8F0F8"/>
                </a:solidFill>
                <a:latin typeface="Calibri" pitchFamily="34" charset="0"/>
                <a:ea typeface="Calibri" pitchFamily="34" charset="-122"/>
                <a:cs typeface="Calibri" pitchFamily="34" charset="-120"/>
              </a:rPr>
              <a:t>used in models</a:t>
            </a:r>
            <a:endParaRPr lang="en-US" sz="950" dirty="0"/>
          </a:p>
        </p:txBody>
      </p:sp>
      <p:sp>
        <p:nvSpPr>
          <p:cNvPr id="14" name="Shape 12"/>
          <p:cNvSpPr/>
          <p:nvPr/>
        </p:nvSpPr>
        <p:spPr>
          <a:xfrm>
            <a:off x="4617720" y="987552"/>
            <a:ext cx="1965960" cy="118872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5" name="Shape 13"/>
          <p:cNvSpPr/>
          <p:nvPr/>
        </p:nvSpPr>
        <p:spPr>
          <a:xfrm>
            <a:off x="4617720" y="987552"/>
            <a:ext cx="1965960" cy="50292"/>
          </a:xfrm>
          <a:prstGeom prst="rect">
            <a:avLst/>
          </a:prstGeom>
          <a:solidFill>
            <a:srgbClr val="00957E"/>
          </a:solidFill>
          <a:ln/>
        </p:spPr>
        <p:txBody>
          <a:bodyPr/>
          <a:lstStyle/>
          <a:p>
            <a:endParaRPr lang="en-US"/>
          </a:p>
        </p:txBody>
      </p:sp>
      <p:sp>
        <p:nvSpPr>
          <p:cNvPr id="16" name="Text 14"/>
          <p:cNvSpPr/>
          <p:nvPr/>
        </p:nvSpPr>
        <p:spPr>
          <a:xfrm>
            <a:off x="4709160" y="1078992"/>
            <a:ext cx="1783080" cy="653796"/>
          </a:xfrm>
          <a:prstGeom prst="rect">
            <a:avLst/>
          </a:prstGeom>
          <a:noFill/>
          <a:ln/>
        </p:spPr>
        <p:txBody>
          <a:bodyPr wrap="square" lIns="0" tIns="0" rIns="0" bIns="0" rtlCol="0" anchor="ctr"/>
          <a:lstStyle/>
          <a:p>
            <a:pPr marL="0" indent="0" algn="ctr">
              <a:buNone/>
            </a:pPr>
            <a:r>
              <a:rPr lang="en-US" sz="3000" b="1" dirty="0">
                <a:solidFill>
                  <a:srgbClr val="00957E"/>
                </a:solidFill>
                <a:latin typeface="Georgia" pitchFamily="34" charset="0"/>
                <a:ea typeface="Georgia" pitchFamily="34" charset="-122"/>
                <a:cs typeface="Georgia" pitchFamily="34" charset="-120"/>
              </a:rPr>
              <a:t>93%</a:t>
            </a:r>
            <a:endParaRPr lang="en-US" sz="3000" dirty="0"/>
          </a:p>
        </p:txBody>
      </p:sp>
      <p:sp>
        <p:nvSpPr>
          <p:cNvPr id="17" name="Text 15"/>
          <p:cNvSpPr/>
          <p:nvPr/>
        </p:nvSpPr>
        <p:spPr>
          <a:xfrm>
            <a:off x="4690872" y="1700784"/>
            <a:ext cx="1819656" cy="451714"/>
          </a:xfrm>
          <a:prstGeom prst="rect">
            <a:avLst/>
          </a:prstGeom>
          <a:noFill/>
          <a:ln/>
        </p:spPr>
        <p:txBody>
          <a:bodyPr wrap="square" lIns="0" tIns="0" rIns="0" bIns="0" rtlCol="0" anchor="t"/>
          <a:lstStyle/>
          <a:p>
            <a:pPr marL="0" indent="0" algn="ctr">
              <a:buNone/>
            </a:pPr>
            <a:r>
              <a:rPr lang="en-US" sz="950" dirty="0">
                <a:solidFill>
                  <a:srgbClr val="E8F0F8"/>
                </a:solidFill>
                <a:latin typeface="Calibri" pitchFamily="34" charset="0"/>
                <a:ea typeface="Calibri" pitchFamily="34" charset="-122"/>
                <a:cs typeface="Calibri" pitchFamily="34" charset="-120"/>
              </a:rPr>
              <a:t>Crashes with</a:t>
            </a:r>
            <a:endParaRPr lang="en-US" sz="950" dirty="0"/>
          </a:p>
          <a:p>
            <a:pPr marL="0" indent="0" algn="ctr">
              <a:buNone/>
            </a:pPr>
            <a:r>
              <a:rPr lang="en-US" sz="950" dirty="0">
                <a:solidFill>
                  <a:srgbClr val="E8F0F8"/>
                </a:solidFill>
                <a:latin typeface="Calibri" pitchFamily="34" charset="0"/>
                <a:ea typeface="Calibri" pitchFamily="34" charset="-122"/>
                <a:cs typeface="Calibri" pitchFamily="34" charset="-120"/>
              </a:rPr>
              <a:t>exactly 1 fatality</a:t>
            </a:r>
            <a:endParaRPr lang="en-US" sz="950" dirty="0"/>
          </a:p>
        </p:txBody>
      </p:sp>
      <p:sp>
        <p:nvSpPr>
          <p:cNvPr id="18" name="Shape 16"/>
          <p:cNvSpPr/>
          <p:nvPr/>
        </p:nvSpPr>
        <p:spPr>
          <a:xfrm>
            <a:off x="6720840" y="987552"/>
            <a:ext cx="1965960" cy="118872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9" name="Shape 17"/>
          <p:cNvSpPr/>
          <p:nvPr/>
        </p:nvSpPr>
        <p:spPr>
          <a:xfrm>
            <a:off x="6720840" y="987552"/>
            <a:ext cx="1965960" cy="50292"/>
          </a:xfrm>
          <a:prstGeom prst="rect">
            <a:avLst/>
          </a:prstGeom>
          <a:solidFill>
            <a:srgbClr val="E05252"/>
          </a:solidFill>
          <a:ln/>
        </p:spPr>
        <p:txBody>
          <a:bodyPr/>
          <a:lstStyle/>
          <a:p>
            <a:endParaRPr lang="en-US"/>
          </a:p>
        </p:txBody>
      </p:sp>
      <p:sp>
        <p:nvSpPr>
          <p:cNvPr id="20" name="Text 18"/>
          <p:cNvSpPr/>
          <p:nvPr/>
        </p:nvSpPr>
        <p:spPr>
          <a:xfrm>
            <a:off x="6812280" y="1078992"/>
            <a:ext cx="1783080" cy="653796"/>
          </a:xfrm>
          <a:prstGeom prst="rect">
            <a:avLst/>
          </a:prstGeom>
          <a:noFill/>
          <a:ln/>
        </p:spPr>
        <p:txBody>
          <a:bodyPr wrap="square" lIns="0" tIns="0" rIns="0" bIns="0" rtlCol="0" anchor="ctr"/>
          <a:lstStyle/>
          <a:p>
            <a:pPr marL="0" indent="0" algn="ctr">
              <a:buNone/>
            </a:pPr>
            <a:r>
              <a:rPr lang="en-US" sz="3000" b="1" dirty="0">
                <a:solidFill>
                  <a:srgbClr val="E05252"/>
                </a:solidFill>
                <a:latin typeface="Georgia" pitchFamily="34" charset="0"/>
                <a:ea typeface="Georgia" pitchFamily="34" charset="-122"/>
                <a:cs typeface="Georgia" pitchFamily="34" charset="-120"/>
              </a:rPr>
              <a:t>8</a:t>
            </a:r>
            <a:endParaRPr lang="en-US" sz="3000" dirty="0"/>
          </a:p>
        </p:txBody>
      </p:sp>
      <p:sp>
        <p:nvSpPr>
          <p:cNvPr id="21" name="Text 19"/>
          <p:cNvSpPr/>
          <p:nvPr/>
        </p:nvSpPr>
        <p:spPr>
          <a:xfrm>
            <a:off x="6793992" y="1700784"/>
            <a:ext cx="1819656" cy="451714"/>
          </a:xfrm>
          <a:prstGeom prst="rect">
            <a:avLst/>
          </a:prstGeom>
          <a:noFill/>
          <a:ln/>
        </p:spPr>
        <p:txBody>
          <a:bodyPr wrap="square" lIns="0" tIns="0" rIns="0" bIns="0" rtlCol="0" anchor="t"/>
          <a:lstStyle/>
          <a:p>
            <a:pPr marL="0" indent="0" algn="ctr">
              <a:buNone/>
            </a:pPr>
            <a:r>
              <a:rPr lang="en-US" sz="950" dirty="0">
                <a:solidFill>
                  <a:srgbClr val="E8F0F8"/>
                </a:solidFill>
                <a:latin typeface="Calibri" pitchFamily="34" charset="0"/>
                <a:ea typeface="Calibri" pitchFamily="34" charset="-122"/>
                <a:cs typeface="Calibri" pitchFamily="34" charset="-120"/>
              </a:rPr>
              <a:t>Max fatalities</a:t>
            </a:r>
            <a:endParaRPr lang="en-US" sz="950" dirty="0"/>
          </a:p>
          <a:p>
            <a:pPr marL="0" indent="0" algn="ctr">
              <a:buNone/>
            </a:pPr>
            <a:r>
              <a:rPr lang="en-US" sz="950" dirty="0">
                <a:solidFill>
                  <a:srgbClr val="E8F0F8"/>
                </a:solidFill>
                <a:latin typeface="Calibri" pitchFamily="34" charset="0"/>
                <a:ea typeface="Calibri" pitchFamily="34" charset="-122"/>
                <a:cs typeface="Calibri" pitchFamily="34" charset="-120"/>
              </a:rPr>
              <a:t>in a single crash</a:t>
            </a:r>
            <a:endParaRPr lang="en-US" sz="950" dirty="0"/>
          </a:p>
        </p:txBody>
      </p:sp>
      <p:sp>
        <p:nvSpPr>
          <p:cNvPr id="22" name="Shape 20"/>
          <p:cNvSpPr/>
          <p:nvPr/>
        </p:nvSpPr>
        <p:spPr>
          <a:xfrm>
            <a:off x="411480" y="2331720"/>
            <a:ext cx="4023360" cy="2487168"/>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23" name="Shape 21"/>
          <p:cNvSpPr/>
          <p:nvPr/>
        </p:nvSpPr>
        <p:spPr>
          <a:xfrm>
            <a:off x="411480" y="2331720"/>
            <a:ext cx="64008" cy="2487168"/>
          </a:xfrm>
          <a:prstGeom prst="rect">
            <a:avLst/>
          </a:prstGeom>
          <a:solidFill>
            <a:srgbClr val="00C2A8"/>
          </a:solidFill>
          <a:ln/>
        </p:spPr>
        <p:txBody>
          <a:bodyPr/>
          <a:lstStyle/>
          <a:p>
            <a:endParaRPr lang="en-US"/>
          </a:p>
        </p:txBody>
      </p:sp>
      <p:sp>
        <p:nvSpPr>
          <p:cNvPr id="24" name="Text 22"/>
          <p:cNvSpPr/>
          <p:nvPr/>
        </p:nvSpPr>
        <p:spPr>
          <a:xfrm>
            <a:off x="566928" y="2377440"/>
            <a:ext cx="3749040" cy="274320"/>
          </a:xfrm>
          <a:prstGeom prst="rect">
            <a:avLst/>
          </a:prstGeom>
          <a:noFill/>
          <a:ln/>
        </p:spPr>
        <p:txBody>
          <a:bodyPr wrap="square" lIns="0" tIns="0" rIns="0" bIns="0" rtlCol="0" anchor="ctr"/>
          <a:lstStyle/>
          <a:p>
            <a:pPr marL="0" indent="0">
              <a:buNone/>
            </a:pPr>
            <a:r>
              <a:rPr lang="en-US" sz="1100" b="1" dirty="0">
                <a:solidFill>
                  <a:srgbClr val="00C2A8"/>
                </a:solidFill>
                <a:latin typeface="Calibri" pitchFamily="34" charset="0"/>
                <a:ea typeface="Calibri" pitchFamily="34" charset="-122"/>
                <a:cs typeface="Calibri" pitchFamily="34" charset="-120"/>
              </a:rPr>
              <a:t>About the Dataset</a:t>
            </a:r>
            <a:endParaRPr lang="en-US" sz="1100" dirty="0"/>
          </a:p>
        </p:txBody>
      </p:sp>
      <p:sp>
        <p:nvSpPr>
          <p:cNvPr id="25" name="Text 23"/>
          <p:cNvSpPr/>
          <p:nvPr/>
        </p:nvSpPr>
        <p:spPr>
          <a:xfrm>
            <a:off x="566928" y="2688336"/>
            <a:ext cx="3749040" cy="2011680"/>
          </a:xfrm>
          <a:prstGeom prst="rect">
            <a:avLst/>
          </a:prstGeom>
          <a:noFill/>
          <a:ln/>
        </p:spPr>
        <p:txBody>
          <a:bodyPr wrap="square" lIns="0" tIns="0" rIns="0" bIns="0" rtlCol="0" anchor="ctr"/>
          <a:lstStyle/>
          <a:p>
            <a:pPr marL="0" indent="0">
              <a:buNone/>
            </a:pPr>
            <a:r>
              <a:rPr lang="en-US" sz="1000" dirty="0">
                <a:solidFill>
                  <a:srgbClr val="E8F0F8"/>
                </a:solidFill>
                <a:latin typeface="Calibri" pitchFamily="34" charset="0"/>
                <a:ea typeface="Calibri" pitchFamily="34" charset="-122"/>
                <a:cs typeface="Calibri" pitchFamily="34" charset="-120"/>
              </a:rPr>
              <a:t>The NHTSA FARS (Fatality Analysis Reporting System) database is published annually by the U.S. Department of Transportation. It compiles records from police reports and medical records for every fatal crash on U.S. roads. The 2023 edition covers all 50 states and DC — making it one of the most comprehensive and reliable crash datasets available.</a:t>
            </a:r>
            <a:endParaRPr lang="en-US" sz="1000" dirty="0"/>
          </a:p>
        </p:txBody>
      </p:sp>
      <p:sp>
        <p:nvSpPr>
          <p:cNvPr id="26" name="Shape 24"/>
          <p:cNvSpPr/>
          <p:nvPr/>
        </p:nvSpPr>
        <p:spPr>
          <a:xfrm>
            <a:off x="4617720" y="2331720"/>
            <a:ext cx="4114800" cy="2487168"/>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27" name="Shape 25"/>
          <p:cNvSpPr/>
          <p:nvPr/>
        </p:nvSpPr>
        <p:spPr>
          <a:xfrm>
            <a:off x="4617720" y="2331720"/>
            <a:ext cx="64008" cy="2487168"/>
          </a:xfrm>
          <a:prstGeom prst="rect">
            <a:avLst/>
          </a:prstGeom>
          <a:solidFill>
            <a:srgbClr val="F5A623"/>
          </a:solidFill>
          <a:ln/>
        </p:spPr>
        <p:txBody>
          <a:bodyPr/>
          <a:lstStyle/>
          <a:p>
            <a:endParaRPr lang="en-US"/>
          </a:p>
        </p:txBody>
      </p:sp>
      <p:sp>
        <p:nvSpPr>
          <p:cNvPr id="28" name="Text 26"/>
          <p:cNvSpPr/>
          <p:nvPr/>
        </p:nvSpPr>
        <p:spPr>
          <a:xfrm>
            <a:off x="4773168" y="2377440"/>
            <a:ext cx="3840480" cy="274320"/>
          </a:xfrm>
          <a:prstGeom prst="rect">
            <a:avLst/>
          </a:prstGeom>
          <a:noFill/>
          <a:ln/>
        </p:spPr>
        <p:txBody>
          <a:bodyPr wrap="square" lIns="0" tIns="0" rIns="0" bIns="0" rtlCol="0" anchor="ctr"/>
          <a:lstStyle/>
          <a:p>
            <a:pPr marL="0" indent="0">
              <a:buNone/>
            </a:pPr>
            <a:r>
              <a:rPr lang="en-US" sz="1100" b="1" dirty="0">
                <a:solidFill>
                  <a:srgbClr val="F5A623"/>
                </a:solidFill>
                <a:latin typeface="Calibri" pitchFamily="34" charset="0"/>
                <a:ea typeface="Calibri" pitchFamily="34" charset="-122"/>
                <a:cs typeface="Calibri" pitchFamily="34" charset="-120"/>
              </a:rPr>
              <a:t>Our Core Question</a:t>
            </a:r>
            <a:endParaRPr lang="en-US" sz="1100" dirty="0"/>
          </a:p>
        </p:txBody>
      </p:sp>
      <p:sp>
        <p:nvSpPr>
          <p:cNvPr id="29" name="Text 27"/>
          <p:cNvSpPr/>
          <p:nvPr/>
        </p:nvSpPr>
        <p:spPr>
          <a:xfrm>
            <a:off x="4773168" y="2688336"/>
            <a:ext cx="3749040" cy="59436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Can we predict how deadly a crash will be based on conditions at the time?</a:t>
            </a:r>
            <a:endParaRPr lang="en-US" sz="1300" dirty="0"/>
          </a:p>
        </p:txBody>
      </p:sp>
      <p:sp>
        <p:nvSpPr>
          <p:cNvPr id="30" name="Text 28"/>
          <p:cNvSpPr/>
          <p:nvPr/>
        </p:nvSpPr>
        <p:spPr>
          <a:xfrm>
            <a:off x="4773168" y="3337560"/>
            <a:ext cx="3749040" cy="1371600"/>
          </a:xfrm>
          <a:prstGeom prst="rect">
            <a:avLst/>
          </a:prstGeom>
          <a:noFill/>
          <a:ln/>
        </p:spPr>
        <p:txBody>
          <a:bodyPr wrap="square" lIns="0" tIns="0" rIns="0" bIns="0" rtlCol="0" anchor="ctr"/>
          <a:lstStyle/>
          <a:p>
            <a:pPr marL="0" indent="0">
              <a:buNone/>
            </a:pPr>
            <a:r>
              <a:rPr lang="en-US" sz="1000" dirty="0">
                <a:solidFill>
                  <a:srgbClr val="E8F0F8"/>
                </a:solidFill>
                <a:latin typeface="Calibri" pitchFamily="34" charset="0"/>
                <a:ea typeface="Calibri" pitchFamily="34" charset="-122"/>
                <a:cs typeface="Calibri" pitchFamily="34" charset="-120"/>
              </a:rPr>
              <a:t>The 7% of crashes involving 2+ deaths represent a disproportionate share of total road fatalities. Identifying what makes those crashes more severe is what allows policymakers and safety teams to take targeted, data-driven action.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2A8"/>
          </a:solidFill>
          <a:ln/>
        </p:spPr>
        <p:txBody>
          <a:bodyPr/>
          <a:lstStyle/>
          <a:p>
            <a:endParaRPr lang="en-US"/>
          </a:p>
        </p:txBody>
      </p:sp>
      <p:sp>
        <p:nvSpPr>
          <p:cNvPr id="3" name="Text 1"/>
          <p:cNvSpPr/>
          <p:nvPr/>
        </p:nvSpPr>
        <p:spPr>
          <a:xfrm>
            <a:off x="411480" y="109728"/>
            <a:ext cx="832104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Method — Data Sources &amp; Preparation</a:t>
            </a:r>
            <a:endParaRPr lang="en-US" sz="2600" dirty="0"/>
          </a:p>
        </p:txBody>
      </p:sp>
      <p:sp>
        <p:nvSpPr>
          <p:cNvPr id="4" name="Text 2"/>
          <p:cNvSpPr/>
          <p:nvPr/>
        </p:nvSpPr>
        <p:spPr>
          <a:xfrm>
            <a:off x="411480" y="603504"/>
            <a:ext cx="8321040" cy="256032"/>
          </a:xfrm>
          <a:prstGeom prst="rect">
            <a:avLst/>
          </a:prstGeom>
          <a:noFill/>
          <a:ln/>
        </p:spPr>
        <p:txBody>
          <a:bodyPr wrap="square" lIns="0" tIns="0" rIns="0" bIns="0" rtlCol="0" anchor="ctr"/>
          <a:lstStyle/>
          <a:p>
            <a:pPr marL="0" indent="0" algn="l">
              <a:buNone/>
            </a:pPr>
            <a:r>
              <a:rPr lang="en-US" sz="1100" kern="0" spc="150" dirty="0">
                <a:solidFill>
                  <a:srgbClr val="00C2A8"/>
                </a:solidFill>
                <a:latin typeface="Calibri" pitchFamily="34" charset="0"/>
                <a:ea typeface="Calibri" pitchFamily="34" charset="-122"/>
                <a:cs typeface="Calibri" pitchFamily="34" charset="-120"/>
              </a:rPr>
              <a:t>BUILDING THE DATASET</a:t>
            </a:r>
            <a:endParaRPr lang="en-US" sz="1100" dirty="0"/>
          </a:p>
        </p:txBody>
      </p:sp>
      <p:sp>
        <p:nvSpPr>
          <p:cNvPr id="5" name="Shape 3"/>
          <p:cNvSpPr/>
          <p:nvPr/>
        </p:nvSpPr>
        <p:spPr>
          <a:xfrm>
            <a:off x="411480" y="859536"/>
            <a:ext cx="8321040" cy="13716"/>
          </a:xfrm>
          <a:prstGeom prst="rect">
            <a:avLst/>
          </a:prstGeom>
          <a:solidFill>
            <a:srgbClr val="1A3354"/>
          </a:solidFill>
          <a:ln/>
        </p:spPr>
        <p:txBody>
          <a:bodyPr/>
          <a:lstStyle/>
          <a:p>
            <a:endParaRPr lang="en-US"/>
          </a:p>
        </p:txBody>
      </p:sp>
      <p:sp>
        <p:nvSpPr>
          <p:cNvPr id="6" name="Shape 4"/>
          <p:cNvSpPr/>
          <p:nvPr/>
        </p:nvSpPr>
        <p:spPr>
          <a:xfrm>
            <a:off x="411480" y="1005840"/>
            <a:ext cx="3977640" cy="301752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7" name="Shape 5"/>
          <p:cNvSpPr/>
          <p:nvPr/>
        </p:nvSpPr>
        <p:spPr>
          <a:xfrm>
            <a:off x="411480" y="1005840"/>
            <a:ext cx="64008" cy="3017520"/>
          </a:xfrm>
          <a:prstGeom prst="rect">
            <a:avLst/>
          </a:prstGeom>
          <a:solidFill>
            <a:srgbClr val="00C2A8"/>
          </a:solidFill>
          <a:ln/>
        </p:spPr>
        <p:txBody>
          <a:bodyPr/>
          <a:lstStyle/>
          <a:p>
            <a:endParaRPr lang="en-US"/>
          </a:p>
        </p:txBody>
      </p:sp>
      <p:sp>
        <p:nvSpPr>
          <p:cNvPr id="8" name="Text 6"/>
          <p:cNvSpPr/>
          <p:nvPr/>
        </p:nvSpPr>
        <p:spPr>
          <a:xfrm>
            <a:off x="566928" y="1051560"/>
            <a:ext cx="3749040" cy="320040"/>
          </a:xfrm>
          <a:prstGeom prst="rect">
            <a:avLst/>
          </a:prstGeom>
          <a:noFill/>
          <a:ln/>
        </p:spPr>
        <p:txBody>
          <a:bodyPr wrap="square" lIns="0" tIns="0" rIns="0" bIns="0" rtlCol="0" anchor="ctr"/>
          <a:lstStyle/>
          <a:p>
            <a:pPr marL="0" indent="0">
              <a:buNone/>
            </a:pPr>
            <a:r>
              <a:rPr lang="en-US" sz="1300" b="1" dirty="0">
                <a:solidFill>
                  <a:srgbClr val="00C2A8"/>
                </a:solidFill>
                <a:latin typeface="Calibri" pitchFamily="34" charset="0"/>
                <a:ea typeface="Calibri" pitchFamily="34" charset="-122"/>
                <a:cs typeface="Calibri" pitchFamily="34" charset="-120"/>
              </a:rPr>
              <a:t>accident.csv</a:t>
            </a:r>
            <a:endParaRPr lang="en-US" sz="1300" dirty="0"/>
          </a:p>
        </p:txBody>
      </p:sp>
      <p:sp>
        <p:nvSpPr>
          <p:cNvPr id="9" name="Text 7"/>
          <p:cNvSpPr/>
          <p:nvPr/>
        </p:nvSpPr>
        <p:spPr>
          <a:xfrm>
            <a:off x="566928" y="1371600"/>
            <a:ext cx="3749040" cy="228600"/>
          </a:xfrm>
          <a:prstGeom prst="rect">
            <a:avLst/>
          </a:prstGeom>
          <a:noFill/>
          <a:ln/>
        </p:spPr>
        <p:txBody>
          <a:bodyPr wrap="square" lIns="0" tIns="0" rIns="0" bIns="0" rtlCol="0" anchor="ctr"/>
          <a:lstStyle/>
          <a:p>
            <a:pPr marL="0" indent="0">
              <a:buNone/>
            </a:pPr>
            <a:r>
              <a:rPr lang="en-US" sz="1000" i="1" dirty="0">
                <a:solidFill>
                  <a:srgbClr val="8BA4BF"/>
                </a:solidFill>
                <a:latin typeface="Calibri" pitchFamily="34" charset="0"/>
                <a:ea typeface="Calibri" pitchFamily="34" charset="-122"/>
                <a:cs typeface="Calibri" pitchFamily="34" charset="-120"/>
              </a:rPr>
              <a:t>Primary crash-level file from NHTSA FARS 2023</a:t>
            </a:r>
            <a:endParaRPr lang="en-US" sz="1000" dirty="0"/>
          </a:p>
        </p:txBody>
      </p:sp>
      <p:sp>
        <p:nvSpPr>
          <p:cNvPr id="10" name="Text 8"/>
          <p:cNvSpPr/>
          <p:nvPr/>
        </p:nvSpPr>
        <p:spPr>
          <a:xfrm>
            <a:off x="566928" y="1664208"/>
            <a:ext cx="3657600" cy="347472"/>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37,654 rows — one row per fatal crash</a:t>
            </a:r>
            <a:endParaRPr lang="en-US" sz="1000" dirty="0"/>
          </a:p>
        </p:txBody>
      </p:sp>
      <p:sp>
        <p:nvSpPr>
          <p:cNvPr id="11" name="Text 9"/>
          <p:cNvSpPr/>
          <p:nvPr/>
        </p:nvSpPr>
        <p:spPr>
          <a:xfrm>
            <a:off x="566928" y="2048256"/>
            <a:ext cx="3657600" cy="347472"/>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80 columns: time, road type, weather, location, crash characteristics</a:t>
            </a:r>
            <a:endParaRPr lang="en-US" sz="1000" dirty="0"/>
          </a:p>
        </p:txBody>
      </p:sp>
      <p:sp>
        <p:nvSpPr>
          <p:cNvPr id="12" name="Text 10"/>
          <p:cNvSpPr/>
          <p:nvPr/>
        </p:nvSpPr>
        <p:spPr>
          <a:xfrm>
            <a:off x="566928" y="2432304"/>
            <a:ext cx="3657600" cy="347472"/>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Target variable: FATALS (deaths per crash, range 1–8)</a:t>
            </a:r>
            <a:endParaRPr lang="en-US" sz="1000" dirty="0"/>
          </a:p>
        </p:txBody>
      </p:sp>
      <p:sp>
        <p:nvSpPr>
          <p:cNvPr id="13" name="Text 11"/>
          <p:cNvSpPr/>
          <p:nvPr/>
        </p:nvSpPr>
        <p:spPr>
          <a:xfrm>
            <a:off x="566928" y="2816352"/>
            <a:ext cx="3657600" cy="347472"/>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Crash ID: ST_CASE (shared key for merging)</a:t>
            </a:r>
            <a:endParaRPr lang="en-US" sz="1000" dirty="0"/>
          </a:p>
        </p:txBody>
      </p:sp>
      <p:sp>
        <p:nvSpPr>
          <p:cNvPr id="14" name="Shape 12"/>
          <p:cNvSpPr/>
          <p:nvPr/>
        </p:nvSpPr>
        <p:spPr>
          <a:xfrm>
            <a:off x="4572000" y="1005840"/>
            <a:ext cx="4160520" cy="301752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5" name="Shape 13"/>
          <p:cNvSpPr/>
          <p:nvPr/>
        </p:nvSpPr>
        <p:spPr>
          <a:xfrm>
            <a:off x="4572000" y="1005840"/>
            <a:ext cx="64008" cy="3017520"/>
          </a:xfrm>
          <a:prstGeom prst="rect">
            <a:avLst/>
          </a:prstGeom>
          <a:solidFill>
            <a:srgbClr val="F5A623"/>
          </a:solidFill>
          <a:ln/>
        </p:spPr>
        <p:txBody>
          <a:bodyPr/>
          <a:lstStyle/>
          <a:p>
            <a:endParaRPr lang="en-US"/>
          </a:p>
        </p:txBody>
      </p:sp>
      <p:sp>
        <p:nvSpPr>
          <p:cNvPr id="16" name="Text 14"/>
          <p:cNvSpPr/>
          <p:nvPr/>
        </p:nvSpPr>
        <p:spPr>
          <a:xfrm>
            <a:off x="4727448" y="1051560"/>
            <a:ext cx="3886200" cy="320040"/>
          </a:xfrm>
          <a:prstGeom prst="rect">
            <a:avLst/>
          </a:prstGeom>
          <a:noFill/>
          <a:ln/>
        </p:spPr>
        <p:txBody>
          <a:bodyPr wrap="square" lIns="0" tIns="0" rIns="0" bIns="0" rtlCol="0" anchor="ctr"/>
          <a:lstStyle/>
          <a:p>
            <a:pPr marL="0" indent="0">
              <a:buNone/>
            </a:pPr>
            <a:r>
              <a:rPr lang="en-US" sz="1200" b="1" dirty="0">
                <a:solidFill>
                  <a:srgbClr val="F5A623"/>
                </a:solidFill>
                <a:latin typeface="Calibri" pitchFamily="34" charset="0"/>
                <a:ea typeface="Calibri" pitchFamily="34" charset="-122"/>
                <a:cs typeface="Calibri" pitchFamily="34" charset="-120"/>
              </a:rPr>
              <a:t>drimpair.csv  →  Merged via ST_CASE</a:t>
            </a:r>
            <a:endParaRPr lang="en-US" sz="1200" dirty="0"/>
          </a:p>
        </p:txBody>
      </p:sp>
      <p:sp>
        <p:nvSpPr>
          <p:cNvPr id="17" name="Text 15"/>
          <p:cNvSpPr/>
          <p:nvPr/>
        </p:nvSpPr>
        <p:spPr>
          <a:xfrm>
            <a:off x="4727448" y="1371600"/>
            <a:ext cx="3886200" cy="228600"/>
          </a:xfrm>
          <a:prstGeom prst="rect">
            <a:avLst/>
          </a:prstGeom>
          <a:noFill/>
          <a:ln/>
        </p:spPr>
        <p:txBody>
          <a:bodyPr wrap="square" lIns="0" tIns="0" rIns="0" bIns="0" rtlCol="0" anchor="ctr"/>
          <a:lstStyle/>
          <a:p>
            <a:pPr marL="0" indent="0">
              <a:buNone/>
            </a:pPr>
            <a:r>
              <a:rPr lang="en-US" sz="1000" i="1" dirty="0">
                <a:solidFill>
                  <a:srgbClr val="8BA4BF"/>
                </a:solidFill>
                <a:latin typeface="Calibri" pitchFamily="34" charset="0"/>
                <a:ea typeface="Calibri" pitchFamily="34" charset="-122"/>
                <a:cs typeface="Calibri" pitchFamily="34" charset="-120"/>
              </a:rPr>
              <a:t>One row per driver per crash</a:t>
            </a:r>
            <a:endParaRPr lang="en-US" sz="1000" dirty="0"/>
          </a:p>
        </p:txBody>
      </p:sp>
      <p:sp>
        <p:nvSpPr>
          <p:cNvPr id="18" name="Text 16"/>
          <p:cNvSpPr/>
          <p:nvPr/>
        </p:nvSpPr>
        <p:spPr>
          <a:xfrm>
            <a:off x="4727448" y="1664208"/>
            <a:ext cx="3886200" cy="347472"/>
          </a:xfrm>
          <a:prstGeom prst="rect">
            <a:avLst/>
          </a:prstGeom>
          <a:noFill/>
          <a:ln/>
        </p:spPr>
        <p:txBody>
          <a:bodyPr wrap="square" lIns="0" tIns="0" rIns="0" bIns="0" rtlCol="0" anchor="ctr"/>
          <a:lstStyle/>
          <a:p>
            <a:pPr marL="0" indent="0">
              <a:buNone/>
            </a:pPr>
            <a:r>
              <a:rPr lang="en-US" sz="1000" b="1" dirty="0">
                <a:solidFill>
                  <a:srgbClr val="F5A623"/>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DRIMPAIR = 9  →  alcohol or drug impairment</a:t>
            </a:r>
            <a:endParaRPr lang="en-US" sz="1000" dirty="0"/>
          </a:p>
        </p:txBody>
      </p:sp>
      <p:sp>
        <p:nvSpPr>
          <p:cNvPr id="19" name="Text 17"/>
          <p:cNvSpPr/>
          <p:nvPr/>
        </p:nvSpPr>
        <p:spPr>
          <a:xfrm>
            <a:off x="4727448" y="2048256"/>
            <a:ext cx="3886200" cy="347472"/>
          </a:xfrm>
          <a:prstGeom prst="rect">
            <a:avLst/>
          </a:prstGeom>
          <a:noFill/>
          <a:ln/>
        </p:spPr>
        <p:txBody>
          <a:bodyPr wrap="square" lIns="0" tIns="0" rIns="0" bIns="0" rtlCol="0" anchor="ctr"/>
          <a:lstStyle/>
          <a:p>
            <a:pPr marL="0" indent="0">
              <a:buNone/>
            </a:pPr>
            <a:r>
              <a:rPr lang="en-US" sz="1000" b="1" dirty="0">
                <a:solidFill>
                  <a:srgbClr val="F5A623"/>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Aggregated to crash level: if ANY driver impaired → flag = 1</a:t>
            </a:r>
            <a:endParaRPr lang="en-US" sz="1000" dirty="0"/>
          </a:p>
        </p:txBody>
      </p:sp>
      <p:sp>
        <p:nvSpPr>
          <p:cNvPr id="20" name="Text 18"/>
          <p:cNvSpPr/>
          <p:nvPr/>
        </p:nvSpPr>
        <p:spPr>
          <a:xfrm>
            <a:off x="4727448" y="2432304"/>
            <a:ext cx="3886200" cy="347472"/>
          </a:xfrm>
          <a:prstGeom prst="rect">
            <a:avLst/>
          </a:prstGeom>
          <a:noFill/>
          <a:ln/>
        </p:spPr>
        <p:txBody>
          <a:bodyPr wrap="square" lIns="0" tIns="0" rIns="0" bIns="0" rtlCol="0" anchor="ctr"/>
          <a:lstStyle/>
          <a:p>
            <a:pPr marL="0" indent="0">
              <a:buNone/>
            </a:pPr>
            <a:r>
              <a:rPr lang="en-US" sz="1000" b="1" dirty="0">
                <a:solidFill>
                  <a:srgbClr val="F5A623"/>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Joined to accident.csv using shared crash ID (ST_CASE)</a:t>
            </a:r>
            <a:endParaRPr lang="en-US" sz="1000" dirty="0"/>
          </a:p>
        </p:txBody>
      </p:sp>
      <p:sp>
        <p:nvSpPr>
          <p:cNvPr id="21" name="Text 19"/>
          <p:cNvSpPr/>
          <p:nvPr/>
        </p:nvSpPr>
        <p:spPr>
          <a:xfrm>
            <a:off x="4727448" y="2816352"/>
            <a:ext cx="3886200" cy="347472"/>
          </a:xfrm>
          <a:prstGeom prst="rect">
            <a:avLst/>
          </a:prstGeom>
          <a:noFill/>
          <a:ln/>
        </p:spPr>
        <p:txBody>
          <a:bodyPr wrap="square" lIns="0" tIns="0" rIns="0" bIns="0" rtlCol="0" anchor="ctr"/>
          <a:lstStyle/>
          <a:p>
            <a:pPr marL="0" indent="0">
              <a:buNone/>
            </a:pPr>
            <a:r>
              <a:rPr lang="en-US" sz="1000" b="1" dirty="0">
                <a:solidFill>
                  <a:srgbClr val="F5A623"/>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Created new binary predictor: impaired_driver</a:t>
            </a:r>
            <a:endParaRPr lang="en-US" sz="1000" dirty="0"/>
          </a:p>
        </p:txBody>
      </p:sp>
      <p:sp>
        <p:nvSpPr>
          <p:cNvPr id="22" name="Shape 20"/>
          <p:cNvSpPr/>
          <p:nvPr/>
        </p:nvSpPr>
        <p:spPr>
          <a:xfrm>
            <a:off x="411480" y="4160520"/>
            <a:ext cx="8321040" cy="658368"/>
          </a:xfrm>
          <a:prstGeom prst="rect">
            <a:avLst/>
          </a:prstGeom>
          <a:solidFill>
            <a:srgbClr val="00C2A8"/>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23" name="Text 21"/>
          <p:cNvSpPr/>
          <p:nvPr/>
        </p:nvSpPr>
        <p:spPr>
          <a:xfrm>
            <a:off x="502920" y="4206240"/>
            <a:ext cx="8138160" cy="566928"/>
          </a:xfrm>
          <a:prstGeom prst="rect">
            <a:avLst/>
          </a:prstGeom>
          <a:noFill/>
          <a:ln/>
        </p:spPr>
        <p:txBody>
          <a:bodyPr wrap="square" lIns="0" tIns="0" rIns="0" bIns="0" rtlCol="0" anchor="ctr"/>
          <a:lstStyle/>
          <a:p>
            <a:pPr marL="0" indent="0" algn="ctr">
              <a:buNone/>
            </a:pPr>
            <a:r>
              <a:rPr lang="en-US" sz="1200" b="1" dirty="0">
                <a:solidFill>
                  <a:srgbClr val="0B1628"/>
                </a:solidFill>
                <a:latin typeface="Calibri" pitchFamily="34" charset="0"/>
                <a:ea typeface="Calibri" pitchFamily="34" charset="-122"/>
                <a:cs typeface="Calibri" pitchFamily="34" charset="-120"/>
              </a:rPr>
              <a:t>Final merged dataset:  37,654 rows  ·  15 columns  (14 predictors + FATALS as target)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2A8"/>
          </a:solidFill>
          <a:ln/>
        </p:spPr>
        <p:txBody>
          <a:bodyPr/>
          <a:lstStyle/>
          <a:p>
            <a:endParaRPr lang="en-US"/>
          </a:p>
        </p:txBody>
      </p:sp>
      <p:sp>
        <p:nvSpPr>
          <p:cNvPr id="3" name="Text 1"/>
          <p:cNvSpPr/>
          <p:nvPr/>
        </p:nvSpPr>
        <p:spPr>
          <a:xfrm>
            <a:off x="411480" y="109728"/>
            <a:ext cx="832104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Method — Data Cleaning &amp; Preprocessing</a:t>
            </a:r>
            <a:endParaRPr lang="en-US" sz="2600" dirty="0"/>
          </a:p>
        </p:txBody>
      </p:sp>
      <p:sp>
        <p:nvSpPr>
          <p:cNvPr id="4" name="Text 2"/>
          <p:cNvSpPr/>
          <p:nvPr/>
        </p:nvSpPr>
        <p:spPr>
          <a:xfrm>
            <a:off x="411480" y="603504"/>
            <a:ext cx="8321040" cy="256032"/>
          </a:xfrm>
          <a:prstGeom prst="rect">
            <a:avLst/>
          </a:prstGeom>
          <a:noFill/>
          <a:ln/>
        </p:spPr>
        <p:txBody>
          <a:bodyPr wrap="square" lIns="0" tIns="0" rIns="0" bIns="0" rtlCol="0" anchor="ctr"/>
          <a:lstStyle/>
          <a:p>
            <a:pPr marL="0" indent="0" algn="l">
              <a:buNone/>
            </a:pPr>
            <a:r>
              <a:rPr lang="en-US" sz="900" kern="0" spc="0" dirty="0">
                <a:solidFill>
                  <a:srgbClr val="00C2A8"/>
                </a:solidFill>
                <a:latin typeface="Calibri" pitchFamily="34" charset="0"/>
                <a:ea typeface="Calibri" pitchFamily="34" charset="-122"/>
                <a:cs typeface="Calibri" pitchFamily="34" charset="-120"/>
              </a:rPr>
              <a:t>FOUR-STEP PIPELINE  ·  No scaling applied — Decision Tree is scale-invariant; LR predictors brought to comparable range via IQR capping</a:t>
            </a:r>
            <a:endParaRPr lang="en-US" sz="900" dirty="0"/>
          </a:p>
        </p:txBody>
      </p:sp>
      <p:sp>
        <p:nvSpPr>
          <p:cNvPr id="5" name="Shape 3"/>
          <p:cNvSpPr/>
          <p:nvPr/>
        </p:nvSpPr>
        <p:spPr>
          <a:xfrm>
            <a:off x="411480" y="859536"/>
            <a:ext cx="8321040" cy="13716"/>
          </a:xfrm>
          <a:prstGeom prst="rect">
            <a:avLst/>
          </a:prstGeom>
          <a:solidFill>
            <a:srgbClr val="1A3354"/>
          </a:solidFill>
          <a:ln/>
        </p:spPr>
        <p:txBody>
          <a:bodyPr/>
          <a:lstStyle/>
          <a:p>
            <a:endParaRPr lang="en-US"/>
          </a:p>
        </p:txBody>
      </p:sp>
      <p:sp>
        <p:nvSpPr>
          <p:cNvPr id="6" name="Shape 4"/>
          <p:cNvSpPr/>
          <p:nvPr/>
        </p:nvSpPr>
        <p:spPr>
          <a:xfrm>
            <a:off x="411480" y="1005840"/>
            <a:ext cx="4069080" cy="16002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7" name="Shape 5"/>
          <p:cNvSpPr/>
          <p:nvPr/>
        </p:nvSpPr>
        <p:spPr>
          <a:xfrm>
            <a:off x="411480" y="1005840"/>
            <a:ext cx="4069080" cy="50292"/>
          </a:xfrm>
          <a:prstGeom prst="rect">
            <a:avLst/>
          </a:prstGeom>
          <a:solidFill>
            <a:srgbClr val="00C2A8"/>
          </a:solidFill>
          <a:ln/>
        </p:spPr>
        <p:txBody>
          <a:bodyPr/>
          <a:lstStyle/>
          <a:p>
            <a:endParaRPr lang="en-US"/>
          </a:p>
        </p:txBody>
      </p:sp>
      <p:sp>
        <p:nvSpPr>
          <p:cNvPr id="8" name="Text 6"/>
          <p:cNvSpPr/>
          <p:nvPr/>
        </p:nvSpPr>
        <p:spPr>
          <a:xfrm>
            <a:off x="521208" y="1078992"/>
            <a:ext cx="640080" cy="548640"/>
          </a:xfrm>
          <a:prstGeom prst="rect">
            <a:avLst/>
          </a:prstGeom>
          <a:noFill/>
          <a:ln/>
        </p:spPr>
        <p:txBody>
          <a:bodyPr wrap="square" lIns="0" tIns="0" rIns="0" bIns="0" rtlCol="0" anchor="ctr"/>
          <a:lstStyle/>
          <a:p>
            <a:pPr marL="0" indent="0" algn="l">
              <a:buNone/>
            </a:pPr>
            <a:r>
              <a:rPr lang="en-US" sz="3000" b="1" dirty="0">
                <a:solidFill>
                  <a:srgbClr val="00C2A8"/>
                </a:solidFill>
                <a:latin typeface="Georgia" pitchFamily="34" charset="0"/>
                <a:ea typeface="Georgia" pitchFamily="34" charset="-122"/>
                <a:cs typeface="Georgia" pitchFamily="34" charset="-120"/>
              </a:rPr>
              <a:t>01</a:t>
            </a:r>
            <a:endParaRPr lang="en-US" sz="3000" dirty="0"/>
          </a:p>
        </p:txBody>
      </p:sp>
      <p:sp>
        <p:nvSpPr>
          <p:cNvPr id="9" name="Text 7"/>
          <p:cNvSpPr/>
          <p:nvPr/>
        </p:nvSpPr>
        <p:spPr>
          <a:xfrm>
            <a:off x="1188720" y="1097280"/>
            <a:ext cx="315468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Replace Unknown Codes with NA</a:t>
            </a:r>
            <a:endParaRPr lang="en-US" sz="1050" dirty="0"/>
          </a:p>
        </p:txBody>
      </p:sp>
      <p:sp>
        <p:nvSpPr>
          <p:cNvPr id="10" name="Text 8"/>
          <p:cNvSpPr/>
          <p:nvPr/>
        </p:nvSpPr>
        <p:spPr>
          <a:xfrm>
            <a:off x="548640" y="1536192"/>
            <a:ext cx="3794760" cy="1005840"/>
          </a:xfrm>
          <a:prstGeom prst="rect">
            <a:avLst/>
          </a:prstGeom>
          <a:noFill/>
          <a:ln/>
        </p:spPr>
        <p:txBody>
          <a:bodyPr wrap="square" lIns="0" tIns="0" rIns="0" bIns="0" rtlCol="0" anchor="ctr"/>
          <a:lstStyle/>
          <a:p>
            <a:pPr marL="0" indent="0">
              <a:buNone/>
            </a:pPr>
            <a:r>
              <a:rPr lang="en-US" sz="950" dirty="0">
                <a:solidFill>
                  <a:srgbClr val="E8F0F8"/>
                </a:solidFill>
                <a:latin typeface="Calibri" pitchFamily="34" charset="0"/>
                <a:ea typeface="Calibri" pitchFamily="34" charset="-122"/>
                <a:cs typeface="Calibri" pitchFamily="34" charset="-120"/>
              </a:rPr>
              <a:t>NHTSA uses 99 / 98 to mean "unknown." Left as-is, 99 would look like a real hour or lighting code and break model results. All such codes replaced with NA first across 9 columns.</a:t>
            </a:r>
            <a:endParaRPr lang="en-US" sz="950" dirty="0"/>
          </a:p>
        </p:txBody>
      </p:sp>
      <p:sp>
        <p:nvSpPr>
          <p:cNvPr id="11" name="Shape 9"/>
          <p:cNvSpPr/>
          <p:nvPr/>
        </p:nvSpPr>
        <p:spPr>
          <a:xfrm>
            <a:off x="4663440" y="1005840"/>
            <a:ext cx="4069080" cy="16002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2" name="Shape 10"/>
          <p:cNvSpPr/>
          <p:nvPr/>
        </p:nvSpPr>
        <p:spPr>
          <a:xfrm>
            <a:off x="4663440" y="1005840"/>
            <a:ext cx="4069080" cy="50292"/>
          </a:xfrm>
          <a:prstGeom prst="rect">
            <a:avLst/>
          </a:prstGeom>
          <a:solidFill>
            <a:srgbClr val="F5A623"/>
          </a:solidFill>
          <a:ln/>
        </p:spPr>
        <p:txBody>
          <a:bodyPr/>
          <a:lstStyle/>
          <a:p>
            <a:endParaRPr lang="en-US"/>
          </a:p>
        </p:txBody>
      </p:sp>
      <p:sp>
        <p:nvSpPr>
          <p:cNvPr id="13" name="Text 11"/>
          <p:cNvSpPr/>
          <p:nvPr/>
        </p:nvSpPr>
        <p:spPr>
          <a:xfrm>
            <a:off x="4773168" y="1078992"/>
            <a:ext cx="640080" cy="548640"/>
          </a:xfrm>
          <a:prstGeom prst="rect">
            <a:avLst/>
          </a:prstGeom>
          <a:noFill/>
          <a:ln/>
        </p:spPr>
        <p:txBody>
          <a:bodyPr wrap="square" lIns="0" tIns="0" rIns="0" bIns="0" rtlCol="0" anchor="ctr"/>
          <a:lstStyle/>
          <a:p>
            <a:pPr marL="0" indent="0" algn="l">
              <a:buNone/>
            </a:pPr>
            <a:r>
              <a:rPr lang="en-US" sz="3000" b="1" dirty="0">
                <a:solidFill>
                  <a:srgbClr val="F5A623"/>
                </a:solidFill>
                <a:latin typeface="Georgia" pitchFamily="34" charset="0"/>
                <a:ea typeface="Georgia" pitchFamily="34" charset="-122"/>
                <a:cs typeface="Georgia" pitchFamily="34" charset="-120"/>
              </a:rPr>
              <a:t>02</a:t>
            </a:r>
            <a:endParaRPr lang="en-US" sz="3000" dirty="0"/>
          </a:p>
        </p:txBody>
      </p:sp>
      <p:sp>
        <p:nvSpPr>
          <p:cNvPr id="14" name="Text 12"/>
          <p:cNvSpPr/>
          <p:nvPr/>
        </p:nvSpPr>
        <p:spPr>
          <a:xfrm>
            <a:off x="5440680" y="1097280"/>
            <a:ext cx="315468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Impute Missing Values</a:t>
            </a:r>
            <a:endParaRPr lang="en-US" sz="1050" dirty="0"/>
          </a:p>
        </p:txBody>
      </p:sp>
      <p:sp>
        <p:nvSpPr>
          <p:cNvPr id="15" name="Text 13"/>
          <p:cNvSpPr/>
          <p:nvPr/>
        </p:nvSpPr>
        <p:spPr>
          <a:xfrm>
            <a:off x="4800600" y="1536192"/>
            <a:ext cx="3794760" cy="1005840"/>
          </a:xfrm>
          <a:prstGeom prst="rect">
            <a:avLst/>
          </a:prstGeom>
          <a:noFill/>
          <a:ln/>
        </p:spPr>
        <p:txBody>
          <a:bodyPr wrap="square" lIns="0" tIns="0" rIns="0" bIns="0" rtlCol="0" anchor="ctr"/>
          <a:lstStyle/>
          <a:p>
            <a:pPr marL="0" indent="0">
              <a:buNone/>
            </a:pPr>
            <a:r>
              <a:rPr lang="en-US" sz="950" dirty="0">
                <a:solidFill>
                  <a:srgbClr val="E8F0F8"/>
                </a:solidFill>
                <a:latin typeface="Calibri" pitchFamily="34" charset="0"/>
                <a:ea typeface="Calibri" pitchFamily="34" charset="-122"/>
                <a:cs typeface="Calibri" pitchFamily="34" charset="-120"/>
              </a:rPr>
              <a:t>Continuous columns (HOUR, PERSONS, VE_TOTAL) filled with the median — more robust to skew than mean. Categorical columns filled with the mode (most frequent value).</a:t>
            </a:r>
            <a:endParaRPr lang="en-US" sz="950" dirty="0"/>
          </a:p>
        </p:txBody>
      </p:sp>
      <p:sp>
        <p:nvSpPr>
          <p:cNvPr id="16" name="Shape 14"/>
          <p:cNvSpPr/>
          <p:nvPr/>
        </p:nvSpPr>
        <p:spPr>
          <a:xfrm>
            <a:off x="411480" y="2816352"/>
            <a:ext cx="4069080" cy="16002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7" name="Shape 15"/>
          <p:cNvSpPr/>
          <p:nvPr/>
        </p:nvSpPr>
        <p:spPr>
          <a:xfrm>
            <a:off x="411480" y="2816352"/>
            <a:ext cx="4069080" cy="50292"/>
          </a:xfrm>
          <a:prstGeom prst="rect">
            <a:avLst/>
          </a:prstGeom>
          <a:solidFill>
            <a:srgbClr val="00957E"/>
          </a:solidFill>
          <a:ln/>
        </p:spPr>
        <p:txBody>
          <a:bodyPr/>
          <a:lstStyle/>
          <a:p>
            <a:endParaRPr lang="en-US"/>
          </a:p>
        </p:txBody>
      </p:sp>
      <p:sp>
        <p:nvSpPr>
          <p:cNvPr id="18" name="Text 16"/>
          <p:cNvSpPr/>
          <p:nvPr/>
        </p:nvSpPr>
        <p:spPr>
          <a:xfrm>
            <a:off x="521208" y="2889504"/>
            <a:ext cx="640080" cy="548640"/>
          </a:xfrm>
          <a:prstGeom prst="rect">
            <a:avLst/>
          </a:prstGeom>
          <a:noFill/>
          <a:ln/>
        </p:spPr>
        <p:txBody>
          <a:bodyPr wrap="square" lIns="0" tIns="0" rIns="0" bIns="0" rtlCol="0" anchor="ctr"/>
          <a:lstStyle/>
          <a:p>
            <a:pPr marL="0" indent="0" algn="l">
              <a:buNone/>
            </a:pPr>
            <a:r>
              <a:rPr lang="en-US" sz="3000" b="1" dirty="0">
                <a:solidFill>
                  <a:srgbClr val="00957E"/>
                </a:solidFill>
                <a:latin typeface="Georgia" pitchFamily="34" charset="0"/>
                <a:ea typeface="Georgia" pitchFamily="34" charset="-122"/>
                <a:cs typeface="Georgia" pitchFamily="34" charset="-120"/>
              </a:rPr>
              <a:t>03</a:t>
            </a:r>
            <a:endParaRPr lang="en-US" sz="3000" dirty="0"/>
          </a:p>
        </p:txBody>
      </p:sp>
      <p:sp>
        <p:nvSpPr>
          <p:cNvPr id="19" name="Text 17"/>
          <p:cNvSpPr/>
          <p:nvPr/>
        </p:nvSpPr>
        <p:spPr>
          <a:xfrm>
            <a:off x="1188720" y="2907792"/>
            <a:ext cx="315468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Cap Outliers (IQR Method)</a:t>
            </a:r>
            <a:endParaRPr lang="en-US" sz="1050" dirty="0"/>
          </a:p>
        </p:txBody>
      </p:sp>
      <p:sp>
        <p:nvSpPr>
          <p:cNvPr id="20" name="Text 18"/>
          <p:cNvSpPr/>
          <p:nvPr/>
        </p:nvSpPr>
        <p:spPr>
          <a:xfrm>
            <a:off x="548640" y="3346704"/>
            <a:ext cx="3794760" cy="1005840"/>
          </a:xfrm>
          <a:prstGeom prst="rect">
            <a:avLst/>
          </a:prstGeom>
          <a:noFill/>
          <a:ln/>
        </p:spPr>
        <p:txBody>
          <a:bodyPr wrap="square" lIns="0" tIns="0" rIns="0" bIns="0" rtlCol="0" anchor="ctr"/>
          <a:lstStyle/>
          <a:p>
            <a:pPr marL="0" indent="0">
              <a:buNone/>
            </a:pPr>
            <a:r>
              <a:rPr lang="en-US" sz="950" dirty="0">
                <a:solidFill>
                  <a:srgbClr val="E8F0F8"/>
                </a:solidFill>
                <a:latin typeface="Calibri" pitchFamily="34" charset="0"/>
                <a:ea typeface="Calibri" pitchFamily="34" charset="-122"/>
                <a:cs typeface="Calibri" pitchFamily="34" charset="-120"/>
              </a:rPr>
              <a:t>Extreme values in HOUR, PERSONS, and VE_TOTAL capped at Q1 − 1.5×IQR and Q3 + 1.5×IQR. All 37,654 rows retained — no data deleted.</a:t>
            </a:r>
            <a:endParaRPr lang="en-US" sz="950" dirty="0"/>
          </a:p>
        </p:txBody>
      </p:sp>
      <p:sp>
        <p:nvSpPr>
          <p:cNvPr id="21" name="Shape 19"/>
          <p:cNvSpPr/>
          <p:nvPr/>
        </p:nvSpPr>
        <p:spPr>
          <a:xfrm>
            <a:off x="4663440" y="2816352"/>
            <a:ext cx="4069080" cy="16002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22" name="Shape 20"/>
          <p:cNvSpPr/>
          <p:nvPr/>
        </p:nvSpPr>
        <p:spPr>
          <a:xfrm>
            <a:off x="4663440" y="2816352"/>
            <a:ext cx="4069080" cy="50292"/>
          </a:xfrm>
          <a:prstGeom prst="rect">
            <a:avLst/>
          </a:prstGeom>
          <a:solidFill>
            <a:srgbClr val="E05252"/>
          </a:solidFill>
          <a:ln/>
        </p:spPr>
        <p:txBody>
          <a:bodyPr/>
          <a:lstStyle/>
          <a:p>
            <a:endParaRPr lang="en-US"/>
          </a:p>
        </p:txBody>
      </p:sp>
      <p:sp>
        <p:nvSpPr>
          <p:cNvPr id="23" name="Text 21"/>
          <p:cNvSpPr/>
          <p:nvPr/>
        </p:nvSpPr>
        <p:spPr>
          <a:xfrm>
            <a:off x="4773168" y="2889504"/>
            <a:ext cx="640080" cy="548640"/>
          </a:xfrm>
          <a:prstGeom prst="rect">
            <a:avLst/>
          </a:prstGeom>
          <a:noFill/>
          <a:ln/>
        </p:spPr>
        <p:txBody>
          <a:bodyPr wrap="square" lIns="0" tIns="0" rIns="0" bIns="0" rtlCol="0" anchor="ctr"/>
          <a:lstStyle/>
          <a:p>
            <a:pPr marL="0" indent="0" algn="l">
              <a:buNone/>
            </a:pPr>
            <a:r>
              <a:rPr lang="en-US" sz="3000" b="1" dirty="0">
                <a:solidFill>
                  <a:srgbClr val="E05252"/>
                </a:solidFill>
                <a:latin typeface="Georgia" pitchFamily="34" charset="0"/>
                <a:ea typeface="Georgia" pitchFamily="34" charset="-122"/>
                <a:cs typeface="Georgia" pitchFamily="34" charset="-120"/>
              </a:rPr>
              <a:t>04</a:t>
            </a:r>
            <a:endParaRPr lang="en-US" sz="3000" dirty="0"/>
          </a:p>
        </p:txBody>
      </p:sp>
      <p:sp>
        <p:nvSpPr>
          <p:cNvPr id="24" name="Text 22"/>
          <p:cNvSpPr/>
          <p:nvPr/>
        </p:nvSpPr>
        <p:spPr>
          <a:xfrm>
            <a:off x="5440680" y="2907792"/>
            <a:ext cx="315468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Convert Categorical to Factors</a:t>
            </a:r>
            <a:endParaRPr lang="en-US" sz="1050" dirty="0"/>
          </a:p>
        </p:txBody>
      </p:sp>
      <p:sp>
        <p:nvSpPr>
          <p:cNvPr id="25" name="Text 23"/>
          <p:cNvSpPr/>
          <p:nvPr/>
        </p:nvSpPr>
        <p:spPr>
          <a:xfrm>
            <a:off x="4800600" y="3346704"/>
            <a:ext cx="3794760" cy="1005840"/>
          </a:xfrm>
          <a:prstGeom prst="rect">
            <a:avLst/>
          </a:prstGeom>
          <a:noFill/>
          <a:ln/>
        </p:spPr>
        <p:txBody>
          <a:bodyPr wrap="square" lIns="0" tIns="0" rIns="0" bIns="0" rtlCol="0" anchor="ctr"/>
          <a:lstStyle/>
          <a:p>
            <a:pPr marL="0" indent="0">
              <a:buNone/>
            </a:pPr>
            <a:r>
              <a:rPr lang="en-US" sz="950" dirty="0">
                <a:solidFill>
                  <a:srgbClr val="E8F0F8"/>
                </a:solidFill>
                <a:latin typeface="Calibri" pitchFamily="34" charset="0"/>
                <a:ea typeface="Calibri" pitchFamily="34" charset="-122"/>
                <a:cs typeface="Calibri" pitchFamily="34" charset="-120"/>
              </a:rPr>
              <a:t>DAY_WEEK = 1 means Sunday, not a number. Columns like MONTH, LGT_COND, RUR_URB converted to R factors so models treat them as categories, not continuous values.</a:t>
            </a:r>
            <a:endParaRPr lang="en-US" sz="950" dirty="0"/>
          </a:p>
        </p:txBody>
      </p:sp>
      <p:sp>
        <p:nvSpPr>
          <p:cNvPr id="26" name="Shape 24"/>
          <p:cNvSpPr/>
          <p:nvPr/>
        </p:nvSpPr>
        <p:spPr>
          <a:xfrm>
            <a:off x="411480" y="4544568"/>
            <a:ext cx="8321040" cy="411480"/>
          </a:xfrm>
          <a:prstGeom prst="rect">
            <a:avLst/>
          </a:prstGeom>
          <a:solidFill>
            <a:srgbClr val="1A3354"/>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27" name="Shape 25"/>
          <p:cNvSpPr/>
          <p:nvPr/>
        </p:nvSpPr>
        <p:spPr>
          <a:xfrm>
            <a:off x="411480" y="4544568"/>
            <a:ext cx="8321040" cy="41148"/>
          </a:xfrm>
          <a:prstGeom prst="rect">
            <a:avLst/>
          </a:prstGeom>
          <a:solidFill>
            <a:srgbClr val="00C2A8"/>
          </a:solidFill>
          <a:ln/>
        </p:spPr>
        <p:txBody>
          <a:bodyPr/>
          <a:lstStyle/>
          <a:p>
            <a:endParaRPr lang="en-US"/>
          </a:p>
        </p:txBody>
      </p:sp>
      <p:sp>
        <p:nvSpPr>
          <p:cNvPr id="28" name="Text 26"/>
          <p:cNvSpPr/>
          <p:nvPr/>
        </p:nvSpPr>
        <p:spPr>
          <a:xfrm>
            <a:off x="502920" y="4544568"/>
            <a:ext cx="8138160" cy="411480"/>
          </a:xfrm>
          <a:prstGeom prst="rect">
            <a:avLst/>
          </a:prstGeom>
          <a:noFill/>
          <a:ln/>
        </p:spPr>
        <p:txBody>
          <a:bodyPr wrap="square" lIns="0" tIns="0" rIns="0" bIns="0" rtlCol="0" anchor="ctr"/>
          <a:lstStyle/>
          <a:p>
            <a:pPr marL="0" indent="0" algn="ctr">
              <a:buNone/>
            </a:pPr>
            <a:r>
              <a:rPr lang="en-US" sz="1050" b="1" dirty="0">
                <a:solidFill>
                  <a:srgbClr val="00C2A8"/>
                </a:solidFill>
                <a:latin typeface="Calibri" pitchFamily="34" charset="0"/>
                <a:ea typeface="Calibri" pitchFamily="34" charset="-122"/>
                <a:cs typeface="Calibri" pitchFamily="34" charset="-120"/>
              </a:rPr>
              <a:t>Result:  Zero missing values across all 37,654 rows — clean, complete dataset ready for modeling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2A8"/>
          </a:solidFill>
          <a:ln/>
        </p:spPr>
        <p:txBody>
          <a:bodyPr/>
          <a:lstStyle/>
          <a:p>
            <a:endParaRPr lang="en-US"/>
          </a:p>
        </p:txBody>
      </p:sp>
      <p:sp>
        <p:nvSpPr>
          <p:cNvPr id="3" name="Text 1"/>
          <p:cNvSpPr/>
          <p:nvPr/>
        </p:nvSpPr>
        <p:spPr>
          <a:xfrm>
            <a:off x="411480" y="109728"/>
            <a:ext cx="832104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Method — Feature Selection (Stepwise AIC)</a:t>
            </a:r>
            <a:endParaRPr lang="en-US" sz="2600" dirty="0"/>
          </a:p>
        </p:txBody>
      </p:sp>
      <p:sp>
        <p:nvSpPr>
          <p:cNvPr id="4" name="Text 2"/>
          <p:cNvSpPr/>
          <p:nvPr/>
        </p:nvSpPr>
        <p:spPr>
          <a:xfrm>
            <a:off x="411480" y="603504"/>
            <a:ext cx="8321040" cy="256032"/>
          </a:xfrm>
          <a:prstGeom prst="rect">
            <a:avLst/>
          </a:prstGeom>
          <a:noFill/>
          <a:ln/>
        </p:spPr>
        <p:txBody>
          <a:bodyPr wrap="square" lIns="0" tIns="0" rIns="0" bIns="0" rtlCol="0" anchor="ctr"/>
          <a:lstStyle/>
          <a:p>
            <a:pPr marL="0" indent="0" algn="l">
              <a:buNone/>
            </a:pPr>
            <a:r>
              <a:rPr lang="en-US" sz="1100" kern="0" spc="150" dirty="0">
                <a:solidFill>
                  <a:srgbClr val="00C2A8"/>
                </a:solidFill>
                <a:latin typeface="Calibri" pitchFamily="34" charset="0"/>
                <a:ea typeface="Calibri" pitchFamily="34" charset="-122"/>
                <a:cs typeface="Calibri" pitchFamily="34" charset="-120"/>
              </a:rPr>
              <a:t>80 COLUMNS → 10 PREDICTORS KEPT</a:t>
            </a:r>
            <a:endParaRPr lang="en-US" sz="1100" dirty="0"/>
          </a:p>
        </p:txBody>
      </p:sp>
      <p:sp>
        <p:nvSpPr>
          <p:cNvPr id="5" name="Shape 3"/>
          <p:cNvSpPr/>
          <p:nvPr/>
        </p:nvSpPr>
        <p:spPr>
          <a:xfrm>
            <a:off x="411480" y="859536"/>
            <a:ext cx="8321040" cy="13716"/>
          </a:xfrm>
          <a:prstGeom prst="rect">
            <a:avLst/>
          </a:prstGeom>
          <a:solidFill>
            <a:srgbClr val="1A3354"/>
          </a:solidFill>
          <a:ln/>
        </p:spPr>
        <p:txBody>
          <a:bodyPr/>
          <a:lstStyle/>
          <a:p>
            <a:endParaRPr lang="en-US"/>
          </a:p>
        </p:txBody>
      </p:sp>
      <p:sp>
        <p:nvSpPr>
          <p:cNvPr id="6" name="Shape 4"/>
          <p:cNvSpPr/>
          <p:nvPr/>
        </p:nvSpPr>
        <p:spPr>
          <a:xfrm>
            <a:off x="411480" y="1005840"/>
            <a:ext cx="2834640" cy="37500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7" name="Shape 5"/>
          <p:cNvSpPr/>
          <p:nvPr/>
        </p:nvSpPr>
        <p:spPr>
          <a:xfrm>
            <a:off x="411480" y="1005840"/>
            <a:ext cx="64008" cy="3750000"/>
          </a:xfrm>
          <a:prstGeom prst="rect">
            <a:avLst/>
          </a:prstGeom>
          <a:solidFill>
            <a:srgbClr val="00C2A8"/>
          </a:solidFill>
          <a:ln/>
        </p:spPr>
        <p:txBody>
          <a:bodyPr/>
          <a:lstStyle/>
          <a:p>
            <a:endParaRPr lang="en-US"/>
          </a:p>
        </p:txBody>
      </p:sp>
      <p:sp>
        <p:nvSpPr>
          <p:cNvPr id="8" name="Text 6"/>
          <p:cNvSpPr/>
          <p:nvPr/>
        </p:nvSpPr>
        <p:spPr>
          <a:xfrm>
            <a:off x="566928" y="1051560"/>
            <a:ext cx="2606040" cy="320040"/>
          </a:xfrm>
          <a:prstGeom prst="rect">
            <a:avLst/>
          </a:prstGeom>
          <a:noFill/>
          <a:ln/>
        </p:spPr>
        <p:txBody>
          <a:bodyPr wrap="square" lIns="0" tIns="0" rIns="0" bIns="0" rtlCol="0" anchor="ctr"/>
          <a:lstStyle/>
          <a:p>
            <a:pPr marL="0" indent="0">
              <a:buNone/>
            </a:pPr>
            <a:r>
              <a:rPr lang="en-US" sz="1100" b="1" dirty="0">
                <a:solidFill>
                  <a:srgbClr val="00C2A8"/>
                </a:solidFill>
                <a:latin typeface="Calibri" pitchFamily="34" charset="0"/>
                <a:ea typeface="Calibri" pitchFamily="34" charset="-122"/>
                <a:cs typeface="Calibri" pitchFamily="34" charset="-120"/>
              </a:rPr>
              <a:t>How Stepwise AIC Works</a:t>
            </a:r>
            <a:endParaRPr lang="en-US" sz="1100" dirty="0"/>
          </a:p>
        </p:txBody>
      </p:sp>
      <p:sp>
        <p:nvSpPr>
          <p:cNvPr id="9" name="Text 7"/>
          <p:cNvSpPr/>
          <p:nvPr/>
        </p:nvSpPr>
        <p:spPr>
          <a:xfrm>
            <a:off x="566928" y="1417320"/>
            <a:ext cx="2606040" cy="1645920"/>
          </a:xfrm>
          <a:prstGeom prst="rect">
            <a:avLst/>
          </a:prstGeom>
          <a:noFill/>
          <a:ln/>
        </p:spPr>
        <p:txBody>
          <a:bodyPr wrap="square" lIns="0" tIns="0" rIns="0" bIns="0" rtlCol="0" anchor="ctr"/>
          <a:lstStyle/>
          <a:p>
            <a:pPr marL="0" indent="0">
              <a:buNone/>
            </a:pPr>
            <a:r>
              <a:rPr lang="en-US" sz="1000" dirty="0">
                <a:solidFill>
                  <a:srgbClr val="E8F0F8"/>
                </a:solidFill>
                <a:latin typeface="Calibri" pitchFamily="34" charset="0"/>
                <a:ea typeface="Calibri" pitchFamily="34" charset="-122"/>
                <a:cs typeface="Calibri" pitchFamily="34" charset="-120"/>
              </a:rPr>
              <a:t>AIC (Akaike Information Criterion) balances model fit against complexity. Lower AIC = better model.</a:t>
            </a:r>
            <a:endParaRPr lang="en-US" sz="1000" dirty="0"/>
          </a:p>
          <a:p>
            <a:pPr marL="0" indent="0">
              <a:buNone/>
            </a:pPr>
            <a:endParaRPr lang="en-US" sz="1000" dirty="0"/>
          </a:p>
          <a:p>
            <a:pPr marL="0" indent="0">
              <a:buNone/>
            </a:pPr>
            <a:r>
              <a:rPr lang="en-US" sz="1000" dirty="0">
                <a:solidFill>
                  <a:srgbClr val="E8F0F8"/>
                </a:solidFill>
                <a:latin typeface="Calibri" pitchFamily="34" charset="0"/>
                <a:ea typeface="Calibri" pitchFamily="34" charset="-122"/>
                <a:cs typeface="Calibri" pitchFamily="34" charset="-120"/>
              </a:rPr>
              <a:t>The algorithm adds or removes one variable at a time, keeping the change only if it lowers AIC.</a:t>
            </a:r>
            <a:endParaRPr lang="en-US" sz="1000" dirty="0"/>
          </a:p>
          <a:p>
            <a:pPr marL="0" indent="0">
              <a:buNone/>
            </a:pPr>
            <a:endParaRPr lang="en-US" sz="1000" dirty="0"/>
          </a:p>
          <a:p>
            <a:pPr marL="0" indent="0">
              <a:buNone/>
            </a:pPr>
            <a:r>
              <a:rPr lang="en-US" sz="1000" dirty="0">
                <a:solidFill>
                  <a:srgbClr val="E8F0F8"/>
                </a:solidFill>
                <a:latin typeface="Calibri" pitchFamily="34" charset="0"/>
                <a:ea typeface="Calibri" pitchFamily="34" charset="-122"/>
                <a:cs typeface="Calibri" pitchFamily="34" charset="-120"/>
              </a:rPr>
              <a:t>We ran all three directions:</a:t>
            </a:r>
            <a:endParaRPr lang="en-US" sz="1000" dirty="0"/>
          </a:p>
        </p:txBody>
      </p:sp>
      <p:sp>
        <p:nvSpPr>
          <p:cNvPr id="10" name="Text 8"/>
          <p:cNvSpPr/>
          <p:nvPr/>
        </p:nvSpPr>
        <p:spPr>
          <a:xfrm>
            <a:off x="566928" y="3127248"/>
            <a:ext cx="1005840" cy="320040"/>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Backward</a:t>
            </a:r>
            <a:endParaRPr lang="en-US" sz="1000" dirty="0"/>
          </a:p>
        </p:txBody>
      </p:sp>
      <p:sp>
        <p:nvSpPr>
          <p:cNvPr id="11" name="Text 9"/>
          <p:cNvSpPr/>
          <p:nvPr/>
        </p:nvSpPr>
        <p:spPr>
          <a:xfrm>
            <a:off x="1600200" y="3127248"/>
            <a:ext cx="1554480" cy="365760"/>
          </a:xfrm>
          <a:prstGeom prst="rect">
            <a:avLst/>
          </a:prstGeom>
          <a:noFill/>
          <a:ln/>
        </p:spPr>
        <p:txBody>
          <a:bodyPr wrap="square" lIns="0" tIns="0" rIns="0" bIns="0" rtlCol="0" anchor="ctr"/>
          <a:lstStyle/>
          <a:p>
            <a:pPr marL="0" indent="0">
              <a:buNone/>
            </a:pPr>
            <a:r>
              <a:rPr lang="en-US" sz="900" dirty="0">
                <a:solidFill>
                  <a:srgbClr val="E8F0F8"/>
                </a:solidFill>
                <a:latin typeface="Calibri" pitchFamily="34" charset="0"/>
                <a:ea typeface="Calibri" pitchFamily="34" charset="-122"/>
                <a:cs typeface="Calibri" pitchFamily="34" charset="-120"/>
              </a:rPr>
              <a:t>Starts with ALL 14 variables, removes one at a time</a:t>
            </a:r>
            <a:endParaRPr lang="en-US" sz="900" dirty="0"/>
          </a:p>
        </p:txBody>
      </p:sp>
      <p:sp>
        <p:nvSpPr>
          <p:cNvPr id="12" name="Text 10"/>
          <p:cNvSpPr/>
          <p:nvPr/>
        </p:nvSpPr>
        <p:spPr>
          <a:xfrm>
            <a:off x="566928" y="3566160"/>
            <a:ext cx="1005840" cy="320040"/>
          </a:xfrm>
          <a:prstGeom prst="rect">
            <a:avLst/>
          </a:prstGeom>
          <a:noFill/>
          <a:ln/>
        </p:spPr>
        <p:txBody>
          <a:bodyPr wrap="square" lIns="0" tIns="0" rIns="0" bIns="0" rtlCol="0" anchor="ctr"/>
          <a:lstStyle/>
          <a:p>
            <a:pPr marL="0" indent="0">
              <a:buNone/>
            </a:pPr>
            <a:r>
              <a:rPr lang="en-US" sz="1000" b="1" dirty="0">
                <a:solidFill>
                  <a:srgbClr val="F5A623"/>
                </a:solidFill>
                <a:latin typeface="Calibri" pitchFamily="34" charset="0"/>
                <a:ea typeface="Calibri" pitchFamily="34" charset="-122"/>
                <a:cs typeface="Calibri" pitchFamily="34" charset="-120"/>
              </a:rPr>
              <a:t>Forward</a:t>
            </a:r>
            <a:endParaRPr lang="en-US" sz="1000" dirty="0"/>
          </a:p>
        </p:txBody>
      </p:sp>
      <p:sp>
        <p:nvSpPr>
          <p:cNvPr id="13" name="Text 11"/>
          <p:cNvSpPr/>
          <p:nvPr/>
        </p:nvSpPr>
        <p:spPr>
          <a:xfrm>
            <a:off x="1600200" y="3566160"/>
            <a:ext cx="1554480" cy="365760"/>
          </a:xfrm>
          <a:prstGeom prst="rect">
            <a:avLst/>
          </a:prstGeom>
          <a:noFill/>
          <a:ln/>
        </p:spPr>
        <p:txBody>
          <a:bodyPr wrap="square" lIns="0" tIns="0" rIns="0" bIns="0" rtlCol="0" anchor="ctr"/>
          <a:lstStyle/>
          <a:p>
            <a:pPr marL="0" indent="0">
              <a:buNone/>
            </a:pPr>
            <a:r>
              <a:rPr lang="en-US" sz="900" dirty="0">
                <a:solidFill>
                  <a:srgbClr val="E8F0F8"/>
                </a:solidFill>
                <a:latin typeface="Calibri" pitchFamily="34" charset="0"/>
                <a:ea typeface="Calibri" pitchFamily="34" charset="-122"/>
                <a:cs typeface="Calibri" pitchFamily="34" charset="-120"/>
              </a:rPr>
              <a:t>Starts from ZERO, adds one at a time</a:t>
            </a:r>
            <a:endParaRPr lang="en-US" sz="900" dirty="0"/>
          </a:p>
        </p:txBody>
      </p:sp>
      <p:sp>
        <p:nvSpPr>
          <p:cNvPr id="14" name="Text 12"/>
          <p:cNvSpPr/>
          <p:nvPr/>
        </p:nvSpPr>
        <p:spPr>
          <a:xfrm>
            <a:off x="566928" y="4005072"/>
            <a:ext cx="1005840" cy="320040"/>
          </a:xfrm>
          <a:prstGeom prst="rect">
            <a:avLst/>
          </a:prstGeom>
          <a:noFill/>
          <a:ln/>
        </p:spPr>
        <p:txBody>
          <a:bodyPr wrap="square" lIns="0" tIns="0" rIns="0" bIns="0" rtlCol="0" anchor="ctr"/>
          <a:lstStyle/>
          <a:p>
            <a:pPr marL="0" indent="0">
              <a:buNone/>
            </a:pPr>
            <a:r>
              <a:rPr lang="en-US" sz="1000" b="1" dirty="0">
                <a:solidFill>
                  <a:srgbClr val="00957E"/>
                </a:solidFill>
                <a:latin typeface="Calibri" pitchFamily="34" charset="0"/>
                <a:ea typeface="Calibri" pitchFamily="34" charset="-122"/>
                <a:cs typeface="Calibri" pitchFamily="34" charset="-120"/>
              </a:rPr>
              <a:t>Both</a:t>
            </a:r>
            <a:endParaRPr lang="en-US" sz="1000" dirty="0"/>
          </a:p>
        </p:txBody>
      </p:sp>
      <p:sp>
        <p:nvSpPr>
          <p:cNvPr id="15" name="Text 13"/>
          <p:cNvSpPr/>
          <p:nvPr/>
        </p:nvSpPr>
        <p:spPr>
          <a:xfrm>
            <a:off x="1600200" y="4005072"/>
            <a:ext cx="1554480" cy="365760"/>
          </a:xfrm>
          <a:prstGeom prst="rect">
            <a:avLst/>
          </a:prstGeom>
          <a:noFill/>
          <a:ln/>
        </p:spPr>
        <p:txBody>
          <a:bodyPr wrap="square" lIns="0" tIns="0" rIns="0" bIns="0" rtlCol="0" anchor="ctr"/>
          <a:lstStyle/>
          <a:p>
            <a:pPr marL="0" indent="0">
              <a:buNone/>
            </a:pPr>
            <a:r>
              <a:rPr lang="en-US" sz="900" dirty="0">
                <a:solidFill>
                  <a:srgbClr val="E8F0F8"/>
                </a:solidFill>
                <a:latin typeface="Calibri" pitchFamily="34" charset="0"/>
                <a:ea typeface="Calibri" pitchFamily="34" charset="-122"/>
                <a:cs typeface="Calibri" pitchFamily="34" charset="-120"/>
              </a:rPr>
              <a:t>Can add OR remove at each step</a:t>
            </a:r>
            <a:endParaRPr lang="en-US" sz="900" dirty="0"/>
          </a:p>
        </p:txBody>
      </p:sp>
      <p:sp>
        <p:nvSpPr>
          <p:cNvPr id="16" name="Text 14"/>
          <p:cNvSpPr/>
          <p:nvPr/>
        </p:nvSpPr>
        <p:spPr>
          <a:xfrm>
            <a:off x="566928" y="4350000"/>
            <a:ext cx="2606040" cy="320040"/>
          </a:xfrm>
          <a:prstGeom prst="rect">
            <a:avLst/>
          </a:prstGeom>
          <a:noFill/>
          <a:ln/>
        </p:spPr>
        <p:txBody>
          <a:bodyPr wrap="square" lIns="0" tIns="0" rIns="0" bIns="0" rtlCol="0" anchor="ctr"/>
          <a:lstStyle/>
          <a:p>
            <a:pPr marL="0" indent="0">
              <a:buNone/>
            </a:pPr>
            <a:r>
              <a:rPr lang="en-US" sz="950" b="1" dirty="0">
                <a:solidFill>
                  <a:srgbClr val="00C2A8"/>
                </a:solidFill>
                <a:latin typeface="Calibri" pitchFamily="34" charset="0"/>
                <a:ea typeface="Calibri" pitchFamily="34" charset="-122"/>
                <a:cs typeface="Calibri" pitchFamily="34" charset="-120"/>
              </a:rPr>
              <a:t>✓  All 3 directions selected the same 10 variables</a:t>
            </a:r>
            <a:endParaRPr lang="en-US" sz="950" dirty="0"/>
          </a:p>
        </p:txBody>
      </p:sp>
      <p:sp>
        <p:nvSpPr>
          <p:cNvPr id="17" name="Shape 15"/>
          <p:cNvSpPr/>
          <p:nvPr/>
        </p:nvSpPr>
        <p:spPr>
          <a:xfrm>
            <a:off x="3429000" y="1005840"/>
            <a:ext cx="2560320" cy="361188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8" name="Shape 16"/>
          <p:cNvSpPr/>
          <p:nvPr/>
        </p:nvSpPr>
        <p:spPr>
          <a:xfrm>
            <a:off x="3429000" y="1005840"/>
            <a:ext cx="64008" cy="3611880"/>
          </a:xfrm>
          <a:prstGeom prst="rect">
            <a:avLst/>
          </a:prstGeom>
          <a:solidFill>
            <a:srgbClr val="00C2A8"/>
          </a:solidFill>
          <a:ln/>
        </p:spPr>
        <p:txBody>
          <a:bodyPr/>
          <a:lstStyle/>
          <a:p>
            <a:endParaRPr lang="en-US"/>
          </a:p>
        </p:txBody>
      </p:sp>
      <p:sp>
        <p:nvSpPr>
          <p:cNvPr id="19" name="Text 17"/>
          <p:cNvSpPr/>
          <p:nvPr/>
        </p:nvSpPr>
        <p:spPr>
          <a:xfrm>
            <a:off x="3584448" y="1051560"/>
            <a:ext cx="2331720" cy="274320"/>
          </a:xfrm>
          <a:prstGeom prst="rect">
            <a:avLst/>
          </a:prstGeom>
          <a:noFill/>
          <a:ln/>
        </p:spPr>
        <p:txBody>
          <a:bodyPr wrap="square" lIns="0" tIns="0" rIns="0" bIns="0" rtlCol="0" anchor="ctr"/>
          <a:lstStyle/>
          <a:p>
            <a:pPr marL="0" indent="0">
              <a:buNone/>
            </a:pPr>
            <a:r>
              <a:rPr lang="en-US" sz="1050" b="1" dirty="0">
                <a:solidFill>
                  <a:srgbClr val="00C2A8"/>
                </a:solidFill>
                <a:latin typeface="Calibri" pitchFamily="34" charset="0"/>
                <a:ea typeface="Calibri" pitchFamily="34" charset="-122"/>
                <a:cs typeface="Calibri" pitchFamily="34" charset="-120"/>
              </a:rPr>
              <a:t>✔  Kept (10 variables)</a:t>
            </a:r>
            <a:endParaRPr lang="en-US" sz="1050" dirty="0"/>
          </a:p>
        </p:txBody>
      </p:sp>
      <p:sp>
        <p:nvSpPr>
          <p:cNvPr id="20" name="Text 18"/>
          <p:cNvSpPr/>
          <p:nvPr/>
        </p:nvSpPr>
        <p:spPr>
          <a:xfrm>
            <a:off x="3584448" y="1371600"/>
            <a:ext cx="2286000" cy="292608"/>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PERSONS</a:t>
            </a:r>
            <a:endParaRPr lang="en-US" sz="1000" dirty="0"/>
          </a:p>
        </p:txBody>
      </p:sp>
      <p:sp>
        <p:nvSpPr>
          <p:cNvPr id="21" name="Text 19"/>
          <p:cNvSpPr/>
          <p:nvPr/>
        </p:nvSpPr>
        <p:spPr>
          <a:xfrm>
            <a:off x="3584448" y="1691640"/>
            <a:ext cx="2286000" cy="292608"/>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VE_TOTAL</a:t>
            </a:r>
            <a:endParaRPr lang="en-US" sz="1000" dirty="0"/>
          </a:p>
        </p:txBody>
      </p:sp>
      <p:sp>
        <p:nvSpPr>
          <p:cNvPr id="22" name="Text 20"/>
          <p:cNvSpPr/>
          <p:nvPr/>
        </p:nvSpPr>
        <p:spPr>
          <a:xfrm>
            <a:off x="3584448" y="2011680"/>
            <a:ext cx="2286000" cy="292608"/>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impaired_driver</a:t>
            </a:r>
            <a:endParaRPr lang="en-US" sz="1000" dirty="0"/>
          </a:p>
        </p:txBody>
      </p:sp>
      <p:sp>
        <p:nvSpPr>
          <p:cNvPr id="23" name="Text 21"/>
          <p:cNvSpPr/>
          <p:nvPr/>
        </p:nvSpPr>
        <p:spPr>
          <a:xfrm>
            <a:off x="3584448" y="2331720"/>
            <a:ext cx="2286000" cy="292608"/>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LGT_COND</a:t>
            </a:r>
            <a:endParaRPr lang="en-US" sz="1000" dirty="0"/>
          </a:p>
        </p:txBody>
      </p:sp>
      <p:sp>
        <p:nvSpPr>
          <p:cNvPr id="24" name="Text 22"/>
          <p:cNvSpPr/>
          <p:nvPr/>
        </p:nvSpPr>
        <p:spPr>
          <a:xfrm>
            <a:off x="3584448" y="2651760"/>
            <a:ext cx="2286000" cy="292608"/>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RUR_URB</a:t>
            </a:r>
            <a:endParaRPr lang="en-US" sz="1000" dirty="0"/>
          </a:p>
        </p:txBody>
      </p:sp>
      <p:sp>
        <p:nvSpPr>
          <p:cNvPr id="25" name="Text 23"/>
          <p:cNvSpPr/>
          <p:nvPr/>
        </p:nvSpPr>
        <p:spPr>
          <a:xfrm>
            <a:off x="3584448" y="2971800"/>
            <a:ext cx="2286000" cy="292608"/>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MAN_COLL</a:t>
            </a:r>
            <a:endParaRPr lang="en-US" sz="1000" dirty="0"/>
          </a:p>
        </p:txBody>
      </p:sp>
      <p:sp>
        <p:nvSpPr>
          <p:cNvPr id="26" name="Text 24"/>
          <p:cNvSpPr/>
          <p:nvPr/>
        </p:nvSpPr>
        <p:spPr>
          <a:xfrm>
            <a:off x="3584448" y="3291840"/>
            <a:ext cx="2286000" cy="292608"/>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HARM_EV</a:t>
            </a:r>
            <a:endParaRPr lang="en-US" sz="1000" dirty="0"/>
          </a:p>
        </p:txBody>
      </p:sp>
      <p:sp>
        <p:nvSpPr>
          <p:cNvPr id="27" name="Text 25"/>
          <p:cNvSpPr/>
          <p:nvPr/>
        </p:nvSpPr>
        <p:spPr>
          <a:xfrm>
            <a:off x="3584448" y="3611880"/>
            <a:ext cx="2286000" cy="292608"/>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FUNC_SYS</a:t>
            </a:r>
            <a:endParaRPr lang="en-US" sz="1000" dirty="0"/>
          </a:p>
        </p:txBody>
      </p:sp>
      <p:sp>
        <p:nvSpPr>
          <p:cNvPr id="28" name="Text 26"/>
          <p:cNvSpPr/>
          <p:nvPr/>
        </p:nvSpPr>
        <p:spPr>
          <a:xfrm>
            <a:off x="3584448" y="3931920"/>
            <a:ext cx="2286000" cy="292608"/>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DAY_WEEK</a:t>
            </a:r>
            <a:endParaRPr lang="en-US" sz="1000" dirty="0"/>
          </a:p>
        </p:txBody>
      </p:sp>
      <p:sp>
        <p:nvSpPr>
          <p:cNvPr id="29" name="Text 27"/>
          <p:cNvSpPr/>
          <p:nvPr/>
        </p:nvSpPr>
        <p:spPr>
          <a:xfrm>
            <a:off x="3584448" y="4251960"/>
            <a:ext cx="2286000" cy="292608"/>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a:t>
            </a:r>
            <a:r>
              <a:rPr lang="en-US" sz="1000" dirty="0">
                <a:solidFill>
                  <a:srgbClr val="E8F0F8"/>
                </a:solidFill>
                <a:latin typeface="Calibri" pitchFamily="34" charset="0"/>
                <a:ea typeface="Calibri" pitchFamily="34" charset="-122"/>
                <a:cs typeface="Calibri" pitchFamily="34" charset="-120"/>
              </a:rPr>
              <a:t>MONTH</a:t>
            </a:r>
            <a:endParaRPr lang="en-US" sz="1000" dirty="0"/>
          </a:p>
        </p:txBody>
      </p:sp>
      <p:sp>
        <p:nvSpPr>
          <p:cNvPr id="30" name="Shape 28"/>
          <p:cNvSpPr/>
          <p:nvPr/>
        </p:nvSpPr>
        <p:spPr>
          <a:xfrm>
            <a:off x="6172200" y="1005840"/>
            <a:ext cx="2560320" cy="361188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31" name="Shape 29"/>
          <p:cNvSpPr/>
          <p:nvPr/>
        </p:nvSpPr>
        <p:spPr>
          <a:xfrm>
            <a:off x="6172200" y="1005840"/>
            <a:ext cx="64008" cy="3611880"/>
          </a:xfrm>
          <a:prstGeom prst="rect">
            <a:avLst/>
          </a:prstGeom>
          <a:solidFill>
            <a:srgbClr val="E05252"/>
          </a:solidFill>
          <a:ln/>
        </p:spPr>
        <p:txBody>
          <a:bodyPr/>
          <a:lstStyle/>
          <a:p>
            <a:endParaRPr lang="en-US"/>
          </a:p>
        </p:txBody>
      </p:sp>
      <p:sp>
        <p:nvSpPr>
          <p:cNvPr id="32" name="Text 30"/>
          <p:cNvSpPr/>
          <p:nvPr/>
        </p:nvSpPr>
        <p:spPr>
          <a:xfrm>
            <a:off x="6327648" y="1051560"/>
            <a:ext cx="2331720" cy="274320"/>
          </a:xfrm>
          <a:prstGeom prst="rect">
            <a:avLst/>
          </a:prstGeom>
          <a:noFill/>
          <a:ln/>
        </p:spPr>
        <p:txBody>
          <a:bodyPr wrap="square" lIns="0" tIns="0" rIns="0" bIns="0" rtlCol="0" anchor="ctr"/>
          <a:lstStyle/>
          <a:p>
            <a:pPr marL="0" indent="0">
              <a:buNone/>
            </a:pPr>
            <a:r>
              <a:rPr lang="en-US" sz="1050" b="1" dirty="0">
                <a:solidFill>
                  <a:srgbClr val="E05252"/>
                </a:solidFill>
                <a:latin typeface="Calibri" pitchFamily="34" charset="0"/>
                <a:ea typeface="Calibri" pitchFamily="34" charset="-122"/>
                <a:cs typeface="Calibri" pitchFamily="34" charset="-120"/>
              </a:rPr>
              <a:t>✗  Dropped (4 variables)</a:t>
            </a:r>
            <a:endParaRPr lang="en-US" sz="1050" dirty="0"/>
          </a:p>
        </p:txBody>
      </p:sp>
      <p:sp>
        <p:nvSpPr>
          <p:cNvPr id="33" name="Text 31"/>
          <p:cNvSpPr/>
          <p:nvPr/>
        </p:nvSpPr>
        <p:spPr>
          <a:xfrm>
            <a:off x="6327648" y="1371600"/>
            <a:ext cx="2286000" cy="256032"/>
          </a:xfrm>
          <a:prstGeom prst="rect">
            <a:avLst/>
          </a:prstGeom>
          <a:noFill/>
          <a:ln/>
        </p:spPr>
        <p:txBody>
          <a:bodyPr wrap="square" lIns="0" tIns="0" rIns="0" bIns="0" rtlCol="0" anchor="ctr"/>
          <a:lstStyle/>
          <a:p>
            <a:pPr marL="0" indent="0">
              <a:buNone/>
            </a:pPr>
            <a:r>
              <a:rPr lang="en-US" sz="1000" b="1" dirty="0">
                <a:solidFill>
                  <a:srgbClr val="E05252"/>
                </a:solidFill>
                <a:latin typeface="Calibri" pitchFamily="34" charset="0"/>
                <a:ea typeface="Calibri" pitchFamily="34" charset="-122"/>
                <a:cs typeface="Calibri" pitchFamily="34" charset="-120"/>
              </a:rPr>
              <a:t>✗  </a:t>
            </a:r>
            <a:r>
              <a:rPr lang="en-US" sz="1000" b="1" dirty="0">
                <a:solidFill>
                  <a:srgbClr val="FFFFFF"/>
                </a:solidFill>
                <a:latin typeface="Calibri" pitchFamily="34" charset="0"/>
                <a:ea typeface="Calibri" pitchFamily="34" charset="-122"/>
                <a:cs typeface="Calibri" pitchFamily="34" charset="-120"/>
              </a:rPr>
              <a:t>WEATHER</a:t>
            </a:r>
            <a:endParaRPr lang="en-US" sz="1000" dirty="0"/>
          </a:p>
        </p:txBody>
      </p:sp>
      <p:sp>
        <p:nvSpPr>
          <p:cNvPr id="34" name="Text 32"/>
          <p:cNvSpPr/>
          <p:nvPr/>
        </p:nvSpPr>
        <p:spPr>
          <a:xfrm>
            <a:off x="6327648" y="1645920"/>
            <a:ext cx="2286000" cy="320040"/>
          </a:xfrm>
          <a:prstGeom prst="rect">
            <a:avLst/>
          </a:prstGeom>
          <a:noFill/>
          <a:ln/>
        </p:spPr>
        <p:txBody>
          <a:bodyPr wrap="square" lIns="0" tIns="0" rIns="0" bIns="0" rtlCol="0" anchor="ctr"/>
          <a:lstStyle/>
          <a:p>
            <a:pPr marL="0" indent="0">
              <a:buNone/>
            </a:pPr>
            <a:r>
              <a:rPr lang="en-US" sz="850" dirty="0">
                <a:solidFill>
                  <a:srgbClr val="8BA4BF"/>
                </a:solidFill>
                <a:latin typeface="Calibri" pitchFamily="34" charset="0"/>
                <a:ea typeface="Calibri" pitchFamily="34" charset="-122"/>
                <a:cs typeface="Calibri" pitchFamily="34" charset="-120"/>
              </a:rPr>
              <a:t>No added value once other predictors included</a:t>
            </a:r>
            <a:endParaRPr lang="en-US" sz="850" dirty="0"/>
          </a:p>
        </p:txBody>
      </p:sp>
      <p:sp>
        <p:nvSpPr>
          <p:cNvPr id="35" name="Text 33"/>
          <p:cNvSpPr/>
          <p:nvPr/>
        </p:nvSpPr>
        <p:spPr>
          <a:xfrm>
            <a:off x="6327648" y="2011680"/>
            <a:ext cx="2286000" cy="256032"/>
          </a:xfrm>
          <a:prstGeom prst="rect">
            <a:avLst/>
          </a:prstGeom>
          <a:noFill/>
          <a:ln/>
        </p:spPr>
        <p:txBody>
          <a:bodyPr wrap="square" lIns="0" tIns="0" rIns="0" bIns="0" rtlCol="0" anchor="ctr"/>
          <a:lstStyle/>
          <a:p>
            <a:pPr marL="0" indent="0">
              <a:buNone/>
            </a:pPr>
            <a:r>
              <a:rPr lang="en-US" sz="1000" b="1" dirty="0">
                <a:solidFill>
                  <a:srgbClr val="E05252"/>
                </a:solidFill>
                <a:latin typeface="Calibri" pitchFamily="34" charset="0"/>
                <a:ea typeface="Calibri" pitchFamily="34" charset="-122"/>
                <a:cs typeface="Calibri" pitchFamily="34" charset="-120"/>
              </a:rPr>
              <a:t>✗  </a:t>
            </a:r>
            <a:r>
              <a:rPr lang="en-US" sz="1000" b="1" dirty="0">
                <a:solidFill>
                  <a:srgbClr val="FFFFFF"/>
                </a:solidFill>
                <a:latin typeface="Calibri" pitchFamily="34" charset="0"/>
                <a:ea typeface="Calibri" pitchFamily="34" charset="-122"/>
                <a:cs typeface="Calibri" pitchFamily="34" charset="-120"/>
              </a:rPr>
              <a:t>REL_ROAD</a:t>
            </a:r>
            <a:endParaRPr lang="en-US" sz="1000" dirty="0"/>
          </a:p>
        </p:txBody>
      </p:sp>
      <p:sp>
        <p:nvSpPr>
          <p:cNvPr id="36" name="Text 34"/>
          <p:cNvSpPr/>
          <p:nvPr/>
        </p:nvSpPr>
        <p:spPr>
          <a:xfrm>
            <a:off x="6327648" y="2286000"/>
            <a:ext cx="2286000" cy="320040"/>
          </a:xfrm>
          <a:prstGeom prst="rect">
            <a:avLst/>
          </a:prstGeom>
          <a:noFill/>
          <a:ln/>
        </p:spPr>
        <p:txBody>
          <a:bodyPr wrap="square" lIns="0" tIns="0" rIns="0" bIns="0" rtlCol="0" anchor="ctr"/>
          <a:lstStyle/>
          <a:p>
            <a:pPr marL="0" indent="0">
              <a:buNone/>
            </a:pPr>
            <a:r>
              <a:rPr lang="en-US" sz="850" dirty="0">
                <a:solidFill>
                  <a:srgbClr val="8BA4BF"/>
                </a:solidFill>
                <a:latin typeface="Calibri" pitchFamily="34" charset="0"/>
                <a:ea typeface="Calibri" pitchFamily="34" charset="-122"/>
                <a:cs typeface="Calibri" pitchFamily="34" charset="-120"/>
              </a:rPr>
              <a:t>No added value once other predictors included</a:t>
            </a:r>
            <a:endParaRPr lang="en-US" sz="850" dirty="0"/>
          </a:p>
        </p:txBody>
      </p:sp>
      <p:sp>
        <p:nvSpPr>
          <p:cNvPr id="37" name="Text 35"/>
          <p:cNvSpPr/>
          <p:nvPr/>
        </p:nvSpPr>
        <p:spPr>
          <a:xfrm>
            <a:off x="6327648" y="2651760"/>
            <a:ext cx="2286000" cy="256032"/>
          </a:xfrm>
          <a:prstGeom prst="rect">
            <a:avLst/>
          </a:prstGeom>
          <a:noFill/>
          <a:ln/>
        </p:spPr>
        <p:txBody>
          <a:bodyPr wrap="square" lIns="0" tIns="0" rIns="0" bIns="0" rtlCol="0" anchor="ctr"/>
          <a:lstStyle/>
          <a:p>
            <a:pPr marL="0" indent="0">
              <a:buNone/>
            </a:pPr>
            <a:r>
              <a:rPr lang="en-US" sz="1000" b="1" dirty="0">
                <a:solidFill>
                  <a:srgbClr val="E05252"/>
                </a:solidFill>
                <a:latin typeface="Calibri" pitchFamily="34" charset="0"/>
                <a:ea typeface="Calibri" pitchFamily="34" charset="-122"/>
                <a:cs typeface="Calibri" pitchFamily="34" charset="-120"/>
              </a:rPr>
              <a:t>✗  </a:t>
            </a:r>
            <a:r>
              <a:rPr lang="en-US" sz="1000" b="1" dirty="0">
                <a:solidFill>
                  <a:srgbClr val="FFFFFF"/>
                </a:solidFill>
                <a:latin typeface="Calibri" pitchFamily="34" charset="0"/>
                <a:ea typeface="Calibri" pitchFamily="34" charset="-122"/>
                <a:cs typeface="Calibri" pitchFamily="34" charset="-120"/>
              </a:rPr>
              <a:t>TYP_INT</a:t>
            </a:r>
            <a:endParaRPr lang="en-US" sz="1000" dirty="0"/>
          </a:p>
        </p:txBody>
      </p:sp>
      <p:sp>
        <p:nvSpPr>
          <p:cNvPr id="38" name="Text 36"/>
          <p:cNvSpPr/>
          <p:nvPr/>
        </p:nvSpPr>
        <p:spPr>
          <a:xfrm>
            <a:off x="6327648" y="2926080"/>
            <a:ext cx="2286000" cy="320040"/>
          </a:xfrm>
          <a:prstGeom prst="rect">
            <a:avLst/>
          </a:prstGeom>
          <a:noFill/>
          <a:ln/>
        </p:spPr>
        <p:txBody>
          <a:bodyPr wrap="square" lIns="0" tIns="0" rIns="0" bIns="0" rtlCol="0" anchor="ctr"/>
          <a:lstStyle/>
          <a:p>
            <a:pPr marL="0" indent="0">
              <a:buNone/>
            </a:pPr>
            <a:r>
              <a:rPr lang="en-US" sz="850" dirty="0">
                <a:solidFill>
                  <a:srgbClr val="8BA4BF"/>
                </a:solidFill>
                <a:latin typeface="Calibri" pitchFamily="34" charset="0"/>
                <a:ea typeface="Calibri" pitchFamily="34" charset="-122"/>
                <a:cs typeface="Calibri" pitchFamily="34" charset="-120"/>
              </a:rPr>
              <a:t>No added value once other predictors included</a:t>
            </a:r>
            <a:endParaRPr lang="en-US" sz="850" dirty="0"/>
          </a:p>
        </p:txBody>
      </p:sp>
      <p:sp>
        <p:nvSpPr>
          <p:cNvPr id="39" name="Text 37"/>
          <p:cNvSpPr/>
          <p:nvPr/>
        </p:nvSpPr>
        <p:spPr>
          <a:xfrm>
            <a:off x="6327648" y="3291840"/>
            <a:ext cx="2286000" cy="256032"/>
          </a:xfrm>
          <a:prstGeom prst="rect">
            <a:avLst/>
          </a:prstGeom>
          <a:noFill/>
          <a:ln/>
        </p:spPr>
        <p:txBody>
          <a:bodyPr wrap="square" lIns="0" tIns="0" rIns="0" bIns="0" rtlCol="0" anchor="ctr"/>
          <a:lstStyle/>
          <a:p>
            <a:pPr marL="0" indent="0">
              <a:buNone/>
            </a:pPr>
            <a:r>
              <a:rPr lang="en-US" sz="1000" b="1" dirty="0">
                <a:solidFill>
                  <a:srgbClr val="E05252"/>
                </a:solidFill>
                <a:latin typeface="Calibri" pitchFamily="34" charset="0"/>
                <a:ea typeface="Calibri" pitchFamily="34" charset="-122"/>
                <a:cs typeface="Calibri" pitchFamily="34" charset="-120"/>
              </a:rPr>
              <a:t>✗  </a:t>
            </a:r>
            <a:r>
              <a:rPr lang="en-US" sz="1000" b="1" dirty="0">
                <a:solidFill>
                  <a:srgbClr val="FFFFFF"/>
                </a:solidFill>
                <a:latin typeface="Calibri" pitchFamily="34" charset="0"/>
                <a:ea typeface="Calibri" pitchFamily="34" charset="-122"/>
                <a:cs typeface="Calibri" pitchFamily="34" charset="-120"/>
              </a:rPr>
              <a:t>HOUR</a:t>
            </a:r>
            <a:endParaRPr lang="en-US" sz="1000" dirty="0"/>
          </a:p>
        </p:txBody>
      </p:sp>
      <p:sp>
        <p:nvSpPr>
          <p:cNvPr id="40" name="Text 38"/>
          <p:cNvSpPr/>
          <p:nvPr/>
        </p:nvSpPr>
        <p:spPr>
          <a:xfrm>
            <a:off x="6327648" y="3566160"/>
            <a:ext cx="2286000" cy="320040"/>
          </a:xfrm>
          <a:prstGeom prst="rect">
            <a:avLst/>
          </a:prstGeom>
          <a:noFill/>
          <a:ln/>
        </p:spPr>
        <p:txBody>
          <a:bodyPr wrap="square" lIns="0" tIns="0" rIns="0" bIns="0" rtlCol="0" anchor="ctr"/>
          <a:lstStyle/>
          <a:p>
            <a:pPr marL="0" indent="0">
              <a:buNone/>
            </a:pPr>
            <a:r>
              <a:rPr lang="en-US" sz="850" dirty="0">
                <a:solidFill>
                  <a:srgbClr val="8BA4BF"/>
                </a:solidFill>
                <a:latin typeface="Calibri" pitchFamily="34" charset="0"/>
                <a:ea typeface="Calibri" pitchFamily="34" charset="-122"/>
                <a:cs typeface="Calibri" pitchFamily="34" charset="-120"/>
              </a:rPr>
              <a:t>No added value once other predictors included</a:t>
            </a:r>
            <a:endParaRPr lang="en-US" sz="850" dirty="0"/>
          </a:p>
        </p:txBody>
      </p:sp>
      <p:sp>
        <p:nvSpPr>
          <p:cNvPr id="41" name="Shape 39"/>
          <p:cNvSpPr/>
          <p:nvPr/>
        </p:nvSpPr>
        <p:spPr>
          <a:xfrm>
            <a:off x="3429000" y="4727448"/>
            <a:ext cx="5303520" cy="320040"/>
          </a:xfrm>
          <a:prstGeom prst="rect">
            <a:avLst/>
          </a:prstGeom>
          <a:solidFill>
            <a:srgbClr val="1A3354"/>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42" name="Text 40"/>
          <p:cNvSpPr/>
          <p:nvPr/>
        </p:nvSpPr>
        <p:spPr>
          <a:xfrm>
            <a:off x="3520440" y="4727448"/>
            <a:ext cx="5120640" cy="320040"/>
          </a:xfrm>
          <a:prstGeom prst="rect">
            <a:avLst/>
          </a:prstGeom>
          <a:noFill/>
          <a:ln/>
        </p:spPr>
        <p:txBody>
          <a:bodyPr wrap="square" lIns="0" tIns="0" rIns="0" bIns="0" rtlCol="0" anchor="ctr"/>
          <a:lstStyle/>
          <a:p>
            <a:pPr marL="0" indent="0">
              <a:buNone/>
            </a:pPr>
            <a:r>
              <a:rPr lang="en-US" sz="900" dirty="0">
                <a:solidFill>
                  <a:srgbClr val="8BA4BF"/>
                </a:solidFill>
                <a:latin typeface="Calibri" pitchFamily="34" charset="0"/>
                <a:ea typeface="Calibri" pitchFamily="34" charset="-122"/>
                <a:cs typeface="Calibri" pitchFamily="34" charset="-120"/>
              </a:rPr>
              <a:t>Also checked VIF for multicollinearity — no predictor exceeded 5.  All 10 variables retained.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2A8"/>
          </a:solidFill>
          <a:ln/>
        </p:spPr>
        <p:txBody>
          <a:bodyPr/>
          <a:lstStyle/>
          <a:p>
            <a:endParaRPr lang="en-US"/>
          </a:p>
        </p:txBody>
      </p:sp>
      <p:sp>
        <p:nvSpPr>
          <p:cNvPr id="3" name="Text 1"/>
          <p:cNvSpPr/>
          <p:nvPr/>
        </p:nvSpPr>
        <p:spPr>
          <a:xfrm>
            <a:off x="411480" y="109728"/>
            <a:ext cx="832104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Method — Models &amp; Evaluation Metrics</a:t>
            </a:r>
            <a:endParaRPr lang="en-US" sz="2600" dirty="0"/>
          </a:p>
        </p:txBody>
      </p:sp>
      <p:sp>
        <p:nvSpPr>
          <p:cNvPr id="4" name="Text 2"/>
          <p:cNvSpPr/>
          <p:nvPr/>
        </p:nvSpPr>
        <p:spPr>
          <a:xfrm>
            <a:off x="411480" y="603504"/>
            <a:ext cx="8321040" cy="256032"/>
          </a:xfrm>
          <a:prstGeom prst="rect">
            <a:avLst/>
          </a:prstGeom>
          <a:noFill/>
          <a:ln/>
        </p:spPr>
        <p:txBody>
          <a:bodyPr wrap="square" lIns="0" tIns="0" rIns="0" bIns="0" rtlCol="0" anchor="ctr"/>
          <a:lstStyle/>
          <a:p>
            <a:pPr marL="0" indent="0" algn="l">
              <a:buNone/>
            </a:pPr>
            <a:r>
              <a:rPr lang="en-US" sz="1100" kern="0" spc="150" dirty="0">
                <a:solidFill>
                  <a:srgbClr val="00C2A8"/>
                </a:solidFill>
                <a:latin typeface="Calibri" pitchFamily="34" charset="0"/>
                <a:ea typeface="Calibri" pitchFamily="34" charset="-122"/>
                <a:cs typeface="Calibri" pitchFamily="34" charset="-120"/>
              </a:rPr>
              <a:t>TWO MODELS, ONE GOAL</a:t>
            </a:r>
            <a:endParaRPr lang="en-US" sz="1100" dirty="0"/>
          </a:p>
        </p:txBody>
      </p:sp>
      <p:sp>
        <p:nvSpPr>
          <p:cNvPr id="5" name="Shape 3"/>
          <p:cNvSpPr/>
          <p:nvPr/>
        </p:nvSpPr>
        <p:spPr>
          <a:xfrm>
            <a:off x="411480" y="859536"/>
            <a:ext cx="8321040" cy="13716"/>
          </a:xfrm>
          <a:prstGeom prst="rect">
            <a:avLst/>
          </a:prstGeom>
          <a:solidFill>
            <a:srgbClr val="1A3354"/>
          </a:solidFill>
          <a:ln/>
        </p:spPr>
        <p:txBody>
          <a:bodyPr/>
          <a:lstStyle/>
          <a:p>
            <a:endParaRPr lang="en-US"/>
          </a:p>
        </p:txBody>
      </p:sp>
      <p:sp>
        <p:nvSpPr>
          <p:cNvPr id="6" name="Shape 4"/>
          <p:cNvSpPr/>
          <p:nvPr/>
        </p:nvSpPr>
        <p:spPr>
          <a:xfrm>
            <a:off x="411480" y="1005840"/>
            <a:ext cx="3977640" cy="283464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7" name="Shape 5"/>
          <p:cNvSpPr/>
          <p:nvPr/>
        </p:nvSpPr>
        <p:spPr>
          <a:xfrm>
            <a:off x="411480" y="1005840"/>
            <a:ext cx="64008" cy="2834640"/>
          </a:xfrm>
          <a:prstGeom prst="rect">
            <a:avLst/>
          </a:prstGeom>
          <a:solidFill>
            <a:srgbClr val="00C2A8"/>
          </a:solidFill>
          <a:ln/>
        </p:spPr>
        <p:txBody>
          <a:bodyPr/>
          <a:lstStyle/>
          <a:p>
            <a:endParaRPr lang="en-US"/>
          </a:p>
        </p:txBody>
      </p:sp>
      <p:sp>
        <p:nvSpPr>
          <p:cNvPr id="8" name="Text 6"/>
          <p:cNvSpPr/>
          <p:nvPr/>
        </p:nvSpPr>
        <p:spPr>
          <a:xfrm>
            <a:off x="566928" y="1051560"/>
            <a:ext cx="3749040" cy="320040"/>
          </a:xfrm>
          <a:prstGeom prst="rect">
            <a:avLst/>
          </a:prstGeom>
          <a:noFill/>
          <a:ln/>
        </p:spPr>
        <p:txBody>
          <a:bodyPr wrap="square" lIns="0" tIns="0" rIns="0" bIns="0" rtlCol="0" anchor="ctr"/>
          <a:lstStyle/>
          <a:p>
            <a:pPr marL="0" indent="0">
              <a:buNone/>
            </a:pPr>
            <a:r>
              <a:rPr lang="en-US" sz="1100" b="1" dirty="0">
                <a:solidFill>
                  <a:srgbClr val="00C2A8"/>
                </a:solidFill>
                <a:latin typeface="Calibri" pitchFamily="34" charset="0"/>
                <a:ea typeface="Calibri" pitchFamily="34" charset="-122"/>
                <a:cs typeface="Calibri" pitchFamily="34" charset="-120"/>
              </a:rPr>
              <a:t>Model 1 — Multiple Linear Regression</a:t>
            </a:r>
            <a:endParaRPr lang="en-US" sz="1100" dirty="0"/>
          </a:p>
        </p:txBody>
      </p:sp>
      <p:sp>
        <p:nvSpPr>
          <p:cNvPr id="9" name="Text 7"/>
          <p:cNvSpPr/>
          <p:nvPr/>
        </p:nvSpPr>
        <p:spPr>
          <a:xfrm>
            <a:off x="566928" y="1371600"/>
            <a:ext cx="3749040" cy="228600"/>
          </a:xfrm>
          <a:prstGeom prst="rect">
            <a:avLst/>
          </a:prstGeom>
          <a:noFill/>
          <a:ln/>
        </p:spPr>
        <p:txBody>
          <a:bodyPr wrap="square" lIns="0" tIns="0" rIns="0" bIns="0" rtlCol="0" anchor="ctr"/>
          <a:lstStyle/>
          <a:p>
            <a:pPr marL="0" indent="0">
              <a:buNone/>
            </a:pPr>
            <a:r>
              <a:rPr lang="en-US" sz="950" i="1" dirty="0">
                <a:solidFill>
                  <a:srgbClr val="8BA4BF"/>
                </a:solidFill>
                <a:latin typeface="Calibri" pitchFamily="34" charset="0"/>
                <a:ea typeface="Calibri" pitchFamily="34" charset="-122"/>
                <a:cs typeface="Calibri" pitchFamily="34" charset="-120"/>
              </a:rPr>
              <a:t>R function: lm(FATALS ~ .)</a:t>
            </a:r>
            <a:endParaRPr lang="en-US" sz="950" dirty="0"/>
          </a:p>
        </p:txBody>
      </p:sp>
      <p:sp>
        <p:nvSpPr>
          <p:cNvPr id="10" name="Text 8"/>
          <p:cNvSpPr/>
          <p:nvPr/>
        </p:nvSpPr>
        <p:spPr>
          <a:xfrm>
            <a:off x="566928" y="1645920"/>
            <a:ext cx="3657600" cy="594360"/>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Why: </a:t>
            </a:r>
            <a:r>
              <a:rPr lang="en-US" sz="1000" dirty="0">
                <a:solidFill>
                  <a:srgbClr val="E8F0F8"/>
                </a:solidFill>
                <a:latin typeface="Calibri" pitchFamily="34" charset="0"/>
                <a:ea typeface="Calibri" pitchFamily="34" charset="-122"/>
                <a:cs typeface="Calibri" pitchFamily="34" charset="-120"/>
              </a:rPr>
              <a:t>Interpretable — each predictor gets a coefficient showing exactly how much it raises or lowers expected fatalities, making results actionable for non-technical stakeholders.</a:t>
            </a:r>
            <a:endParaRPr lang="en-US" sz="1000" dirty="0"/>
          </a:p>
        </p:txBody>
      </p:sp>
      <p:sp>
        <p:nvSpPr>
          <p:cNvPr id="11" name="Text 9"/>
          <p:cNvSpPr/>
          <p:nvPr/>
        </p:nvSpPr>
        <p:spPr>
          <a:xfrm>
            <a:off x="566928" y="2286000"/>
            <a:ext cx="3657600" cy="594360"/>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Assumption: </a:t>
            </a:r>
            <a:r>
              <a:rPr lang="en-US" sz="1000" dirty="0">
                <a:solidFill>
                  <a:srgbClr val="E8F0F8"/>
                </a:solidFill>
                <a:latin typeface="Calibri" pitchFamily="34" charset="0"/>
                <a:ea typeface="Calibri" pitchFamily="34" charset="-122"/>
                <a:cs typeface="Calibri" pitchFamily="34" charset="-120"/>
              </a:rPr>
              <a:t>Linear relationship between predictors and FATALS.</a:t>
            </a:r>
            <a:endParaRPr lang="en-US" sz="1000" dirty="0"/>
          </a:p>
        </p:txBody>
      </p:sp>
      <p:sp>
        <p:nvSpPr>
          <p:cNvPr id="12" name="Text 10"/>
          <p:cNvSpPr/>
          <p:nvPr/>
        </p:nvSpPr>
        <p:spPr>
          <a:xfrm>
            <a:off x="566928" y="2926080"/>
            <a:ext cx="3657600" cy="594360"/>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Feature selection: </a:t>
            </a:r>
            <a:r>
              <a:rPr lang="en-US" sz="1000" dirty="0">
                <a:solidFill>
                  <a:srgbClr val="E8F0F8"/>
                </a:solidFill>
                <a:latin typeface="Calibri" pitchFamily="34" charset="0"/>
                <a:ea typeface="Calibri" pitchFamily="34" charset="-122"/>
                <a:cs typeface="Calibri" pitchFamily="34" charset="-120"/>
              </a:rPr>
              <a:t>Stepwise AIC — all 3 directions agreed on 10 predictors.</a:t>
            </a:r>
            <a:endParaRPr lang="en-US" sz="1000" dirty="0"/>
          </a:p>
        </p:txBody>
      </p:sp>
      <p:sp>
        <p:nvSpPr>
          <p:cNvPr id="13" name="Shape 11"/>
          <p:cNvSpPr/>
          <p:nvPr/>
        </p:nvSpPr>
        <p:spPr>
          <a:xfrm>
            <a:off x="4617720" y="1005840"/>
            <a:ext cx="4114800" cy="283464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4" name="Shape 12"/>
          <p:cNvSpPr/>
          <p:nvPr/>
        </p:nvSpPr>
        <p:spPr>
          <a:xfrm>
            <a:off x="4617720" y="1005840"/>
            <a:ext cx="64008" cy="2834640"/>
          </a:xfrm>
          <a:prstGeom prst="rect">
            <a:avLst/>
          </a:prstGeom>
          <a:solidFill>
            <a:srgbClr val="F5A623"/>
          </a:solidFill>
          <a:ln/>
        </p:spPr>
        <p:txBody>
          <a:bodyPr/>
          <a:lstStyle/>
          <a:p>
            <a:endParaRPr lang="en-US"/>
          </a:p>
        </p:txBody>
      </p:sp>
      <p:sp>
        <p:nvSpPr>
          <p:cNvPr id="15" name="Text 13"/>
          <p:cNvSpPr/>
          <p:nvPr/>
        </p:nvSpPr>
        <p:spPr>
          <a:xfrm>
            <a:off x="4773168" y="1051560"/>
            <a:ext cx="3840480" cy="320040"/>
          </a:xfrm>
          <a:prstGeom prst="rect">
            <a:avLst/>
          </a:prstGeom>
          <a:noFill/>
          <a:ln/>
        </p:spPr>
        <p:txBody>
          <a:bodyPr wrap="square" lIns="0" tIns="0" rIns="0" bIns="0" rtlCol="0" anchor="ctr"/>
          <a:lstStyle/>
          <a:p>
            <a:pPr marL="0" indent="0">
              <a:buNone/>
            </a:pPr>
            <a:r>
              <a:rPr lang="en-US" sz="1100" b="1" dirty="0">
                <a:solidFill>
                  <a:srgbClr val="F5A623"/>
                </a:solidFill>
                <a:latin typeface="Calibri" pitchFamily="34" charset="0"/>
                <a:ea typeface="Calibri" pitchFamily="34" charset="-122"/>
                <a:cs typeface="Calibri" pitchFamily="34" charset="-120"/>
              </a:rPr>
              <a:t>Model 2 — Decision Tree (Regression)</a:t>
            </a:r>
            <a:endParaRPr lang="en-US" sz="1100" dirty="0"/>
          </a:p>
        </p:txBody>
      </p:sp>
      <p:sp>
        <p:nvSpPr>
          <p:cNvPr id="16" name="Text 14"/>
          <p:cNvSpPr/>
          <p:nvPr/>
        </p:nvSpPr>
        <p:spPr>
          <a:xfrm>
            <a:off x="4773168" y="1371600"/>
            <a:ext cx="3840480" cy="228600"/>
          </a:xfrm>
          <a:prstGeom prst="rect">
            <a:avLst/>
          </a:prstGeom>
          <a:noFill/>
          <a:ln/>
        </p:spPr>
        <p:txBody>
          <a:bodyPr wrap="square" lIns="0" tIns="0" rIns="0" bIns="0" rtlCol="0" anchor="ctr"/>
          <a:lstStyle/>
          <a:p>
            <a:pPr marL="0" indent="0">
              <a:buNone/>
            </a:pPr>
            <a:r>
              <a:rPr lang="en-US" sz="950" i="1" dirty="0">
                <a:solidFill>
                  <a:srgbClr val="8BA4BF"/>
                </a:solidFill>
                <a:latin typeface="Calibri" pitchFamily="34" charset="0"/>
                <a:ea typeface="Calibri" pitchFamily="34" charset="-122"/>
                <a:cs typeface="Calibri" pitchFamily="34" charset="-120"/>
              </a:rPr>
              <a:t>R function: rpart(method = "anova")</a:t>
            </a:r>
            <a:endParaRPr lang="en-US" sz="950" dirty="0"/>
          </a:p>
        </p:txBody>
      </p:sp>
      <p:sp>
        <p:nvSpPr>
          <p:cNvPr id="17" name="Text 15"/>
          <p:cNvSpPr/>
          <p:nvPr/>
        </p:nvSpPr>
        <p:spPr>
          <a:xfrm>
            <a:off x="4773168" y="1645920"/>
            <a:ext cx="3840480" cy="594360"/>
          </a:xfrm>
          <a:prstGeom prst="rect">
            <a:avLst/>
          </a:prstGeom>
          <a:noFill/>
          <a:ln/>
        </p:spPr>
        <p:txBody>
          <a:bodyPr wrap="square" lIns="0" tIns="0" rIns="0" bIns="0" rtlCol="0" anchor="ctr"/>
          <a:lstStyle/>
          <a:p>
            <a:pPr marL="0" indent="0">
              <a:buNone/>
            </a:pPr>
            <a:r>
              <a:rPr lang="en-US" sz="1000" b="1" dirty="0">
                <a:solidFill>
                  <a:srgbClr val="F5A623"/>
                </a:solidFill>
                <a:latin typeface="Calibri" pitchFamily="34" charset="0"/>
                <a:ea typeface="Calibri" pitchFamily="34" charset="-122"/>
                <a:cs typeface="Calibri" pitchFamily="34" charset="-120"/>
              </a:rPr>
              <a:t>Why: </a:t>
            </a:r>
            <a:r>
              <a:rPr lang="en-US" sz="1000" dirty="0">
                <a:solidFill>
                  <a:srgbClr val="E8F0F8"/>
                </a:solidFill>
                <a:latin typeface="Calibri" pitchFamily="34" charset="0"/>
                <a:ea typeface="Calibri" pitchFamily="34" charset="-122"/>
                <a:cs typeface="Calibri" pitchFamily="34" charset="-120"/>
              </a:rPr>
              <a:t>Does not assume linear relationships. Can capture complex patterns that linear regression might miss.</a:t>
            </a:r>
            <a:endParaRPr lang="en-US" sz="1000" dirty="0"/>
          </a:p>
        </p:txBody>
      </p:sp>
      <p:sp>
        <p:nvSpPr>
          <p:cNvPr id="18" name="Text 16"/>
          <p:cNvSpPr/>
          <p:nvPr/>
        </p:nvSpPr>
        <p:spPr>
          <a:xfrm>
            <a:off x="4773168" y="2286000"/>
            <a:ext cx="3840480" cy="594360"/>
          </a:xfrm>
          <a:prstGeom prst="rect">
            <a:avLst/>
          </a:prstGeom>
          <a:noFill/>
          <a:ln/>
        </p:spPr>
        <p:txBody>
          <a:bodyPr wrap="square" lIns="0" tIns="0" rIns="0" bIns="0" rtlCol="0" anchor="ctr"/>
          <a:lstStyle/>
          <a:p>
            <a:pPr marL="0" indent="0">
              <a:buNone/>
            </a:pPr>
            <a:r>
              <a:rPr lang="en-US" sz="1000" b="1" dirty="0">
                <a:solidFill>
                  <a:srgbClr val="F5A623"/>
                </a:solidFill>
                <a:latin typeface="Calibri" pitchFamily="34" charset="0"/>
                <a:ea typeface="Calibri" pitchFamily="34" charset="-122"/>
                <a:cs typeface="Calibri" pitchFamily="34" charset="-120"/>
              </a:rPr>
              <a:t>How built: </a:t>
            </a:r>
            <a:r>
              <a:rPr lang="en-US" sz="1000" dirty="0">
                <a:solidFill>
                  <a:srgbClr val="E8F0F8"/>
                </a:solidFill>
                <a:latin typeface="Calibri" pitchFamily="34" charset="0"/>
                <a:ea typeface="Calibri" pitchFamily="34" charset="-122"/>
                <a:cs typeface="Calibri" pitchFamily="34" charset="-120"/>
              </a:rPr>
              <a:t>Grew deep tree (cp = 0.001) then pruned back to best cp from cross-validated error table.</a:t>
            </a:r>
            <a:endParaRPr lang="en-US" sz="1000" dirty="0"/>
          </a:p>
        </p:txBody>
      </p:sp>
      <p:sp>
        <p:nvSpPr>
          <p:cNvPr id="19" name="Text 17"/>
          <p:cNvSpPr/>
          <p:nvPr/>
        </p:nvSpPr>
        <p:spPr>
          <a:xfrm>
            <a:off x="4773168" y="2926080"/>
            <a:ext cx="3840480" cy="594360"/>
          </a:xfrm>
          <a:prstGeom prst="rect">
            <a:avLst/>
          </a:prstGeom>
          <a:noFill/>
          <a:ln/>
        </p:spPr>
        <p:txBody>
          <a:bodyPr wrap="square" lIns="0" tIns="0" rIns="0" bIns="0" rtlCol="0" anchor="ctr"/>
          <a:lstStyle/>
          <a:p>
            <a:pPr marL="0" indent="0">
              <a:buNone/>
            </a:pPr>
            <a:r>
              <a:rPr lang="en-US" sz="1000" b="1" dirty="0">
                <a:solidFill>
                  <a:srgbClr val="F5A623"/>
                </a:solidFill>
                <a:latin typeface="Calibri" pitchFamily="34" charset="0"/>
                <a:ea typeface="Calibri" pitchFamily="34" charset="-122"/>
                <a:cs typeface="Calibri" pitchFamily="34" charset="-120"/>
              </a:rPr>
              <a:t>Visual: </a:t>
            </a:r>
            <a:r>
              <a:rPr lang="en-US" sz="1000" dirty="0">
                <a:solidFill>
                  <a:srgbClr val="E8F0F8"/>
                </a:solidFill>
                <a:latin typeface="Calibri" pitchFamily="34" charset="0"/>
                <a:ea typeface="Calibri" pitchFamily="34" charset="-122"/>
                <a:cs typeface="Calibri" pitchFamily="34" charset="-120"/>
              </a:rPr>
              <a:t>Tree diagram is easy to explain to non-technical audiences.</a:t>
            </a:r>
            <a:endParaRPr lang="en-US" sz="1000" dirty="0"/>
          </a:p>
        </p:txBody>
      </p:sp>
      <p:sp>
        <p:nvSpPr>
          <p:cNvPr id="20" name="Shape 18"/>
          <p:cNvSpPr/>
          <p:nvPr/>
        </p:nvSpPr>
        <p:spPr>
          <a:xfrm>
            <a:off x="411480" y="3977640"/>
            <a:ext cx="8321040" cy="502920"/>
          </a:xfrm>
          <a:prstGeom prst="rect">
            <a:avLst/>
          </a:prstGeom>
          <a:solidFill>
            <a:srgbClr val="1A3354"/>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21" name="Text 19"/>
          <p:cNvSpPr/>
          <p:nvPr/>
        </p:nvSpPr>
        <p:spPr>
          <a:xfrm>
            <a:off x="502920" y="3977640"/>
            <a:ext cx="813816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Train / Validation Split:  70% training (≈26,358 rows)  ·  30% validation (≈11,296 rows)  ·  5-fold cross-validation on full dataset</a:t>
            </a:r>
            <a:endParaRPr lang="en-US" sz="1050" dirty="0"/>
          </a:p>
        </p:txBody>
      </p:sp>
      <p:sp>
        <p:nvSpPr>
          <p:cNvPr id="22" name="Shape 20"/>
          <p:cNvSpPr/>
          <p:nvPr/>
        </p:nvSpPr>
        <p:spPr>
          <a:xfrm>
            <a:off x="411480" y="4572000"/>
            <a:ext cx="8321040" cy="475488"/>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23" name="Shape 21"/>
          <p:cNvSpPr/>
          <p:nvPr/>
        </p:nvSpPr>
        <p:spPr>
          <a:xfrm>
            <a:off x="411480" y="4572000"/>
            <a:ext cx="8321040" cy="41148"/>
          </a:xfrm>
          <a:prstGeom prst="rect">
            <a:avLst/>
          </a:prstGeom>
          <a:solidFill>
            <a:srgbClr val="00C2A8"/>
          </a:solidFill>
          <a:ln/>
        </p:spPr>
        <p:txBody>
          <a:bodyPr/>
          <a:lstStyle/>
          <a:p>
            <a:endParaRPr lang="en-US"/>
          </a:p>
        </p:txBody>
      </p:sp>
      <p:sp>
        <p:nvSpPr>
          <p:cNvPr id="24" name="Text 22"/>
          <p:cNvSpPr/>
          <p:nvPr/>
        </p:nvSpPr>
        <p:spPr>
          <a:xfrm>
            <a:off x="548640" y="4608576"/>
            <a:ext cx="8046720" cy="411480"/>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Primary Metric: RMSE  </a:t>
            </a:r>
            <a:r>
              <a:rPr lang="en-US" sz="1000" dirty="0">
                <a:solidFill>
                  <a:srgbClr val="E8F0F8"/>
                </a:solidFill>
                <a:latin typeface="Calibri" pitchFamily="34" charset="0"/>
                <a:ea typeface="Calibri" pitchFamily="34" charset="-122"/>
                <a:cs typeface="Calibri" pitchFamily="34" charset="-120"/>
              </a:rPr>
              <a:t>— same unit as FATALS, penalizes large errors more. Also report ME, MAE, MSE.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2A8"/>
          </a:solidFill>
          <a:ln/>
        </p:spPr>
        <p:txBody>
          <a:bodyPr/>
          <a:lstStyle/>
          <a:p>
            <a:endParaRPr lang="en-US"/>
          </a:p>
        </p:txBody>
      </p:sp>
      <p:sp>
        <p:nvSpPr>
          <p:cNvPr id="3" name="Text 1"/>
          <p:cNvSpPr/>
          <p:nvPr/>
        </p:nvSpPr>
        <p:spPr>
          <a:xfrm>
            <a:off x="411480" y="109728"/>
            <a:ext cx="832104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Results — Model Performance Comparison</a:t>
            </a:r>
            <a:endParaRPr lang="en-US" sz="2600" dirty="0"/>
          </a:p>
        </p:txBody>
      </p:sp>
      <p:sp>
        <p:nvSpPr>
          <p:cNvPr id="4" name="Text 2"/>
          <p:cNvSpPr/>
          <p:nvPr/>
        </p:nvSpPr>
        <p:spPr>
          <a:xfrm>
            <a:off x="411480" y="603504"/>
            <a:ext cx="8321040" cy="256032"/>
          </a:xfrm>
          <a:prstGeom prst="rect">
            <a:avLst/>
          </a:prstGeom>
          <a:noFill/>
          <a:ln/>
        </p:spPr>
        <p:txBody>
          <a:bodyPr wrap="square" lIns="0" tIns="0" rIns="0" bIns="0" rtlCol="0" anchor="ctr"/>
          <a:lstStyle/>
          <a:p>
            <a:pPr marL="0" indent="0" algn="l">
              <a:buNone/>
            </a:pPr>
            <a:r>
              <a:rPr lang="en-US" sz="1100" kern="0" spc="150" dirty="0">
                <a:solidFill>
                  <a:srgbClr val="00C2A8"/>
                </a:solidFill>
                <a:latin typeface="Calibri" pitchFamily="34" charset="0"/>
                <a:ea typeface="Calibri" pitchFamily="34" charset="-122"/>
                <a:cs typeface="Calibri" pitchFamily="34" charset="-120"/>
              </a:rPr>
              <a:t>VALIDATION SET PERFORMANCE  ·  70/30 SPLIT  ·  5-FOLD CROSS-VALIDATION</a:t>
            </a:r>
            <a:endParaRPr lang="en-US" sz="1100" dirty="0"/>
          </a:p>
        </p:txBody>
      </p:sp>
      <p:sp>
        <p:nvSpPr>
          <p:cNvPr id="5" name="Shape 3"/>
          <p:cNvSpPr/>
          <p:nvPr/>
        </p:nvSpPr>
        <p:spPr>
          <a:xfrm>
            <a:off x="411480" y="859536"/>
            <a:ext cx="8321040" cy="13716"/>
          </a:xfrm>
          <a:prstGeom prst="rect">
            <a:avLst/>
          </a:prstGeom>
          <a:solidFill>
            <a:srgbClr val="1A3354"/>
          </a:solidFill>
          <a:ln/>
        </p:spPr>
        <p:txBody>
          <a:bodyPr/>
          <a:lstStyle/>
          <a:p>
            <a:endParaRPr lang="en-US"/>
          </a:p>
        </p:txBody>
      </p:sp>
      <p:sp>
        <p:nvSpPr>
          <p:cNvPr id="6" name="Shape 4"/>
          <p:cNvSpPr/>
          <p:nvPr/>
        </p:nvSpPr>
        <p:spPr>
          <a:xfrm>
            <a:off x="411480" y="888264"/>
            <a:ext cx="1737360" cy="365760"/>
          </a:xfrm>
          <a:prstGeom prst="rect">
            <a:avLst/>
          </a:prstGeom>
          <a:solidFill>
            <a:srgbClr val="1A3354"/>
          </a:solidFill>
          <a:ln/>
        </p:spPr>
        <p:txBody>
          <a:bodyPr/>
          <a:lstStyle/>
          <a:p>
            <a:endParaRPr lang="en-US"/>
          </a:p>
        </p:txBody>
      </p:sp>
      <p:sp>
        <p:nvSpPr>
          <p:cNvPr id="7" name="Text 5"/>
          <p:cNvSpPr/>
          <p:nvPr/>
        </p:nvSpPr>
        <p:spPr>
          <a:xfrm>
            <a:off x="457200" y="888264"/>
            <a:ext cx="1645920" cy="365760"/>
          </a:xfrm>
          <a:prstGeom prst="rect">
            <a:avLst/>
          </a:prstGeom>
          <a:noFill/>
          <a:ln/>
        </p:spPr>
        <p:txBody>
          <a:bodyPr wrap="square" lIns="0" tIns="0" rIns="0" bIns="0" rtlCol="0" anchor="ctr"/>
          <a:lstStyle/>
          <a:p>
            <a:pPr marL="0" indent="0" algn="ctr">
              <a:buNone/>
            </a:pPr>
            <a:r>
              <a:rPr lang="en-US" sz="950" b="1" dirty="0">
                <a:solidFill>
                  <a:srgbClr val="8BA4BF"/>
                </a:solidFill>
                <a:latin typeface="Calibri" pitchFamily="34" charset="0"/>
                <a:ea typeface="Calibri" pitchFamily="34" charset="-122"/>
                <a:cs typeface="Calibri" pitchFamily="34" charset="-120"/>
              </a:rPr>
              <a:t>Metric</a:t>
            </a:r>
            <a:endParaRPr lang="en-US" sz="950" dirty="0"/>
          </a:p>
        </p:txBody>
      </p:sp>
      <p:sp>
        <p:nvSpPr>
          <p:cNvPr id="8" name="Shape 6"/>
          <p:cNvSpPr/>
          <p:nvPr/>
        </p:nvSpPr>
        <p:spPr>
          <a:xfrm>
            <a:off x="2148840" y="888264"/>
            <a:ext cx="1600200" cy="365760"/>
          </a:xfrm>
          <a:prstGeom prst="rect">
            <a:avLst/>
          </a:prstGeom>
          <a:solidFill>
            <a:srgbClr val="00C2A8"/>
          </a:solidFill>
          <a:ln/>
        </p:spPr>
        <p:txBody>
          <a:bodyPr/>
          <a:lstStyle/>
          <a:p>
            <a:endParaRPr lang="en-US"/>
          </a:p>
        </p:txBody>
      </p:sp>
      <p:sp>
        <p:nvSpPr>
          <p:cNvPr id="9" name="Text 7"/>
          <p:cNvSpPr/>
          <p:nvPr/>
        </p:nvSpPr>
        <p:spPr>
          <a:xfrm>
            <a:off x="2194560" y="888264"/>
            <a:ext cx="1508760" cy="365760"/>
          </a:xfrm>
          <a:prstGeom prst="rect">
            <a:avLst/>
          </a:prstGeom>
          <a:noFill/>
          <a:ln/>
        </p:spPr>
        <p:txBody>
          <a:bodyPr wrap="square" lIns="0" tIns="0" rIns="0" bIns="0" rtlCol="0" anchor="ctr"/>
          <a:lstStyle/>
          <a:p>
            <a:pPr marL="0" indent="0" algn="ctr">
              <a:buNone/>
            </a:pPr>
            <a:r>
              <a:rPr lang="en-US" sz="950" b="1" dirty="0">
                <a:solidFill>
                  <a:srgbClr val="0B1628"/>
                </a:solidFill>
                <a:latin typeface="Calibri" pitchFamily="34" charset="0"/>
                <a:ea typeface="Calibri" pitchFamily="34" charset="-122"/>
                <a:cs typeface="Calibri" pitchFamily="34" charset="-120"/>
              </a:rPr>
              <a:t>LR Training</a:t>
            </a:r>
            <a:endParaRPr lang="en-US" sz="950" dirty="0"/>
          </a:p>
        </p:txBody>
      </p:sp>
      <p:sp>
        <p:nvSpPr>
          <p:cNvPr id="10" name="Shape 8"/>
          <p:cNvSpPr/>
          <p:nvPr/>
        </p:nvSpPr>
        <p:spPr>
          <a:xfrm>
            <a:off x="3749040" y="888264"/>
            <a:ext cx="1600200" cy="365760"/>
          </a:xfrm>
          <a:prstGeom prst="rect">
            <a:avLst/>
          </a:prstGeom>
          <a:solidFill>
            <a:srgbClr val="00C2A8"/>
          </a:solidFill>
          <a:ln/>
        </p:spPr>
        <p:txBody>
          <a:bodyPr/>
          <a:lstStyle/>
          <a:p>
            <a:endParaRPr lang="en-US"/>
          </a:p>
        </p:txBody>
      </p:sp>
      <p:sp>
        <p:nvSpPr>
          <p:cNvPr id="11" name="Text 9"/>
          <p:cNvSpPr/>
          <p:nvPr/>
        </p:nvSpPr>
        <p:spPr>
          <a:xfrm>
            <a:off x="3794760" y="888264"/>
            <a:ext cx="1508760" cy="365760"/>
          </a:xfrm>
          <a:prstGeom prst="rect">
            <a:avLst/>
          </a:prstGeom>
          <a:noFill/>
          <a:ln/>
        </p:spPr>
        <p:txBody>
          <a:bodyPr wrap="square" lIns="0" tIns="0" rIns="0" bIns="0" rtlCol="0" anchor="ctr"/>
          <a:lstStyle/>
          <a:p>
            <a:pPr marL="0" indent="0" algn="ctr">
              <a:buNone/>
            </a:pPr>
            <a:r>
              <a:rPr lang="en-US" sz="950" b="1" dirty="0">
                <a:solidFill>
                  <a:srgbClr val="0B1628"/>
                </a:solidFill>
                <a:latin typeface="Calibri" pitchFamily="34" charset="0"/>
                <a:ea typeface="Calibri" pitchFamily="34" charset="-122"/>
                <a:cs typeface="Calibri" pitchFamily="34" charset="-120"/>
              </a:rPr>
              <a:t>LR Validation</a:t>
            </a:r>
            <a:endParaRPr lang="en-US" sz="950" dirty="0"/>
          </a:p>
        </p:txBody>
      </p:sp>
      <p:sp>
        <p:nvSpPr>
          <p:cNvPr id="12" name="Shape 10"/>
          <p:cNvSpPr/>
          <p:nvPr/>
        </p:nvSpPr>
        <p:spPr>
          <a:xfrm>
            <a:off x="5349240" y="888264"/>
            <a:ext cx="1600200" cy="365760"/>
          </a:xfrm>
          <a:prstGeom prst="rect">
            <a:avLst/>
          </a:prstGeom>
          <a:solidFill>
            <a:srgbClr val="F5A623"/>
          </a:solidFill>
          <a:ln/>
        </p:spPr>
        <p:txBody>
          <a:bodyPr/>
          <a:lstStyle/>
          <a:p>
            <a:endParaRPr lang="en-US"/>
          </a:p>
        </p:txBody>
      </p:sp>
      <p:sp>
        <p:nvSpPr>
          <p:cNvPr id="13" name="Text 11"/>
          <p:cNvSpPr/>
          <p:nvPr/>
        </p:nvSpPr>
        <p:spPr>
          <a:xfrm>
            <a:off x="5394960" y="888264"/>
            <a:ext cx="1508760" cy="365760"/>
          </a:xfrm>
          <a:prstGeom prst="rect">
            <a:avLst/>
          </a:prstGeom>
          <a:noFill/>
          <a:ln/>
        </p:spPr>
        <p:txBody>
          <a:bodyPr wrap="square" lIns="0" tIns="0" rIns="0" bIns="0" rtlCol="0" anchor="ctr"/>
          <a:lstStyle/>
          <a:p>
            <a:pPr marL="0" indent="0" algn="ctr">
              <a:buNone/>
            </a:pPr>
            <a:r>
              <a:rPr lang="en-US" sz="950" b="1" dirty="0">
                <a:solidFill>
                  <a:srgbClr val="0B1628"/>
                </a:solidFill>
                <a:latin typeface="Calibri" pitchFamily="34" charset="0"/>
                <a:ea typeface="Calibri" pitchFamily="34" charset="-122"/>
                <a:cs typeface="Calibri" pitchFamily="34" charset="-120"/>
              </a:rPr>
              <a:t>DT Training</a:t>
            </a:r>
            <a:endParaRPr lang="en-US" sz="950" dirty="0"/>
          </a:p>
        </p:txBody>
      </p:sp>
      <p:sp>
        <p:nvSpPr>
          <p:cNvPr id="14" name="Shape 12"/>
          <p:cNvSpPr/>
          <p:nvPr/>
        </p:nvSpPr>
        <p:spPr>
          <a:xfrm>
            <a:off x="6949440" y="888264"/>
            <a:ext cx="1600200" cy="365760"/>
          </a:xfrm>
          <a:prstGeom prst="rect">
            <a:avLst/>
          </a:prstGeom>
          <a:solidFill>
            <a:srgbClr val="F5A623"/>
          </a:solidFill>
          <a:ln/>
        </p:spPr>
        <p:txBody>
          <a:bodyPr/>
          <a:lstStyle/>
          <a:p>
            <a:endParaRPr lang="en-US"/>
          </a:p>
        </p:txBody>
      </p:sp>
      <p:sp>
        <p:nvSpPr>
          <p:cNvPr id="15" name="Text 13"/>
          <p:cNvSpPr/>
          <p:nvPr/>
        </p:nvSpPr>
        <p:spPr>
          <a:xfrm>
            <a:off x="6995160" y="888264"/>
            <a:ext cx="1508760" cy="365760"/>
          </a:xfrm>
          <a:prstGeom prst="rect">
            <a:avLst/>
          </a:prstGeom>
          <a:noFill/>
          <a:ln/>
        </p:spPr>
        <p:txBody>
          <a:bodyPr wrap="square" lIns="0" tIns="0" rIns="0" bIns="0" rtlCol="0" anchor="ctr"/>
          <a:lstStyle/>
          <a:p>
            <a:pPr marL="0" indent="0" algn="ctr">
              <a:buNone/>
            </a:pPr>
            <a:r>
              <a:rPr lang="en-US" sz="950" b="1" dirty="0">
                <a:solidFill>
                  <a:srgbClr val="0B1628"/>
                </a:solidFill>
                <a:latin typeface="Calibri" pitchFamily="34" charset="0"/>
                <a:ea typeface="Calibri" pitchFamily="34" charset="-122"/>
                <a:cs typeface="Calibri" pitchFamily="34" charset="-120"/>
              </a:rPr>
              <a:t>DT Validation</a:t>
            </a:r>
            <a:endParaRPr lang="en-US" sz="950" dirty="0"/>
          </a:p>
        </p:txBody>
      </p:sp>
      <p:sp>
        <p:nvSpPr>
          <p:cNvPr id="16" name="Shape 14"/>
          <p:cNvSpPr/>
          <p:nvPr/>
        </p:nvSpPr>
        <p:spPr>
          <a:xfrm>
            <a:off x="411480" y="1254024"/>
            <a:ext cx="1737360" cy="384048"/>
          </a:xfrm>
          <a:prstGeom prst="rect">
            <a:avLst/>
          </a:prstGeom>
          <a:solidFill>
            <a:srgbClr val="112240"/>
          </a:solidFill>
          <a:ln w="3810">
            <a:solidFill>
              <a:srgbClr val="1A3354"/>
            </a:solidFill>
            <a:prstDash val="solid"/>
          </a:ln>
        </p:spPr>
        <p:txBody>
          <a:bodyPr/>
          <a:lstStyle/>
          <a:p>
            <a:endParaRPr lang="en-US"/>
          </a:p>
        </p:txBody>
      </p:sp>
      <p:sp>
        <p:nvSpPr>
          <p:cNvPr id="17" name="Text 15"/>
          <p:cNvSpPr/>
          <p:nvPr/>
        </p:nvSpPr>
        <p:spPr>
          <a:xfrm>
            <a:off x="457200" y="1254024"/>
            <a:ext cx="1645920" cy="384048"/>
          </a:xfrm>
          <a:prstGeom prst="rect">
            <a:avLst/>
          </a:prstGeom>
          <a:noFill/>
          <a:ln/>
        </p:spPr>
        <p:txBody>
          <a:bodyPr wrap="square" lIns="0" tIns="0" rIns="0" bIns="0" rtlCol="0" anchor="ctr"/>
          <a:lstStyle/>
          <a:p>
            <a:pPr marL="0" indent="0" algn="l">
              <a:buNone/>
            </a:pPr>
            <a:r>
              <a:rPr lang="en-US" sz="1000" dirty="0">
                <a:solidFill>
                  <a:srgbClr val="8BA4BF"/>
                </a:solidFill>
                <a:latin typeface="Calibri" pitchFamily="34" charset="0"/>
                <a:ea typeface="Calibri" pitchFamily="34" charset="-122"/>
                <a:cs typeface="Calibri" pitchFamily="34" charset="-120"/>
              </a:rPr>
              <a:t>ME</a:t>
            </a:r>
            <a:endParaRPr lang="en-US" sz="1000" dirty="0"/>
          </a:p>
        </p:txBody>
      </p:sp>
      <p:sp>
        <p:nvSpPr>
          <p:cNvPr id="18" name="Shape 16"/>
          <p:cNvSpPr/>
          <p:nvPr/>
        </p:nvSpPr>
        <p:spPr>
          <a:xfrm>
            <a:off x="2148840" y="1254024"/>
            <a:ext cx="1600200" cy="384048"/>
          </a:xfrm>
          <a:prstGeom prst="rect">
            <a:avLst/>
          </a:prstGeom>
          <a:solidFill>
            <a:srgbClr val="112240"/>
          </a:solidFill>
          <a:ln w="3810">
            <a:solidFill>
              <a:srgbClr val="1A3354"/>
            </a:solidFill>
            <a:prstDash val="solid"/>
          </a:ln>
        </p:spPr>
        <p:txBody>
          <a:bodyPr/>
          <a:lstStyle/>
          <a:p>
            <a:endParaRPr lang="en-US"/>
          </a:p>
        </p:txBody>
      </p:sp>
      <p:sp>
        <p:nvSpPr>
          <p:cNvPr id="19" name="Text 17"/>
          <p:cNvSpPr/>
          <p:nvPr/>
        </p:nvSpPr>
        <p:spPr>
          <a:xfrm>
            <a:off x="2194560" y="1254024"/>
            <a:ext cx="1508760" cy="38404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0.00</a:t>
            </a:r>
            <a:endParaRPr lang="en-US" sz="1000" dirty="0"/>
          </a:p>
        </p:txBody>
      </p:sp>
      <p:sp>
        <p:nvSpPr>
          <p:cNvPr id="20" name="Shape 18"/>
          <p:cNvSpPr/>
          <p:nvPr/>
        </p:nvSpPr>
        <p:spPr>
          <a:xfrm>
            <a:off x="3749040" y="1254024"/>
            <a:ext cx="1600200" cy="384048"/>
          </a:xfrm>
          <a:prstGeom prst="rect">
            <a:avLst/>
          </a:prstGeom>
          <a:solidFill>
            <a:srgbClr val="112240"/>
          </a:solidFill>
          <a:ln w="3810">
            <a:solidFill>
              <a:srgbClr val="1A3354"/>
            </a:solidFill>
            <a:prstDash val="solid"/>
          </a:ln>
        </p:spPr>
        <p:txBody>
          <a:bodyPr/>
          <a:lstStyle/>
          <a:p>
            <a:endParaRPr lang="en-US"/>
          </a:p>
        </p:txBody>
      </p:sp>
      <p:sp>
        <p:nvSpPr>
          <p:cNvPr id="21" name="Text 19"/>
          <p:cNvSpPr/>
          <p:nvPr/>
        </p:nvSpPr>
        <p:spPr>
          <a:xfrm>
            <a:off x="3794760" y="1254024"/>
            <a:ext cx="1508760" cy="38404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0.00</a:t>
            </a:r>
            <a:endParaRPr lang="en-US" sz="1000" dirty="0"/>
          </a:p>
        </p:txBody>
      </p:sp>
      <p:sp>
        <p:nvSpPr>
          <p:cNvPr id="22" name="Shape 20"/>
          <p:cNvSpPr/>
          <p:nvPr/>
        </p:nvSpPr>
        <p:spPr>
          <a:xfrm>
            <a:off x="5349240" y="1254024"/>
            <a:ext cx="1600200" cy="384048"/>
          </a:xfrm>
          <a:prstGeom prst="rect">
            <a:avLst/>
          </a:prstGeom>
          <a:solidFill>
            <a:srgbClr val="112240"/>
          </a:solidFill>
          <a:ln w="3810">
            <a:solidFill>
              <a:srgbClr val="1A3354"/>
            </a:solidFill>
            <a:prstDash val="solid"/>
          </a:ln>
        </p:spPr>
        <p:txBody>
          <a:bodyPr/>
          <a:lstStyle/>
          <a:p>
            <a:endParaRPr lang="en-US"/>
          </a:p>
        </p:txBody>
      </p:sp>
      <p:sp>
        <p:nvSpPr>
          <p:cNvPr id="23" name="Text 21"/>
          <p:cNvSpPr/>
          <p:nvPr/>
        </p:nvSpPr>
        <p:spPr>
          <a:xfrm>
            <a:off x="5394960" y="1254024"/>
            <a:ext cx="1508760" cy="38404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0.00</a:t>
            </a:r>
            <a:endParaRPr lang="en-US" sz="1000" dirty="0"/>
          </a:p>
        </p:txBody>
      </p:sp>
      <p:sp>
        <p:nvSpPr>
          <p:cNvPr id="24" name="Shape 22"/>
          <p:cNvSpPr/>
          <p:nvPr/>
        </p:nvSpPr>
        <p:spPr>
          <a:xfrm>
            <a:off x="6949440" y="1254024"/>
            <a:ext cx="1600200" cy="384048"/>
          </a:xfrm>
          <a:prstGeom prst="rect">
            <a:avLst/>
          </a:prstGeom>
          <a:solidFill>
            <a:srgbClr val="112240"/>
          </a:solidFill>
          <a:ln w="3810">
            <a:solidFill>
              <a:srgbClr val="1A3354"/>
            </a:solidFill>
            <a:prstDash val="solid"/>
          </a:ln>
        </p:spPr>
        <p:txBody>
          <a:bodyPr/>
          <a:lstStyle/>
          <a:p>
            <a:endParaRPr lang="en-US"/>
          </a:p>
        </p:txBody>
      </p:sp>
      <p:sp>
        <p:nvSpPr>
          <p:cNvPr id="25" name="Text 23"/>
          <p:cNvSpPr/>
          <p:nvPr/>
        </p:nvSpPr>
        <p:spPr>
          <a:xfrm>
            <a:off x="6995160" y="1254024"/>
            <a:ext cx="1508760" cy="38404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0.00</a:t>
            </a:r>
            <a:endParaRPr lang="en-US" sz="1000" dirty="0"/>
          </a:p>
        </p:txBody>
      </p:sp>
      <p:sp>
        <p:nvSpPr>
          <p:cNvPr id="26" name="Shape 24"/>
          <p:cNvSpPr/>
          <p:nvPr/>
        </p:nvSpPr>
        <p:spPr>
          <a:xfrm>
            <a:off x="411480" y="1638072"/>
            <a:ext cx="1737360" cy="384048"/>
          </a:xfrm>
          <a:prstGeom prst="rect">
            <a:avLst/>
          </a:prstGeom>
          <a:solidFill>
            <a:srgbClr val="1A3354"/>
          </a:solidFill>
          <a:ln w="3810">
            <a:solidFill>
              <a:srgbClr val="1A3354"/>
            </a:solidFill>
            <a:prstDash val="solid"/>
          </a:ln>
        </p:spPr>
        <p:txBody>
          <a:bodyPr/>
          <a:lstStyle/>
          <a:p>
            <a:endParaRPr lang="en-US"/>
          </a:p>
        </p:txBody>
      </p:sp>
      <p:sp>
        <p:nvSpPr>
          <p:cNvPr id="27" name="Text 25"/>
          <p:cNvSpPr/>
          <p:nvPr/>
        </p:nvSpPr>
        <p:spPr>
          <a:xfrm>
            <a:off x="457200" y="1638072"/>
            <a:ext cx="1645920" cy="384048"/>
          </a:xfrm>
          <a:prstGeom prst="rect">
            <a:avLst/>
          </a:prstGeom>
          <a:noFill/>
          <a:ln/>
        </p:spPr>
        <p:txBody>
          <a:bodyPr wrap="square" lIns="0" tIns="0" rIns="0" bIns="0" rtlCol="0" anchor="ctr"/>
          <a:lstStyle/>
          <a:p>
            <a:pPr marL="0" indent="0" algn="l">
              <a:buNone/>
            </a:pPr>
            <a:r>
              <a:rPr lang="en-US" sz="1000" dirty="0">
                <a:solidFill>
                  <a:srgbClr val="8BA4BF"/>
                </a:solidFill>
                <a:latin typeface="Calibri" pitchFamily="34" charset="0"/>
                <a:ea typeface="Calibri" pitchFamily="34" charset="-122"/>
                <a:cs typeface="Calibri" pitchFamily="34" charset="-120"/>
              </a:rPr>
              <a:t>MAE</a:t>
            </a:r>
            <a:endParaRPr lang="en-US" sz="1000" dirty="0"/>
          </a:p>
        </p:txBody>
      </p:sp>
      <p:sp>
        <p:nvSpPr>
          <p:cNvPr id="28" name="Shape 26"/>
          <p:cNvSpPr/>
          <p:nvPr/>
        </p:nvSpPr>
        <p:spPr>
          <a:xfrm>
            <a:off x="2148840" y="1638072"/>
            <a:ext cx="1600200" cy="384048"/>
          </a:xfrm>
          <a:prstGeom prst="rect">
            <a:avLst/>
          </a:prstGeom>
          <a:solidFill>
            <a:srgbClr val="1A3354"/>
          </a:solidFill>
          <a:ln w="3810">
            <a:solidFill>
              <a:srgbClr val="1A3354"/>
            </a:solidFill>
            <a:prstDash val="solid"/>
          </a:ln>
        </p:spPr>
        <p:txBody>
          <a:bodyPr/>
          <a:lstStyle/>
          <a:p>
            <a:endParaRPr lang="en-US"/>
          </a:p>
        </p:txBody>
      </p:sp>
      <p:sp>
        <p:nvSpPr>
          <p:cNvPr id="29" name="Text 27"/>
          <p:cNvSpPr/>
          <p:nvPr/>
        </p:nvSpPr>
        <p:spPr>
          <a:xfrm>
            <a:off x="2194560" y="1638072"/>
            <a:ext cx="1508760" cy="38404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0.1499</a:t>
            </a:r>
            <a:endParaRPr lang="en-US" sz="1000" dirty="0"/>
          </a:p>
        </p:txBody>
      </p:sp>
      <p:sp>
        <p:nvSpPr>
          <p:cNvPr id="30" name="Shape 28"/>
          <p:cNvSpPr/>
          <p:nvPr/>
        </p:nvSpPr>
        <p:spPr>
          <a:xfrm>
            <a:off x="3749040" y="1638072"/>
            <a:ext cx="1600200" cy="384048"/>
          </a:xfrm>
          <a:prstGeom prst="rect">
            <a:avLst/>
          </a:prstGeom>
          <a:solidFill>
            <a:srgbClr val="1A3354"/>
          </a:solidFill>
          <a:ln w="3810">
            <a:solidFill>
              <a:srgbClr val="1A3354"/>
            </a:solidFill>
            <a:prstDash val="solid"/>
          </a:ln>
        </p:spPr>
        <p:txBody>
          <a:bodyPr/>
          <a:lstStyle/>
          <a:p>
            <a:endParaRPr lang="en-US"/>
          </a:p>
        </p:txBody>
      </p:sp>
      <p:sp>
        <p:nvSpPr>
          <p:cNvPr id="31" name="Text 29"/>
          <p:cNvSpPr/>
          <p:nvPr/>
        </p:nvSpPr>
        <p:spPr>
          <a:xfrm>
            <a:off x="3794760" y="1638072"/>
            <a:ext cx="1508760" cy="38404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0.1505</a:t>
            </a:r>
            <a:endParaRPr lang="en-US" sz="1000" dirty="0"/>
          </a:p>
        </p:txBody>
      </p:sp>
      <p:sp>
        <p:nvSpPr>
          <p:cNvPr id="32" name="Shape 30"/>
          <p:cNvSpPr/>
          <p:nvPr/>
        </p:nvSpPr>
        <p:spPr>
          <a:xfrm>
            <a:off x="5349240" y="1638072"/>
            <a:ext cx="1600200" cy="384048"/>
          </a:xfrm>
          <a:prstGeom prst="rect">
            <a:avLst/>
          </a:prstGeom>
          <a:solidFill>
            <a:srgbClr val="1A3354"/>
          </a:solidFill>
          <a:ln w="3810">
            <a:solidFill>
              <a:srgbClr val="1A3354"/>
            </a:solidFill>
            <a:prstDash val="solid"/>
          </a:ln>
        </p:spPr>
        <p:txBody>
          <a:bodyPr/>
          <a:lstStyle/>
          <a:p>
            <a:endParaRPr lang="en-US"/>
          </a:p>
        </p:txBody>
      </p:sp>
      <p:sp>
        <p:nvSpPr>
          <p:cNvPr id="33" name="Text 31"/>
          <p:cNvSpPr/>
          <p:nvPr/>
        </p:nvSpPr>
        <p:spPr>
          <a:xfrm>
            <a:off x="5394960" y="1638072"/>
            <a:ext cx="1508760" cy="38404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0.1403</a:t>
            </a:r>
            <a:endParaRPr lang="en-US" sz="1000" dirty="0"/>
          </a:p>
        </p:txBody>
      </p:sp>
      <p:sp>
        <p:nvSpPr>
          <p:cNvPr id="34" name="Shape 32"/>
          <p:cNvSpPr/>
          <p:nvPr/>
        </p:nvSpPr>
        <p:spPr>
          <a:xfrm>
            <a:off x="6949440" y="1638072"/>
            <a:ext cx="1600200" cy="384048"/>
          </a:xfrm>
          <a:prstGeom prst="rect">
            <a:avLst/>
          </a:prstGeom>
          <a:solidFill>
            <a:srgbClr val="1A3354"/>
          </a:solidFill>
          <a:ln w="3810">
            <a:solidFill>
              <a:srgbClr val="1A3354"/>
            </a:solidFill>
            <a:prstDash val="solid"/>
          </a:ln>
        </p:spPr>
        <p:txBody>
          <a:bodyPr/>
          <a:lstStyle/>
          <a:p>
            <a:endParaRPr lang="en-US"/>
          </a:p>
        </p:txBody>
      </p:sp>
      <p:sp>
        <p:nvSpPr>
          <p:cNvPr id="35" name="Text 33"/>
          <p:cNvSpPr/>
          <p:nvPr/>
        </p:nvSpPr>
        <p:spPr>
          <a:xfrm>
            <a:off x="6995160" y="1638072"/>
            <a:ext cx="1508760" cy="38404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0.1416</a:t>
            </a:r>
            <a:endParaRPr lang="en-US" sz="1000" dirty="0"/>
          </a:p>
        </p:txBody>
      </p:sp>
      <p:sp>
        <p:nvSpPr>
          <p:cNvPr id="36" name="Shape 34"/>
          <p:cNvSpPr/>
          <p:nvPr/>
        </p:nvSpPr>
        <p:spPr>
          <a:xfrm>
            <a:off x="411480" y="2022120"/>
            <a:ext cx="1737360" cy="384048"/>
          </a:xfrm>
          <a:prstGeom prst="rect">
            <a:avLst/>
          </a:prstGeom>
          <a:solidFill>
            <a:srgbClr val="112240"/>
          </a:solidFill>
          <a:ln w="3810">
            <a:solidFill>
              <a:srgbClr val="1A3354"/>
            </a:solidFill>
            <a:prstDash val="solid"/>
          </a:ln>
        </p:spPr>
        <p:txBody>
          <a:bodyPr/>
          <a:lstStyle/>
          <a:p>
            <a:endParaRPr lang="en-US"/>
          </a:p>
        </p:txBody>
      </p:sp>
      <p:sp>
        <p:nvSpPr>
          <p:cNvPr id="37" name="Text 35"/>
          <p:cNvSpPr/>
          <p:nvPr/>
        </p:nvSpPr>
        <p:spPr>
          <a:xfrm>
            <a:off x="457200" y="2022120"/>
            <a:ext cx="1645920" cy="384048"/>
          </a:xfrm>
          <a:prstGeom prst="rect">
            <a:avLst/>
          </a:prstGeom>
          <a:noFill/>
          <a:ln/>
        </p:spPr>
        <p:txBody>
          <a:bodyPr wrap="square" lIns="0" tIns="0" rIns="0" bIns="0" rtlCol="0" anchor="ctr"/>
          <a:lstStyle/>
          <a:p>
            <a:pPr marL="0" indent="0" algn="l">
              <a:buNone/>
            </a:pPr>
            <a:r>
              <a:rPr lang="en-US" sz="1000" dirty="0">
                <a:solidFill>
                  <a:srgbClr val="8BA4BF"/>
                </a:solidFill>
                <a:latin typeface="Calibri" pitchFamily="34" charset="0"/>
                <a:ea typeface="Calibri" pitchFamily="34" charset="-122"/>
                <a:cs typeface="Calibri" pitchFamily="34" charset="-120"/>
              </a:rPr>
              <a:t>MSE</a:t>
            </a:r>
            <a:endParaRPr lang="en-US" sz="1000" dirty="0"/>
          </a:p>
        </p:txBody>
      </p:sp>
      <p:sp>
        <p:nvSpPr>
          <p:cNvPr id="38" name="Shape 36"/>
          <p:cNvSpPr/>
          <p:nvPr/>
        </p:nvSpPr>
        <p:spPr>
          <a:xfrm>
            <a:off x="2148840" y="2022120"/>
            <a:ext cx="1600200" cy="384048"/>
          </a:xfrm>
          <a:prstGeom prst="rect">
            <a:avLst/>
          </a:prstGeom>
          <a:solidFill>
            <a:srgbClr val="112240"/>
          </a:solidFill>
          <a:ln w="3810">
            <a:solidFill>
              <a:srgbClr val="1A3354"/>
            </a:solidFill>
            <a:prstDash val="solid"/>
          </a:ln>
        </p:spPr>
        <p:txBody>
          <a:bodyPr/>
          <a:lstStyle/>
          <a:p>
            <a:endParaRPr lang="en-US"/>
          </a:p>
        </p:txBody>
      </p:sp>
      <p:sp>
        <p:nvSpPr>
          <p:cNvPr id="39" name="Text 37"/>
          <p:cNvSpPr/>
          <p:nvPr/>
        </p:nvSpPr>
        <p:spPr>
          <a:xfrm>
            <a:off x="2194560" y="2022120"/>
            <a:ext cx="1508760" cy="38404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0.1092</a:t>
            </a:r>
            <a:endParaRPr lang="en-US" sz="1000" dirty="0"/>
          </a:p>
        </p:txBody>
      </p:sp>
      <p:sp>
        <p:nvSpPr>
          <p:cNvPr id="40" name="Shape 38"/>
          <p:cNvSpPr/>
          <p:nvPr/>
        </p:nvSpPr>
        <p:spPr>
          <a:xfrm>
            <a:off x="3749040" y="2022120"/>
            <a:ext cx="1600200" cy="384048"/>
          </a:xfrm>
          <a:prstGeom prst="rect">
            <a:avLst/>
          </a:prstGeom>
          <a:solidFill>
            <a:srgbClr val="112240"/>
          </a:solidFill>
          <a:ln w="3810">
            <a:solidFill>
              <a:srgbClr val="1A3354"/>
            </a:solidFill>
            <a:prstDash val="solid"/>
          </a:ln>
        </p:spPr>
        <p:txBody>
          <a:bodyPr/>
          <a:lstStyle/>
          <a:p>
            <a:endParaRPr lang="en-US"/>
          </a:p>
        </p:txBody>
      </p:sp>
      <p:sp>
        <p:nvSpPr>
          <p:cNvPr id="41" name="Text 39"/>
          <p:cNvSpPr/>
          <p:nvPr/>
        </p:nvSpPr>
        <p:spPr>
          <a:xfrm>
            <a:off x="3794760" y="2022120"/>
            <a:ext cx="1508760" cy="38404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0.1202</a:t>
            </a:r>
            <a:endParaRPr lang="en-US" sz="1000" dirty="0"/>
          </a:p>
        </p:txBody>
      </p:sp>
      <p:sp>
        <p:nvSpPr>
          <p:cNvPr id="42" name="Shape 40"/>
          <p:cNvSpPr/>
          <p:nvPr/>
        </p:nvSpPr>
        <p:spPr>
          <a:xfrm>
            <a:off x="5349240" y="2022120"/>
            <a:ext cx="1600200" cy="384048"/>
          </a:xfrm>
          <a:prstGeom prst="rect">
            <a:avLst/>
          </a:prstGeom>
          <a:solidFill>
            <a:srgbClr val="112240"/>
          </a:solidFill>
          <a:ln w="3810">
            <a:solidFill>
              <a:srgbClr val="1A3354"/>
            </a:solidFill>
            <a:prstDash val="solid"/>
          </a:ln>
        </p:spPr>
        <p:txBody>
          <a:bodyPr/>
          <a:lstStyle/>
          <a:p>
            <a:endParaRPr lang="en-US"/>
          </a:p>
        </p:txBody>
      </p:sp>
      <p:sp>
        <p:nvSpPr>
          <p:cNvPr id="43" name="Text 41"/>
          <p:cNvSpPr/>
          <p:nvPr/>
        </p:nvSpPr>
        <p:spPr>
          <a:xfrm>
            <a:off x="5394960" y="2022120"/>
            <a:ext cx="1508760" cy="38404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0.1066</a:t>
            </a:r>
            <a:endParaRPr lang="en-US" sz="1000" dirty="0"/>
          </a:p>
        </p:txBody>
      </p:sp>
      <p:sp>
        <p:nvSpPr>
          <p:cNvPr id="44" name="Shape 42"/>
          <p:cNvSpPr/>
          <p:nvPr/>
        </p:nvSpPr>
        <p:spPr>
          <a:xfrm>
            <a:off x="6949440" y="2022120"/>
            <a:ext cx="1600200" cy="384048"/>
          </a:xfrm>
          <a:prstGeom prst="rect">
            <a:avLst/>
          </a:prstGeom>
          <a:solidFill>
            <a:srgbClr val="112240"/>
          </a:solidFill>
          <a:ln w="3810">
            <a:solidFill>
              <a:srgbClr val="1A3354"/>
            </a:solidFill>
            <a:prstDash val="solid"/>
          </a:ln>
        </p:spPr>
        <p:txBody>
          <a:bodyPr/>
          <a:lstStyle/>
          <a:p>
            <a:endParaRPr lang="en-US"/>
          </a:p>
        </p:txBody>
      </p:sp>
      <p:sp>
        <p:nvSpPr>
          <p:cNvPr id="45" name="Text 43"/>
          <p:cNvSpPr/>
          <p:nvPr/>
        </p:nvSpPr>
        <p:spPr>
          <a:xfrm>
            <a:off x="6995160" y="2022120"/>
            <a:ext cx="1508760" cy="38404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0.1195</a:t>
            </a:r>
            <a:endParaRPr lang="en-US" sz="1000" dirty="0"/>
          </a:p>
        </p:txBody>
      </p:sp>
      <p:sp>
        <p:nvSpPr>
          <p:cNvPr id="46" name="Shape 44"/>
          <p:cNvSpPr/>
          <p:nvPr/>
        </p:nvSpPr>
        <p:spPr>
          <a:xfrm>
            <a:off x="411480" y="2406168"/>
            <a:ext cx="1737360" cy="384048"/>
          </a:xfrm>
          <a:prstGeom prst="rect">
            <a:avLst/>
          </a:prstGeom>
          <a:solidFill>
            <a:srgbClr val="1A3354"/>
          </a:solidFill>
          <a:ln w="3810">
            <a:solidFill>
              <a:srgbClr val="1A3354"/>
            </a:solidFill>
            <a:prstDash val="solid"/>
          </a:ln>
        </p:spPr>
        <p:txBody>
          <a:bodyPr/>
          <a:lstStyle/>
          <a:p>
            <a:endParaRPr lang="en-US"/>
          </a:p>
        </p:txBody>
      </p:sp>
      <p:sp>
        <p:nvSpPr>
          <p:cNvPr id="47" name="Text 45"/>
          <p:cNvSpPr/>
          <p:nvPr/>
        </p:nvSpPr>
        <p:spPr>
          <a:xfrm>
            <a:off x="457200" y="2406168"/>
            <a:ext cx="1645920" cy="384048"/>
          </a:xfrm>
          <a:prstGeom prst="rect">
            <a:avLst/>
          </a:prstGeom>
          <a:noFill/>
          <a:ln/>
        </p:spPr>
        <p:txBody>
          <a:bodyPr wrap="square" lIns="0" tIns="0" rIns="0" bIns="0" rtlCol="0" anchor="ctr"/>
          <a:lstStyle/>
          <a:p>
            <a:pPr marL="0" indent="0" algn="l">
              <a:buNone/>
            </a:pPr>
            <a:r>
              <a:rPr lang="en-US" sz="1100" b="1" dirty="0">
                <a:solidFill>
                  <a:srgbClr val="8BA4BF"/>
                </a:solidFill>
                <a:latin typeface="Calibri" pitchFamily="34" charset="0"/>
                <a:ea typeface="Calibri" pitchFamily="34" charset="-122"/>
                <a:cs typeface="Calibri" pitchFamily="34" charset="-120"/>
              </a:rPr>
              <a:t>RMSE ★</a:t>
            </a:r>
            <a:endParaRPr lang="en-US" sz="1100" dirty="0"/>
          </a:p>
        </p:txBody>
      </p:sp>
      <p:sp>
        <p:nvSpPr>
          <p:cNvPr id="48" name="Shape 46"/>
          <p:cNvSpPr/>
          <p:nvPr/>
        </p:nvSpPr>
        <p:spPr>
          <a:xfrm>
            <a:off x="2148840" y="2406168"/>
            <a:ext cx="1600200" cy="384048"/>
          </a:xfrm>
          <a:prstGeom prst="rect">
            <a:avLst/>
          </a:prstGeom>
          <a:solidFill>
            <a:srgbClr val="1A3A4A"/>
          </a:solidFill>
          <a:ln w="3810">
            <a:solidFill>
              <a:srgbClr val="1A3354"/>
            </a:solidFill>
            <a:prstDash val="solid"/>
          </a:ln>
        </p:spPr>
        <p:txBody>
          <a:bodyPr/>
          <a:lstStyle/>
          <a:p>
            <a:endParaRPr lang="en-US"/>
          </a:p>
        </p:txBody>
      </p:sp>
      <p:sp>
        <p:nvSpPr>
          <p:cNvPr id="49" name="Text 47"/>
          <p:cNvSpPr/>
          <p:nvPr/>
        </p:nvSpPr>
        <p:spPr>
          <a:xfrm>
            <a:off x="2194560" y="2406168"/>
            <a:ext cx="1508760" cy="384048"/>
          </a:xfrm>
          <a:prstGeom prst="rect">
            <a:avLst/>
          </a:prstGeom>
          <a:noFill/>
          <a:ln/>
        </p:spPr>
        <p:txBody>
          <a:bodyPr wrap="square" lIns="0" tIns="0" rIns="0" bIns="0" rtlCol="0" anchor="ctr"/>
          <a:lstStyle/>
          <a:p>
            <a:pPr marL="0" indent="0" algn="ctr">
              <a:buNone/>
            </a:pPr>
            <a:r>
              <a:rPr lang="en-US" sz="1100" b="1" dirty="0">
                <a:solidFill>
                  <a:srgbClr val="00C2A8"/>
                </a:solidFill>
                <a:latin typeface="Calibri" pitchFamily="34" charset="0"/>
                <a:ea typeface="Calibri" pitchFamily="34" charset="-122"/>
                <a:cs typeface="Calibri" pitchFamily="34" charset="-120"/>
              </a:rPr>
              <a:t>0.3305</a:t>
            </a:r>
            <a:endParaRPr lang="en-US" sz="1100" dirty="0"/>
          </a:p>
        </p:txBody>
      </p:sp>
      <p:sp>
        <p:nvSpPr>
          <p:cNvPr id="50" name="Shape 48"/>
          <p:cNvSpPr/>
          <p:nvPr/>
        </p:nvSpPr>
        <p:spPr>
          <a:xfrm>
            <a:off x="3749040" y="2406168"/>
            <a:ext cx="1600200" cy="384048"/>
          </a:xfrm>
          <a:prstGeom prst="rect">
            <a:avLst/>
          </a:prstGeom>
          <a:solidFill>
            <a:srgbClr val="1A3A4A"/>
          </a:solidFill>
          <a:ln w="3810">
            <a:solidFill>
              <a:srgbClr val="1A3354"/>
            </a:solidFill>
            <a:prstDash val="solid"/>
          </a:ln>
        </p:spPr>
        <p:txBody>
          <a:bodyPr/>
          <a:lstStyle/>
          <a:p>
            <a:endParaRPr lang="en-US"/>
          </a:p>
        </p:txBody>
      </p:sp>
      <p:sp>
        <p:nvSpPr>
          <p:cNvPr id="51" name="Text 49"/>
          <p:cNvSpPr/>
          <p:nvPr/>
        </p:nvSpPr>
        <p:spPr>
          <a:xfrm>
            <a:off x="3794760" y="2406168"/>
            <a:ext cx="1508760" cy="384048"/>
          </a:xfrm>
          <a:prstGeom prst="rect">
            <a:avLst/>
          </a:prstGeom>
          <a:noFill/>
          <a:ln/>
        </p:spPr>
        <p:txBody>
          <a:bodyPr wrap="square" lIns="0" tIns="0" rIns="0" bIns="0" rtlCol="0" anchor="ctr"/>
          <a:lstStyle/>
          <a:p>
            <a:pPr marL="0" indent="0" algn="ctr">
              <a:buNone/>
            </a:pPr>
            <a:r>
              <a:rPr lang="en-US" sz="1100" b="1" dirty="0">
                <a:solidFill>
                  <a:srgbClr val="00C2A8"/>
                </a:solidFill>
                <a:latin typeface="Calibri" pitchFamily="34" charset="0"/>
                <a:ea typeface="Calibri" pitchFamily="34" charset="-122"/>
                <a:cs typeface="Calibri" pitchFamily="34" charset="-120"/>
              </a:rPr>
              <a:t>0.3467</a:t>
            </a:r>
            <a:endParaRPr lang="en-US" sz="1100" dirty="0"/>
          </a:p>
        </p:txBody>
      </p:sp>
      <p:sp>
        <p:nvSpPr>
          <p:cNvPr id="52" name="Shape 50"/>
          <p:cNvSpPr/>
          <p:nvPr/>
        </p:nvSpPr>
        <p:spPr>
          <a:xfrm>
            <a:off x="5349240" y="2406168"/>
            <a:ext cx="1600200" cy="384048"/>
          </a:xfrm>
          <a:prstGeom prst="rect">
            <a:avLst/>
          </a:prstGeom>
          <a:solidFill>
            <a:srgbClr val="2A3520"/>
          </a:solidFill>
          <a:ln w="3810">
            <a:solidFill>
              <a:srgbClr val="1A3354"/>
            </a:solidFill>
            <a:prstDash val="solid"/>
          </a:ln>
        </p:spPr>
        <p:txBody>
          <a:bodyPr/>
          <a:lstStyle/>
          <a:p>
            <a:endParaRPr lang="en-US"/>
          </a:p>
        </p:txBody>
      </p:sp>
      <p:sp>
        <p:nvSpPr>
          <p:cNvPr id="53" name="Text 51"/>
          <p:cNvSpPr/>
          <p:nvPr/>
        </p:nvSpPr>
        <p:spPr>
          <a:xfrm>
            <a:off x="5394960" y="2406168"/>
            <a:ext cx="1508760" cy="384048"/>
          </a:xfrm>
          <a:prstGeom prst="rect">
            <a:avLst/>
          </a:prstGeom>
          <a:noFill/>
          <a:ln/>
        </p:spPr>
        <p:txBody>
          <a:bodyPr wrap="square" lIns="0" tIns="0" rIns="0" bIns="0" rtlCol="0" anchor="ctr"/>
          <a:lstStyle/>
          <a:p>
            <a:pPr marL="0" indent="0" algn="ctr">
              <a:buNone/>
            </a:pPr>
            <a:r>
              <a:rPr lang="en-US" sz="1100" b="1" dirty="0">
                <a:solidFill>
                  <a:srgbClr val="F5A623"/>
                </a:solidFill>
                <a:latin typeface="Calibri" pitchFamily="34" charset="0"/>
                <a:ea typeface="Calibri" pitchFamily="34" charset="-122"/>
                <a:cs typeface="Calibri" pitchFamily="34" charset="-120"/>
              </a:rPr>
              <a:t>0.3265</a:t>
            </a:r>
            <a:endParaRPr lang="en-US" sz="1100" dirty="0"/>
          </a:p>
        </p:txBody>
      </p:sp>
      <p:sp>
        <p:nvSpPr>
          <p:cNvPr id="54" name="Shape 52"/>
          <p:cNvSpPr/>
          <p:nvPr/>
        </p:nvSpPr>
        <p:spPr>
          <a:xfrm>
            <a:off x="6949440" y="2406168"/>
            <a:ext cx="1600200" cy="384048"/>
          </a:xfrm>
          <a:prstGeom prst="rect">
            <a:avLst/>
          </a:prstGeom>
          <a:solidFill>
            <a:srgbClr val="2A3520"/>
          </a:solidFill>
          <a:ln w="3810">
            <a:solidFill>
              <a:srgbClr val="1A3354"/>
            </a:solidFill>
            <a:prstDash val="solid"/>
          </a:ln>
        </p:spPr>
        <p:txBody>
          <a:bodyPr/>
          <a:lstStyle/>
          <a:p>
            <a:endParaRPr lang="en-US"/>
          </a:p>
        </p:txBody>
      </p:sp>
      <p:sp>
        <p:nvSpPr>
          <p:cNvPr id="55" name="Text 53"/>
          <p:cNvSpPr/>
          <p:nvPr/>
        </p:nvSpPr>
        <p:spPr>
          <a:xfrm>
            <a:off x="6995160" y="2406168"/>
            <a:ext cx="1508760" cy="384048"/>
          </a:xfrm>
          <a:prstGeom prst="rect">
            <a:avLst/>
          </a:prstGeom>
          <a:noFill/>
          <a:ln/>
        </p:spPr>
        <p:txBody>
          <a:bodyPr wrap="square" lIns="0" tIns="0" rIns="0" bIns="0" rtlCol="0" anchor="ctr"/>
          <a:lstStyle/>
          <a:p>
            <a:pPr marL="0" indent="0" algn="ctr">
              <a:buNone/>
            </a:pPr>
            <a:r>
              <a:rPr lang="en-US" sz="1100" b="1" dirty="0">
                <a:solidFill>
                  <a:srgbClr val="F5A623"/>
                </a:solidFill>
                <a:latin typeface="Calibri" pitchFamily="34" charset="0"/>
                <a:ea typeface="Calibri" pitchFamily="34" charset="-122"/>
                <a:cs typeface="Calibri" pitchFamily="34" charset="-120"/>
              </a:rPr>
              <a:t>0.3457</a:t>
            </a:r>
            <a:endParaRPr lang="en-US" sz="1100" dirty="0"/>
          </a:p>
        </p:txBody>
      </p:sp>
      <p:sp>
        <p:nvSpPr>
          <p:cNvPr id="56" name="Shape 54"/>
          <p:cNvSpPr/>
          <p:nvPr/>
        </p:nvSpPr>
        <p:spPr>
          <a:xfrm>
            <a:off x="411480" y="2790216"/>
            <a:ext cx="1737360" cy="384048"/>
          </a:xfrm>
          <a:prstGeom prst="rect">
            <a:avLst/>
          </a:prstGeom>
          <a:solidFill>
            <a:srgbClr val="112240"/>
          </a:solidFill>
          <a:ln w="3810">
            <a:solidFill>
              <a:srgbClr val="1A3354"/>
            </a:solidFill>
            <a:prstDash val="solid"/>
          </a:ln>
        </p:spPr>
        <p:txBody>
          <a:bodyPr/>
          <a:lstStyle/>
          <a:p>
            <a:endParaRPr lang="en-US"/>
          </a:p>
        </p:txBody>
      </p:sp>
      <p:sp>
        <p:nvSpPr>
          <p:cNvPr id="57" name="Text 55"/>
          <p:cNvSpPr/>
          <p:nvPr/>
        </p:nvSpPr>
        <p:spPr>
          <a:xfrm>
            <a:off x="457200" y="2790216"/>
            <a:ext cx="1645920" cy="384048"/>
          </a:xfrm>
          <a:prstGeom prst="rect">
            <a:avLst/>
          </a:prstGeom>
          <a:noFill/>
          <a:ln/>
        </p:spPr>
        <p:txBody>
          <a:bodyPr wrap="square" lIns="0" tIns="0" rIns="0" bIns="0" rtlCol="0" anchor="ctr"/>
          <a:lstStyle/>
          <a:p>
            <a:pPr marL="0" indent="0" algn="l">
              <a:buNone/>
            </a:pPr>
            <a:r>
              <a:rPr lang="en-US" sz="900" dirty="0">
                <a:solidFill>
                  <a:srgbClr val="8BA4BF"/>
                </a:solidFill>
                <a:latin typeface="Calibri" pitchFamily="34" charset="0"/>
                <a:ea typeface="Calibri" pitchFamily="34" charset="-122"/>
                <a:cs typeface="Calibri" pitchFamily="34" charset="-120"/>
              </a:rPr>
              <a:t>CV RMSE</a:t>
            </a:r>
            <a:endParaRPr lang="en-US" sz="900" dirty="0"/>
          </a:p>
          <a:p>
            <a:pPr marL="0" indent="0" algn="l">
              <a:buNone/>
            </a:pPr>
            <a:r>
              <a:rPr lang="en-US" sz="900" dirty="0">
                <a:solidFill>
                  <a:srgbClr val="8BA4BF"/>
                </a:solidFill>
                <a:latin typeface="Calibri" pitchFamily="34" charset="0"/>
                <a:ea typeface="Calibri" pitchFamily="34" charset="-122"/>
                <a:cs typeface="Calibri" pitchFamily="34" charset="-120"/>
              </a:rPr>
              <a:t>(5-fold)</a:t>
            </a:r>
            <a:endParaRPr lang="en-US" sz="900" dirty="0"/>
          </a:p>
        </p:txBody>
      </p:sp>
      <p:sp>
        <p:nvSpPr>
          <p:cNvPr id="58" name="Shape 56"/>
          <p:cNvSpPr/>
          <p:nvPr/>
        </p:nvSpPr>
        <p:spPr>
          <a:xfrm>
            <a:off x="2148840" y="2790216"/>
            <a:ext cx="3200400" cy="384048"/>
          </a:xfrm>
          <a:prstGeom prst="rect">
            <a:avLst/>
          </a:prstGeom>
          <a:solidFill>
            <a:srgbClr val="112240"/>
          </a:solidFill>
          <a:ln w="3810">
            <a:solidFill>
              <a:srgbClr val="1A3354"/>
            </a:solidFill>
            <a:prstDash val="solid"/>
          </a:ln>
        </p:spPr>
        <p:txBody>
          <a:bodyPr/>
          <a:lstStyle/>
          <a:p>
            <a:endParaRPr lang="en-US"/>
          </a:p>
        </p:txBody>
      </p:sp>
      <p:sp>
        <p:nvSpPr>
          <p:cNvPr id="59" name="Text 57"/>
          <p:cNvSpPr/>
          <p:nvPr/>
        </p:nvSpPr>
        <p:spPr>
          <a:xfrm>
            <a:off x="2194560" y="2790216"/>
            <a:ext cx="3108960" cy="384048"/>
          </a:xfrm>
          <a:prstGeom prst="rect">
            <a:avLst/>
          </a:prstGeom>
          <a:noFill/>
          <a:ln/>
        </p:spPr>
        <p:txBody>
          <a:bodyPr wrap="square" lIns="0" tIns="0" rIns="0" bIns="0" rtlCol="0" anchor="ctr"/>
          <a:lstStyle/>
          <a:p>
            <a:pPr marL="0" indent="0" algn="ctr">
              <a:buNone/>
            </a:pPr>
            <a:r>
              <a:rPr lang="en-US" sz="1000" b="1" dirty="0">
                <a:solidFill>
                  <a:srgbClr val="00C2A8"/>
                </a:solidFill>
                <a:latin typeface="Calibri" pitchFamily="34" charset="0"/>
                <a:ea typeface="Calibri" pitchFamily="34" charset="-122"/>
                <a:cs typeface="Calibri" pitchFamily="34" charset="-120"/>
              </a:rPr>
              <a:t>0.3356</a:t>
            </a:r>
            <a:endParaRPr lang="en-US" sz="1000" dirty="0"/>
          </a:p>
        </p:txBody>
      </p:sp>
      <p:sp>
        <p:nvSpPr>
          <p:cNvPr id="60" name="Shape 58"/>
          <p:cNvSpPr/>
          <p:nvPr/>
        </p:nvSpPr>
        <p:spPr>
          <a:xfrm>
            <a:off x="5349240" y="2790216"/>
            <a:ext cx="3200400" cy="384048"/>
          </a:xfrm>
          <a:prstGeom prst="rect">
            <a:avLst/>
          </a:prstGeom>
          <a:solidFill>
            <a:srgbClr val="112240"/>
          </a:solidFill>
          <a:ln w="3810">
            <a:solidFill>
              <a:srgbClr val="1A3354"/>
            </a:solidFill>
            <a:prstDash val="solid"/>
          </a:ln>
        </p:spPr>
        <p:txBody>
          <a:bodyPr/>
          <a:lstStyle/>
          <a:p>
            <a:endParaRPr lang="en-US"/>
          </a:p>
        </p:txBody>
      </p:sp>
      <p:sp>
        <p:nvSpPr>
          <p:cNvPr id="61" name="Text 59"/>
          <p:cNvSpPr/>
          <p:nvPr/>
        </p:nvSpPr>
        <p:spPr>
          <a:xfrm>
            <a:off x="5394960" y="2790216"/>
            <a:ext cx="3108960" cy="384048"/>
          </a:xfrm>
          <a:prstGeom prst="rect">
            <a:avLst/>
          </a:prstGeom>
          <a:noFill/>
          <a:ln/>
        </p:spPr>
        <p:txBody>
          <a:bodyPr wrap="square" lIns="0" tIns="0" rIns="0" bIns="0" rtlCol="0" anchor="ctr"/>
          <a:lstStyle/>
          <a:p>
            <a:pPr marL="0" indent="0" algn="ctr">
              <a:buNone/>
            </a:pPr>
            <a:r>
              <a:rPr lang="en-US" sz="1000" b="1" dirty="0">
                <a:solidFill>
                  <a:srgbClr val="F5A623"/>
                </a:solidFill>
                <a:latin typeface="Calibri" pitchFamily="34" charset="0"/>
                <a:ea typeface="Calibri" pitchFamily="34" charset="-122"/>
                <a:cs typeface="Calibri" pitchFamily="34" charset="-120"/>
              </a:rPr>
              <a:t>0.3400</a:t>
            </a:r>
            <a:endParaRPr lang="en-US" sz="1000" dirty="0"/>
          </a:p>
        </p:txBody>
      </p:sp>
      <p:sp>
        <p:nvSpPr>
          <p:cNvPr id="62" name="Shape 60"/>
          <p:cNvSpPr/>
          <p:nvPr/>
        </p:nvSpPr>
        <p:spPr>
          <a:xfrm>
            <a:off x="411480" y="3293136"/>
            <a:ext cx="2743200" cy="15000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63" name="Shape 61"/>
          <p:cNvSpPr/>
          <p:nvPr/>
        </p:nvSpPr>
        <p:spPr>
          <a:xfrm>
            <a:off x="411480" y="3293136"/>
            <a:ext cx="2743200" cy="45720"/>
          </a:xfrm>
          <a:prstGeom prst="rect">
            <a:avLst/>
          </a:prstGeom>
          <a:solidFill>
            <a:srgbClr val="F5A623"/>
          </a:solidFill>
          <a:ln/>
        </p:spPr>
        <p:txBody>
          <a:bodyPr/>
          <a:lstStyle/>
          <a:p>
            <a:endParaRPr lang="en-US"/>
          </a:p>
        </p:txBody>
      </p:sp>
      <p:sp>
        <p:nvSpPr>
          <p:cNvPr id="64" name="Text 62"/>
          <p:cNvSpPr/>
          <p:nvPr/>
        </p:nvSpPr>
        <p:spPr>
          <a:xfrm>
            <a:off x="521208" y="3338856"/>
            <a:ext cx="2514600" cy="274320"/>
          </a:xfrm>
          <a:prstGeom prst="rect">
            <a:avLst/>
          </a:prstGeom>
          <a:noFill/>
          <a:ln/>
        </p:spPr>
        <p:txBody>
          <a:bodyPr wrap="square" lIns="0" tIns="0" rIns="0" bIns="0" rtlCol="0" anchor="ctr"/>
          <a:lstStyle/>
          <a:p>
            <a:pPr marL="0" indent="0">
              <a:buNone/>
            </a:pPr>
            <a:r>
              <a:rPr lang="en-US" sz="1000" b="1" dirty="0">
                <a:solidFill>
                  <a:srgbClr val="F5A623"/>
                </a:solidFill>
                <a:latin typeface="Calibri" pitchFamily="34" charset="0"/>
                <a:ea typeface="Calibri" pitchFamily="34" charset="-122"/>
                <a:cs typeface="Calibri" pitchFamily="34" charset="-120"/>
              </a:rPr>
              <a:t>🏆  Decision Tree Wins</a:t>
            </a:r>
            <a:endParaRPr lang="en-US" sz="1000" dirty="0"/>
          </a:p>
        </p:txBody>
      </p:sp>
      <p:sp>
        <p:nvSpPr>
          <p:cNvPr id="65" name="Text 63"/>
          <p:cNvSpPr/>
          <p:nvPr/>
        </p:nvSpPr>
        <p:spPr>
          <a:xfrm>
            <a:off x="521208" y="3631064"/>
            <a:ext cx="2514600" cy="1100000"/>
          </a:xfrm>
          <a:prstGeom prst="rect">
            <a:avLst/>
          </a:prstGeom>
          <a:noFill/>
          <a:ln/>
        </p:spPr>
        <p:txBody>
          <a:bodyPr wrap="square" lIns="0" tIns="0" rIns="0" bIns="0" rtlCol="0" anchor="ctr"/>
          <a:lstStyle/>
          <a:p>
            <a:pPr marL="0" indent="0">
              <a:buNone/>
            </a:pPr>
            <a:r>
              <a:rPr lang="en-US" sz="900" dirty="0">
                <a:solidFill>
                  <a:srgbClr val="E8F0F8"/>
                </a:solidFill>
                <a:latin typeface="Calibri" pitchFamily="34" charset="0"/>
                <a:ea typeface="Calibri" pitchFamily="34" charset="-122"/>
                <a:cs typeface="Calibri" pitchFamily="34" charset="-120"/>
              </a:rPr>
              <a:t>Lower RMSE (0.3457 vs 0.3467) and lower MAE (0.1416 vs 0.1505) on the validation set. The 0.001 gap means near-equivalent performance — DT advantage is in capturing non-linear patterns, not raw accuracy alone.</a:t>
            </a:r>
            <a:endParaRPr lang="en-US" sz="900" dirty="0"/>
          </a:p>
        </p:txBody>
      </p:sp>
      <p:sp>
        <p:nvSpPr>
          <p:cNvPr id="66" name="Shape 64"/>
          <p:cNvSpPr/>
          <p:nvPr/>
        </p:nvSpPr>
        <p:spPr>
          <a:xfrm>
            <a:off x="3273552" y="3293136"/>
            <a:ext cx="2743200" cy="15000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67" name="Shape 65"/>
          <p:cNvSpPr/>
          <p:nvPr/>
        </p:nvSpPr>
        <p:spPr>
          <a:xfrm>
            <a:off x="3273552" y="3293136"/>
            <a:ext cx="2743200" cy="45720"/>
          </a:xfrm>
          <a:prstGeom prst="rect">
            <a:avLst/>
          </a:prstGeom>
          <a:solidFill>
            <a:srgbClr val="00C2A8"/>
          </a:solidFill>
          <a:ln/>
        </p:spPr>
        <p:txBody>
          <a:bodyPr/>
          <a:lstStyle/>
          <a:p>
            <a:endParaRPr lang="en-US"/>
          </a:p>
        </p:txBody>
      </p:sp>
      <p:sp>
        <p:nvSpPr>
          <p:cNvPr id="68" name="Text 66"/>
          <p:cNvSpPr/>
          <p:nvPr/>
        </p:nvSpPr>
        <p:spPr>
          <a:xfrm>
            <a:off x="3383280" y="3338856"/>
            <a:ext cx="2514600" cy="274320"/>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  No Overfitting</a:t>
            </a:r>
            <a:endParaRPr lang="en-US" sz="1000" dirty="0"/>
          </a:p>
        </p:txBody>
      </p:sp>
      <p:sp>
        <p:nvSpPr>
          <p:cNvPr id="69" name="Text 67"/>
          <p:cNvSpPr/>
          <p:nvPr/>
        </p:nvSpPr>
        <p:spPr>
          <a:xfrm>
            <a:off x="3383280" y="3631064"/>
            <a:ext cx="2514600" cy="1100000"/>
          </a:xfrm>
          <a:prstGeom prst="rect">
            <a:avLst/>
          </a:prstGeom>
          <a:noFill/>
          <a:ln/>
        </p:spPr>
        <p:txBody>
          <a:bodyPr wrap="square" lIns="0" tIns="0" rIns="0" bIns="0" rtlCol="0" anchor="ctr"/>
          <a:lstStyle/>
          <a:p>
            <a:pPr marL="0" indent="0">
              <a:buNone/>
            </a:pPr>
            <a:r>
              <a:rPr lang="en-US" sz="900" dirty="0">
                <a:solidFill>
                  <a:srgbClr val="E8F0F8"/>
                </a:solidFill>
                <a:latin typeface="Calibri" pitchFamily="34" charset="0"/>
                <a:ea typeface="Calibri" pitchFamily="34" charset="-122"/>
                <a:cs typeface="Calibri" pitchFamily="34" charset="-120"/>
              </a:rPr>
              <a:t>Train vs. validation RMSE gap is under 5% for both models — below the 10% threshold that would signal overfitting. 5-fold CV RMSE confirms stability across data splits.</a:t>
            </a:r>
            <a:endParaRPr lang="en-US" sz="900" dirty="0"/>
          </a:p>
        </p:txBody>
      </p:sp>
      <p:sp>
        <p:nvSpPr>
          <p:cNvPr id="70" name="Shape 68"/>
          <p:cNvSpPr/>
          <p:nvPr/>
        </p:nvSpPr>
        <p:spPr>
          <a:xfrm>
            <a:off x="6135624" y="3293136"/>
            <a:ext cx="2743200" cy="15000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71" name="Shape 69"/>
          <p:cNvSpPr/>
          <p:nvPr/>
        </p:nvSpPr>
        <p:spPr>
          <a:xfrm>
            <a:off x="6135624" y="3293136"/>
            <a:ext cx="2743200" cy="45720"/>
          </a:xfrm>
          <a:prstGeom prst="rect">
            <a:avLst/>
          </a:prstGeom>
          <a:solidFill>
            <a:srgbClr val="00957E"/>
          </a:solidFill>
          <a:ln/>
        </p:spPr>
        <p:txBody>
          <a:bodyPr/>
          <a:lstStyle/>
          <a:p>
            <a:endParaRPr lang="en-US"/>
          </a:p>
        </p:txBody>
      </p:sp>
      <p:sp>
        <p:nvSpPr>
          <p:cNvPr id="72" name="Text 70"/>
          <p:cNvSpPr/>
          <p:nvPr/>
        </p:nvSpPr>
        <p:spPr>
          <a:xfrm>
            <a:off x="6245352" y="3338856"/>
            <a:ext cx="2514600" cy="274320"/>
          </a:xfrm>
          <a:prstGeom prst="rect">
            <a:avLst/>
          </a:prstGeom>
          <a:noFill/>
          <a:ln/>
        </p:spPr>
        <p:txBody>
          <a:bodyPr wrap="square" lIns="0" tIns="0" rIns="0" bIns="0" rtlCol="0" anchor="ctr"/>
          <a:lstStyle/>
          <a:p>
            <a:pPr marL="0" indent="0">
              <a:buNone/>
            </a:pPr>
            <a:r>
              <a:rPr lang="en-US" sz="1000" b="1" dirty="0">
                <a:solidFill>
                  <a:srgbClr val="00957E"/>
                </a:solidFill>
                <a:latin typeface="Calibri" pitchFamily="34" charset="0"/>
                <a:ea typeface="Calibri" pitchFamily="34" charset="-122"/>
                <a:cs typeface="Calibri" pitchFamily="34" charset="-120"/>
              </a:rPr>
              <a:t>📏  RMSE ≈ 0.35</a:t>
            </a:r>
            <a:endParaRPr lang="en-US" sz="1000" dirty="0"/>
          </a:p>
        </p:txBody>
      </p:sp>
      <p:sp>
        <p:nvSpPr>
          <p:cNvPr id="73" name="Text 71"/>
          <p:cNvSpPr/>
          <p:nvPr/>
        </p:nvSpPr>
        <p:spPr>
          <a:xfrm>
            <a:off x="6245352" y="3631064"/>
            <a:ext cx="2514600" cy="1100000"/>
          </a:xfrm>
          <a:prstGeom prst="rect">
            <a:avLst/>
          </a:prstGeom>
          <a:noFill/>
          <a:ln/>
        </p:spPr>
        <p:txBody>
          <a:bodyPr wrap="square" lIns="0" tIns="0" rIns="0" bIns="0" rtlCol="0" anchor="ctr"/>
          <a:lstStyle/>
          <a:p>
            <a:pPr marL="0" indent="0">
              <a:buNone/>
            </a:pPr>
            <a:r>
              <a:rPr lang="en-US" sz="900" dirty="0">
                <a:solidFill>
                  <a:srgbClr val="E8F0F8"/>
                </a:solidFill>
                <a:latin typeface="Calibri" pitchFamily="34" charset="0"/>
                <a:ea typeface="Calibri" pitchFamily="34" charset="-122"/>
                <a:cs typeface="Calibri" pitchFamily="34" charset="-120"/>
              </a:rPr>
              <a:t>Off by ~⅓ of a fatality on average. Useful for risk stratification and policy targeting — not precise enough to replace human judgment on individual crashes.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2A8"/>
          </a:solidFill>
          <a:ln/>
        </p:spPr>
        <p:txBody>
          <a:bodyPr/>
          <a:lstStyle/>
          <a:p>
            <a:endParaRPr lang="en-US"/>
          </a:p>
        </p:txBody>
      </p:sp>
      <p:sp>
        <p:nvSpPr>
          <p:cNvPr id="3" name="Text 1"/>
          <p:cNvSpPr/>
          <p:nvPr/>
        </p:nvSpPr>
        <p:spPr>
          <a:xfrm>
            <a:off x="411480" y="109728"/>
            <a:ext cx="832104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Results — What Drives Fatality Count?</a:t>
            </a:r>
            <a:endParaRPr lang="en-US" sz="2600" dirty="0"/>
          </a:p>
        </p:txBody>
      </p:sp>
      <p:sp>
        <p:nvSpPr>
          <p:cNvPr id="4" name="Text 2"/>
          <p:cNvSpPr/>
          <p:nvPr/>
        </p:nvSpPr>
        <p:spPr>
          <a:xfrm>
            <a:off x="411480" y="603504"/>
            <a:ext cx="8321040" cy="256032"/>
          </a:xfrm>
          <a:prstGeom prst="rect">
            <a:avLst/>
          </a:prstGeom>
          <a:noFill/>
          <a:ln/>
        </p:spPr>
        <p:txBody>
          <a:bodyPr wrap="square" lIns="0" tIns="0" rIns="0" bIns="0" rtlCol="0" anchor="ctr"/>
          <a:lstStyle/>
          <a:p>
            <a:pPr marL="0" indent="0" algn="l">
              <a:buNone/>
            </a:pPr>
            <a:r>
              <a:rPr lang="en-US" sz="1100" kern="0" spc="150" dirty="0">
                <a:solidFill>
                  <a:srgbClr val="00C2A8"/>
                </a:solidFill>
                <a:latin typeface="Calibri" pitchFamily="34" charset="0"/>
                <a:ea typeface="Calibri" pitchFamily="34" charset="-122"/>
                <a:cs typeface="Calibri" pitchFamily="34" charset="-120"/>
              </a:rPr>
              <a:t>TOP PREDICTORS FROM BOTH MODELS</a:t>
            </a:r>
            <a:endParaRPr lang="en-US" sz="1100" dirty="0"/>
          </a:p>
        </p:txBody>
      </p:sp>
      <p:sp>
        <p:nvSpPr>
          <p:cNvPr id="5" name="Shape 3"/>
          <p:cNvSpPr/>
          <p:nvPr/>
        </p:nvSpPr>
        <p:spPr>
          <a:xfrm>
            <a:off x="411480" y="859536"/>
            <a:ext cx="8321040" cy="13716"/>
          </a:xfrm>
          <a:prstGeom prst="rect">
            <a:avLst/>
          </a:prstGeom>
          <a:solidFill>
            <a:srgbClr val="1A3354"/>
          </a:solidFill>
          <a:ln/>
        </p:spPr>
        <p:txBody>
          <a:bodyPr/>
          <a:lstStyle/>
          <a:p>
            <a:endParaRPr lang="en-US"/>
          </a:p>
        </p:txBody>
      </p:sp>
      <p:sp>
        <p:nvSpPr>
          <p:cNvPr id="6" name="Text 4"/>
          <p:cNvSpPr/>
          <p:nvPr/>
        </p:nvSpPr>
        <p:spPr>
          <a:xfrm>
            <a:off x="411480" y="914400"/>
            <a:ext cx="8321040" cy="256032"/>
          </a:xfrm>
          <a:prstGeom prst="rect">
            <a:avLst/>
          </a:prstGeom>
          <a:noFill/>
          <a:ln/>
        </p:spPr>
        <p:txBody>
          <a:bodyPr wrap="square" lIns="0" tIns="0" rIns="0" bIns="0" rtlCol="0" anchor="ctr"/>
          <a:lstStyle/>
          <a:p>
            <a:pPr marL="0" indent="0">
              <a:buNone/>
            </a:pPr>
            <a:r>
              <a:rPr lang="en-US" sz="1000" dirty="0">
                <a:solidFill>
                  <a:srgbClr val="8BA4BF"/>
                </a:solidFill>
                <a:latin typeface="Calibri" pitchFamily="34" charset="0"/>
                <a:ea typeface="Calibri" pitchFamily="34" charset="-122"/>
                <a:cs typeface="Calibri" pitchFamily="34" charset="-120"/>
              </a:rPr>
              <a:t>Both models agreed on the same top predictors — that consistency confirms these findings are real.</a:t>
            </a:r>
            <a:endParaRPr lang="en-US" sz="1000" dirty="0"/>
          </a:p>
        </p:txBody>
      </p:sp>
      <p:sp>
        <p:nvSpPr>
          <p:cNvPr id="7" name="Shape 5"/>
          <p:cNvSpPr/>
          <p:nvPr/>
        </p:nvSpPr>
        <p:spPr>
          <a:xfrm>
            <a:off x="411480" y="1261872"/>
            <a:ext cx="1627632" cy="3538728"/>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8" name="Shape 6"/>
          <p:cNvSpPr/>
          <p:nvPr/>
        </p:nvSpPr>
        <p:spPr>
          <a:xfrm>
            <a:off x="411480" y="1261872"/>
            <a:ext cx="1627632" cy="50292"/>
          </a:xfrm>
          <a:prstGeom prst="rect">
            <a:avLst/>
          </a:prstGeom>
          <a:solidFill>
            <a:srgbClr val="00C2A8"/>
          </a:solidFill>
          <a:ln/>
        </p:spPr>
        <p:txBody>
          <a:bodyPr/>
          <a:lstStyle/>
          <a:p>
            <a:endParaRPr lang="en-US"/>
          </a:p>
        </p:txBody>
      </p:sp>
      <p:sp>
        <p:nvSpPr>
          <p:cNvPr id="9" name="Text 7"/>
          <p:cNvSpPr/>
          <p:nvPr/>
        </p:nvSpPr>
        <p:spPr>
          <a:xfrm>
            <a:off x="484632" y="1316736"/>
            <a:ext cx="1481328" cy="384048"/>
          </a:xfrm>
          <a:prstGeom prst="rect">
            <a:avLst/>
          </a:prstGeom>
          <a:noFill/>
          <a:ln/>
        </p:spPr>
        <p:txBody>
          <a:bodyPr wrap="square" lIns="0" tIns="0" rIns="0" bIns="0" rtlCol="0" anchor="ctr"/>
          <a:lstStyle/>
          <a:p>
            <a:pPr marL="0" indent="0" algn="ctr">
              <a:buNone/>
            </a:pPr>
            <a:r>
              <a:rPr lang="en-US" sz="2200" b="1" dirty="0">
                <a:solidFill>
                  <a:srgbClr val="00C2A8"/>
                </a:solidFill>
                <a:latin typeface="Georgia" pitchFamily="34" charset="0"/>
                <a:ea typeface="Georgia" pitchFamily="34" charset="-122"/>
                <a:cs typeface="Georgia" pitchFamily="34" charset="-120"/>
              </a:rPr>
              <a:t>#1</a:t>
            </a:r>
            <a:endParaRPr lang="en-US" sz="2200" dirty="0"/>
          </a:p>
        </p:txBody>
      </p:sp>
      <p:pic>
        <p:nvPicPr>
          <p:cNvPr id="10" name="Image 0" descr="preencoded.png"/>
          <p:cNvPicPr>
            <a:picLocks noChangeAspect="1"/>
          </p:cNvPicPr>
          <p:nvPr/>
        </p:nvPicPr>
        <p:blipFill>
          <a:blip r:embed="rId3"/>
          <a:stretch>
            <a:fillRect/>
          </a:stretch>
        </p:blipFill>
        <p:spPr>
          <a:xfrm>
            <a:off x="960120" y="1737360"/>
            <a:ext cx="530352" cy="530352"/>
          </a:xfrm>
          <a:prstGeom prst="rect">
            <a:avLst/>
          </a:prstGeom>
        </p:spPr>
      </p:pic>
      <p:sp>
        <p:nvSpPr>
          <p:cNvPr id="11" name="Text 8"/>
          <p:cNvSpPr/>
          <p:nvPr/>
        </p:nvSpPr>
        <p:spPr>
          <a:xfrm>
            <a:off x="484632" y="2331720"/>
            <a:ext cx="1481328"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PERSONS</a:t>
            </a:r>
            <a:endParaRPr lang="en-US" sz="1000" dirty="0"/>
          </a:p>
        </p:txBody>
      </p:sp>
      <p:sp>
        <p:nvSpPr>
          <p:cNvPr id="12" name="Shape 9"/>
          <p:cNvSpPr/>
          <p:nvPr/>
        </p:nvSpPr>
        <p:spPr>
          <a:xfrm>
            <a:off x="685800" y="2706624"/>
            <a:ext cx="1078992" cy="18288"/>
          </a:xfrm>
          <a:prstGeom prst="rect">
            <a:avLst/>
          </a:prstGeom>
          <a:solidFill>
            <a:srgbClr val="00C2A8"/>
          </a:solidFill>
          <a:ln/>
        </p:spPr>
        <p:txBody>
          <a:bodyPr/>
          <a:lstStyle/>
          <a:p>
            <a:endParaRPr lang="en-US"/>
          </a:p>
        </p:txBody>
      </p:sp>
      <p:sp>
        <p:nvSpPr>
          <p:cNvPr id="13" name="Text 10"/>
          <p:cNvSpPr/>
          <p:nvPr/>
        </p:nvSpPr>
        <p:spPr>
          <a:xfrm>
            <a:off x="484632" y="2743200"/>
            <a:ext cx="1481328" cy="411480"/>
          </a:xfrm>
          <a:prstGeom prst="rect">
            <a:avLst/>
          </a:prstGeom>
          <a:noFill/>
          <a:ln/>
        </p:spPr>
        <p:txBody>
          <a:bodyPr wrap="square" lIns="0" tIns="0" rIns="0" bIns="0" rtlCol="0" anchor="ctr"/>
          <a:lstStyle/>
          <a:p>
            <a:pPr marL="0" indent="0" algn="ctr">
              <a:buNone/>
            </a:pPr>
            <a:r>
              <a:rPr lang="en-US" sz="900" dirty="0">
                <a:solidFill>
                  <a:srgbClr val="8BA4BF"/>
                </a:solidFill>
                <a:latin typeface="Calibri" pitchFamily="34" charset="0"/>
                <a:ea typeface="Calibri" pitchFamily="34" charset="-122"/>
                <a:cs typeface="Calibri" pitchFamily="34" charset="-120"/>
              </a:rPr>
              <a:t>Total People in Crash</a:t>
            </a:r>
            <a:endParaRPr lang="en-US" sz="900" dirty="0"/>
          </a:p>
        </p:txBody>
      </p:sp>
      <p:sp>
        <p:nvSpPr>
          <p:cNvPr id="14" name="Text 11"/>
          <p:cNvSpPr/>
          <p:nvPr/>
        </p:nvSpPr>
        <p:spPr>
          <a:xfrm>
            <a:off x="484632" y="3200400"/>
            <a:ext cx="1481328" cy="1554480"/>
          </a:xfrm>
          <a:prstGeom prst="rect">
            <a:avLst/>
          </a:prstGeom>
          <a:noFill/>
          <a:ln/>
        </p:spPr>
        <p:txBody>
          <a:bodyPr wrap="square" lIns="0" tIns="0" rIns="0" bIns="0" rtlCol="0" anchor="ctr"/>
          <a:lstStyle/>
          <a:p>
            <a:pPr marL="0" indent="0" algn="l">
              <a:buNone/>
            </a:pPr>
            <a:r>
              <a:rPr lang="en-US" sz="850" dirty="0">
                <a:solidFill>
                  <a:srgbClr val="E8F0F8"/>
                </a:solidFill>
                <a:latin typeface="Calibri" pitchFamily="34" charset="0"/>
                <a:ea typeface="Calibri" pitchFamily="34" charset="-122"/>
                <a:cs typeface="Calibri" pitchFamily="34" charset="-120"/>
              </a:rPr>
              <a:t>More people = more exposure to fatal injury. Also serves as a model sanity check — confirms the model is capturing real crash dynamics, not noise.</a:t>
            </a:r>
            <a:endParaRPr lang="en-US" sz="850" dirty="0"/>
          </a:p>
        </p:txBody>
      </p:sp>
      <p:sp>
        <p:nvSpPr>
          <p:cNvPr id="15" name="Shape 12"/>
          <p:cNvSpPr/>
          <p:nvPr/>
        </p:nvSpPr>
        <p:spPr>
          <a:xfrm>
            <a:off x="2121408" y="1261872"/>
            <a:ext cx="1627632" cy="3538728"/>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6" name="Shape 13"/>
          <p:cNvSpPr/>
          <p:nvPr/>
        </p:nvSpPr>
        <p:spPr>
          <a:xfrm>
            <a:off x="2121408" y="1261872"/>
            <a:ext cx="1627632" cy="50292"/>
          </a:xfrm>
          <a:prstGeom prst="rect">
            <a:avLst/>
          </a:prstGeom>
          <a:solidFill>
            <a:srgbClr val="F5A623"/>
          </a:solidFill>
          <a:ln/>
        </p:spPr>
        <p:txBody>
          <a:bodyPr/>
          <a:lstStyle/>
          <a:p>
            <a:endParaRPr lang="en-US"/>
          </a:p>
        </p:txBody>
      </p:sp>
      <p:sp>
        <p:nvSpPr>
          <p:cNvPr id="17" name="Text 14"/>
          <p:cNvSpPr/>
          <p:nvPr/>
        </p:nvSpPr>
        <p:spPr>
          <a:xfrm>
            <a:off x="2194560" y="1316736"/>
            <a:ext cx="1481328" cy="384048"/>
          </a:xfrm>
          <a:prstGeom prst="rect">
            <a:avLst/>
          </a:prstGeom>
          <a:noFill/>
          <a:ln/>
        </p:spPr>
        <p:txBody>
          <a:bodyPr wrap="square" lIns="0" tIns="0" rIns="0" bIns="0" rtlCol="0" anchor="ctr"/>
          <a:lstStyle/>
          <a:p>
            <a:pPr marL="0" indent="0" algn="ctr">
              <a:buNone/>
            </a:pPr>
            <a:r>
              <a:rPr lang="en-US" sz="2200" b="1" dirty="0">
                <a:solidFill>
                  <a:srgbClr val="F5A623"/>
                </a:solidFill>
                <a:latin typeface="Georgia" pitchFamily="34" charset="0"/>
                <a:ea typeface="Georgia" pitchFamily="34" charset="-122"/>
                <a:cs typeface="Georgia" pitchFamily="34" charset="-120"/>
              </a:rPr>
              <a:t>#2</a:t>
            </a:r>
            <a:endParaRPr lang="en-US" sz="2200" dirty="0"/>
          </a:p>
        </p:txBody>
      </p:sp>
      <p:pic>
        <p:nvPicPr>
          <p:cNvPr id="18" name="Image 1" descr="preencoded.png"/>
          <p:cNvPicPr>
            <a:picLocks noChangeAspect="1"/>
          </p:cNvPicPr>
          <p:nvPr/>
        </p:nvPicPr>
        <p:blipFill>
          <a:blip r:embed="rId4"/>
          <a:stretch>
            <a:fillRect/>
          </a:stretch>
        </p:blipFill>
        <p:spPr>
          <a:xfrm>
            <a:off x="2670048" y="1737360"/>
            <a:ext cx="530352" cy="530352"/>
          </a:xfrm>
          <a:prstGeom prst="rect">
            <a:avLst/>
          </a:prstGeom>
        </p:spPr>
      </p:pic>
      <p:sp>
        <p:nvSpPr>
          <p:cNvPr id="19" name="Text 15"/>
          <p:cNvSpPr/>
          <p:nvPr/>
        </p:nvSpPr>
        <p:spPr>
          <a:xfrm>
            <a:off x="2194560" y="2331720"/>
            <a:ext cx="1481328"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VE_TOTAL</a:t>
            </a:r>
            <a:endParaRPr lang="en-US" sz="1000" dirty="0"/>
          </a:p>
        </p:txBody>
      </p:sp>
      <p:sp>
        <p:nvSpPr>
          <p:cNvPr id="20" name="Shape 16"/>
          <p:cNvSpPr/>
          <p:nvPr/>
        </p:nvSpPr>
        <p:spPr>
          <a:xfrm>
            <a:off x="2395728" y="2706624"/>
            <a:ext cx="1078992" cy="18288"/>
          </a:xfrm>
          <a:prstGeom prst="rect">
            <a:avLst/>
          </a:prstGeom>
          <a:solidFill>
            <a:srgbClr val="F5A623"/>
          </a:solidFill>
          <a:ln/>
        </p:spPr>
        <p:txBody>
          <a:bodyPr/>
          <a:lstStyle/>
          <a:p>
            <a:endParaRPr lang="en-US"/>
          </a:p>
        </p:txBody>
      </p:sp>
      <p:sp>
        <p:nvSpPr>
          <p:cNvPr id="21" name="Text 17"/>
          <p:cNvSpPr/>
          <p:nvPr/>
        </p:nvSpPr>
        <p:spPr>
          <a:xfrm>
            <a:off x="2194560" y="2743200"/>
            <a:ext cx="1481328" cy="411480"/>
          </a:xfrm>
          <a:prstGeom prst="rect">
            <a:avLst/>
          </a:prstGeom>
          <a:noFill/>
          <a:ln/>
        </p:spPr>
        <p:txBody>
          <a:bodyPr wrap="square" lIns="0" tIns="0" rIns="0" bIns="0" rtlCol="0" anchor="ctr"/>
          <a:lstStyle/>
          <a:p>
            <a:pPr marL="0" indent="0" algn="ctr">
              <a:buNone/>
            </a:pPr>
            <a:r>
              <a:rPr lang="en-US" sz="900" dirty="0">
                <a:solidFill>
                  <a:srgbClr val="8BA4BF"/>
                </a:solidFill>
                <a:latin typeface="Calibri" pitchFamily="34" charset="0"/>
                <a:ea typeface="Calibri" pitchFamily="34" charset="-122"/>
                <a:cs typeface="Calibri" pitchFamily="34" charset="-120"/>
              </a:rPr>
              <a:t>Total Vehicles Involved</a:t>
            </a:r>
            <a:endParaRPr lang="en-US" sz="900" dirty="0"/>
          </a:p>
        </p:txBody>
      </p:sp>
      <p:sp>
        <p:nvSpPr>
          <p:cNvPr id="22" name="Text 18"/>
          <p:cNvSpPr/>
          <p:nvPr/>
        </p:nvSpPr>
        <p:spPr>
          <a:xfrm>
            <a:off x="2194560" y="3200400"/>
            <a:ext cx="1481328" cy="1554480"/>
          </a:xfrm>
          <a:prstGeom prst="rect">
            <a:avLst/>
          </a:prstGeom>
          <a:noFill/>
          <a:ln/>
        </p:spPr>
        <p:txBody>
          <a:bodyPr wrap="square" lIns="0" tIns="0" rIns="0" bIns="0" rtlCol="0" anchor="ctr"/>
          <a:lstStyle/>
          <a:p>
            <a:pPr marL="0" indent="0" algn="l">
              <a:buNone/>
            </a:pPr>
            <a:r>
              <a:rPr lang="en-US" sz="850" dirty="0">
                <a:solidFill>
                  <a:srgbClr val="E8F0F8"/>
                </a:solidFill>
                <a:latin typeface="Calibri" pitchFamily="34" charset="0"/>
                <a:ea typeface="Calibri" pitchFamily="34" charset="-122"/>
                <a:cs typeface="Calibri" pitchFamily="34" charset="-120"/>
              </a:rPr>
              <a:t>More vehicles = greater chance of chain-reaction multi-impact collisions.</a:t>
            </a:r>
            <a:endParaRPr lang="en-US" sz="850" dirty="0"/>
          </a:p>
        </p:txBody>
      </p:sp>
      <p:sp>
        <p:nvSpPr>
          <p:cNvPr id="23" name="Shape 19"/>
          <p:cNvSpPr/>
          <p:nvPr/>
        </p:nvSpPr>
        <p:spPr>
          <a:xfrm>
            <a:off x="3831336" y="1261872"/>
            <a:ext cx="1627632" cy="3538728"/>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24" name="Shape 20"/>
          <p:cNvSpPr/>
          <p:nvPr/>
        </p:nvSpPr>
        <p:spPr>
          <a:xfrm>
            <a:off x="3831336" y="1261872"/>
            <a:ext cx="1627632" cy="50292"/>
          </a:xfrm>
          <a:prstGeom prst="rect">
            <a:avLst/>
          </a:prstGeom>
          <a:solidFill>
            <a:srgbClr val="E05252"/>
          </a:solidFill>
          <a:ln/>
        </p:spPr>
        <p:txBody>
          <a:bodyPr/>
          <a:lstStyle/>
          <a:p>
            <a:endParaRPr lang="en-US"/>
          </a:p>
        </p:txBody>
      </p:sp>
      <p:sp>
        <p:nvSpPr>
          <p:cNvPr id="25" name="Text 21"/>
          <p:cNvSpPr/>
          <p:nvPr/>
        </p:nvSpPr>
        <p:spPr>
          <a:xfrm>
            <a:off x="3904488" y="1316736"/>
            <a:ext cx="1481328" cy="384048"/>
          </a:xfrm>
          <a:prstGeom prst="rect">
            <a:avLst/>
          </a:prstGeom>
          <a:noFill/>
          <a:ln/>
        </p:spPr>
        <p:txBody>
          <a:bodyPr wrap="square" lIns="0" tIns="0" rIns="0" bIns="0" rtlCol="0" anchor="ctr"/>
          <a:lstStyle/>
          <a:p>
            <a:pPr marL="0" indent="0" algn="ctr">
              <a:buNone/>
            </a:pPr>
            <a:r>
              <a:rPr lang="en-US" sz="2200" b="1" dirty="0">
                <a:solidFill>
                  <a:srgbClr val="E05252"/>
                </a:solidFill>
                <a:latin typeface="Georgia" pitchFamily="34" charset="0"/>
                <a:ea typeface="Georgia" pitchFamily="34" charset="-122"/>
                <a:cs typeface="Georgia" pitchFamily="34" charset="-120"/>
              </a:rPr>
              <a:t>#3</a:t>
            </a:r>
            <a:endParaRPr lang="en-US" sz="2200" dirty="0"/>
          </a:p>
        </p:txBody>
      </p:sp>
      <p:pic>
        <p:nvPicPr>
          <p:cNvPr id="26" name="Image 2" descr="preencoded.png"/>
          <p:cNvPicPr>
            <a:picLocks noChangeAspect="1"/>
          </p:cNvPicPr>
          <p:nvPr/>
        </p:nvPicPr>
        <p:blipFill>
          <a:blip r:embed="rId5"/>
          <a:stretch>
            <a:fillRect/>
          </a:stretch>
        </p:blipFill>
        <p:spPr>
          <a:xfrm>
            <a:off x="4379976" y="1737360"/>
            <a:ext cx="530352" cy="530352"/>
          </a:xfrm>
          <a:prstGeom prst="rect">
            <a:avLst/>
          </a:prstGeom>
        </p:spPr>
      </p:pic>
      <p:sp>
        <p:nvSpPr>
          <p:cNvPr id="27" name="Text 22"/>
          <p:cNvSpPr/>
          <p:nvPr/>
        </p:nvSpPr>
        <p:spPr>
          <a:xfrm>
            <a:off x="3904488" y="2331720"/>
            <a:ext cx="1481328"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impaired_driver</a:t>
            </a:r>
            <a:endParaRPr lang="en-US" sz="1000" dirty="0"/>
          </a:p>
        </p:txBody>
      </p:sp>
      <p:sp>
        <p:nvSpPr>
          <p:cNvPr id="28" name="Shape 23"/>
          <p:cNvSpPr/>
          <p:nvPr/>
        </p:nvSpPr>
        <p:spPr>
          <a:xfrm>
            <a:off x="4105656" y="2706624"/>
            <a:ext cx="1078992" cy="18288"/>
          </a:xfrm>
          <a:prstGeom prst="rect">
            <a:avLst/>
          </a:prstGeom>
          <a:solidFill>
            <a:srgbClr val="E05252"/>
          </a:solidFill>
          <a:ln/>
        </p:spPr>
        <p:txBody>
          <a:bodyPr/>
          <a:lstStyle/>
          <a:p>
            <a:endParaRPr lang="en-US"/>
          </a:p>
        </p:txBody>
      </p:sp>
      <p:sp>
        <p:nvSpPr>
          <p:cNvPr id="29" name="Text 24"/>
          <p:cNvSpPr/>
          <p:nvPr/>
        </p:nvSpPr>
        <p:spPr>
          <a:xfrm>
            <a:off x="3904488" y="2743200"/>
            <a:ext cx="1481328" cy="411480"/>
          </a:xfrm>
          <a:prstGeom prst="rect">
            <a:avLst/>
          </a:prstGeom>
          <a:noFill/>
          <a:ln/>
        </p:spPr>
        <p:txBody>
          <a:bodyPr wrap="square" lIns="0" tIns="0" rIns="0" bIns="0" rtlCol="0" anchor="ctr"/>
          <a:lstStyle/>
          <a:p>
            <a:pPr marL="0" indent="0" algn="ctr">
              <a:buNone/>
            </a:pPr>
            <a:r>
              <a:rPr lang="en-US" sz="900" dirty="0">
                <a:solidFill>
                  <a:srgbClr val="8BA4BF"/>
                </a:solidFill>
                <a:latin typeface="Calibri" pitchFamily="34" charset="0"/>
                <a:ea typeface="Calibri" pitchFamily="34" charset="-122"/>
                <a:cs typeface="Calibri" pitchFamily="34" charset="-120"/>
              </a:rPr>
              <a:t>Impaired Driver Present</a:t>
            </a:r>
            <a:endParaRPr lang="en-US" sz="900" dirty="0"/>
          </a:p>
        </p:txBody>
      </p:sp>
      <p:sp>
        <p:nvSpPr>
          <p:cNvPr id="30" name="Text 25"/>
          <p:cNvSpPr/>
          <p:nvPr/>
        </p:nvSpPr>
        <p:spPr>
          <a:xfrm>
            <a:off x="3904488" y="3200400"/>
            <a:ext cx="1481328" cy="1554480"/>
          </a:xfrm>
          <a:prstGeom prst="rect">
            <a:avLst/>
          </a:prstGeom>
          <a:noFill/>
          <a:ln/>
        </p:spPr>
        <p:txBody>
          <a:bodyPr wrap="square" lIns="0" tIns="0" rIns="0" bIns="0" rtlCol="0" anchor="ctr"/>
          <a:lstStyle/>
          <a:p>
            <a:pPr marL="0" indent="0" algn="l">
              <a:buNone/>
            </a:pPr>
            <a:r>
              <a:rPr lang="en-US" sz="850" dirty="0">
                <a:solidFill>
                  <a:srgbClr val="E8F0F8"/>
                </a:solidFill>
                <a:latin typeface="Calibri" pitchFamily="34" charset="0"/>
                <a:ea typeface="Calibri" pitchFamily="34" charset="-122"/>
                <a:cs typeface="Calibri" pitchFamily="34" charset="-120"/>
              </a:rPr>
              <a:t>Crashes with at least one impaired driver show significantly higher fatality counts.</a:t>
            </a:r>
            <a:endParaRPr lang="en-US" sz="850" dirty="0"/>
          </a:p>
        </p:txBody>
      </p:sp>
      <p:sp>
        <p:nvSpPr>
          <p:cNvPr id="31" name="Shape 26"/>
          <p:cNvSpPr/>
          <p:nvPr/>
        </p:nvSpPr>
        <p:spPr>
          <a:xfrm>
            <a:off x="5541264" y="1261872"/>
            <a:ext cx="1627632" cy="3538728"/>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32" name="Shape 27"/>
          <p:cNvSpPr/>
          <p:nvPr/>
        </p:nvSpPr>
        <p:spPr>
          <a:xfrm>
            <a:off x="5541264" y="1261872"/>
            <a:ext cx="1627632" cy="50292"/>
          </a:xfrm>
          <a:prstGeom prst="rect">
            <a:avLst/>
          </a:prstGeom>
          <a:solidFill>
            <a:srgbClr val="00957E"/>
          </a:solidFill>
          <a:ln/>
        </p:spPr>
        <p:txBody>
          <a:bodyPr/>
          <a:lstStyle/>
          <a:p>
            <a:endParaRPr lang="en-US"/>
          </a:p>
        </p:txBody>
      </p:sp>
      <p:sp>
        <p:nvSpPr>
          <p:cNvPr id="33" name="Text 28"/>
          <p:cNvSpPr/>
          <p:nvPr/>
        </p:nvSpPr>
        <p:spPr>
          <a:xfrm>
            <a:off x="5614416" y="1316736"/>
            <a:ext cx="1481328" cy="384048"/>
          </a:xfrm>
          <a:prstGeom prst="rect">
            <a:avLst/>
          </a:prstGeom>
          <a:noFill/>
          <a:ln/>
        </p:spPr>
        <p:txBody>
          <a:bodyPr wrap="square" lIns="0" tIns="0" rIns="0" bIns="0" rtlCol="0" anchor="ctr"/>
          <a:lstStyle/>
          <a:p>
            <a:pPr marL="0" indent="0" algn="ctr">
              <a:buNone/>
            </a:pPr>
            <a:r>
              <a:rPr lang="en-US" sz="2200" b="1" dirty="0">
                <a:solidFill>
                  <a:srgbClr val="00957E"/>
                </a:solidFill>
                <a:latin typeface="Georgia" pitchFamily="34" charset="0"/>
                <a:ea typeface="Georgia" pitchFamily="34" charset="-122"/>
                <a:cs typeface="Georgia" pitchFamily="34" charset="-120"/>
              </a:rPr>
              <a:t>#4</a:t>
            </a:r>
            <a:endParaRPr lang="en-US" sz="2200" dirty="0"/>
          </a:p>
        </p:txBody>
      </p:sp>
      <p:pic>
        <p:nvPicPr>
          <p:cNvPr id="34" name="Image 3" descr="preencoded.png"/>
          <p:cNvPicPr>
            <a:picLocks noChangeAspect="1"/>
          </p:cNvPicPr>
          <p:nvPr/>
        </p:nvPicPr>
        <p:blipFill>
          <a:blip r:embed="rId6"/>
          <a:stretch>
            <a:fillRect/>
          </a:stretch>
        </p:blipFill>
        <p:spPr>
          <a:xfrm>
            <a:off x="6089904" y="1737360"/>
            <a:ext cx="530352" cy="530352"/>
          </a:xfrm>
          <a:prstGeom prst="rect">
            <a:avLst/>
          </a:prstGeom>
        </p:spPr>
      </p:pic>
      <p:sp>
        <p:nvSpPr>
          <p:cNvPr id="35" name="Text 29"/>
          <p:cNvSpPr/>
          <p:nvPr/>
        </p:nvSpPr>
        <p:spPr>
          <a:xfrm>
            <a:off x="5614416" y="2331720"/>
            <a:ext cx="1481328"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LGT_COND</a:t>
            </a:r>
            <a:endParaRPr lang="en-US" sz="1000" dirty="0"/>
          </a:p>
        </p:txBody>
      </p:sp>
      <p:sp>
        <p:nvSpPr>
          <p:cNvPr id="36" name="Shape 30"/>
          <p:cNvSpPr/>
          <p:nvPr/>
        </p:nvSpPr>
        <p:spPr>
          <a:xfrm>
            <a:off x="5815584" y="2706624"/>
            <a:ext cx="1078992" cy="18288"/>
          </a:xfrm>
          <a:prstGeom prst="rect">
            <a:avLst/>
          </a:prstGeom>
          <a:solidFill>
            <a:srgbClr val="00957E"/>
          </a:solidFill>
          <a:ln/>
        </p:spPr>
        <p:txBody>
          <a:bodyPr/>
          <a:lstStyle/>
          <a:p>
            <a:endParaRPr lang="en-US"/>
          </a:p>
        </p:txBody>
      </p:sp>
      <p:sp>
        <p:nvSpPr>
          <p:cNvPr id="37" name="Text 31"/>
          <p:cNvSpPr/>
          <p:nvPr/>
        </p:nvSpPr>
        <p:spPr>
          <a:xfrm>
            <a:off x="5614416" y="2743200"/>
            <a:ext cx="1481328" cy="411480"/>
          </a:xfrm>
          <a:prstGeom prst="rect">
            <a:avLst/>
          </a:prstGeom>
          <a:noFill/>
          <a:ln/>
        </p:spPr>
        <p:txBody>
          <a:bodyPr wrap="square" lIns="0" tIns="0" rIns="0" bIns="0" rtlCol="0" anchor="ctr"/>
          <a:lstStyle/>
          <a:p>
            <a:pPr marL="0" indent="0" algn="ctr">
              <a:buNone/>
            </a:pPr>
            <a:r>
              <a:rPr lang="en-US" sz="900" dirty="0">
                <a:solidFill>
                  <a:srgbClr val="8BA4BF"/>
                </a:solidFill>
                <a:latin typeface="Calibri" pitchFamily="34" charset="0"/>
                <a:ea typeface="Calibri" pitchFamily="34" charset="-122"/>
                <a:cs typeface="Calibri" pitchFamily="34" charset="-120"/>
              </a:rPr>
              <a:t>Lighting Condition</a:t>
            </a:r>
            <a:endParaRPr lang="en-US" sz="900" dirty="0"/>
          </a:p>
        </p:txBody>
      </p:sp>
      <p:sp>
        <p:nvSpPr>
          <p:cNvPr id="38" name="Text 32"/>
          <p:cNvSpPr/>
          <p:nvPr/>
        </p:nvSpPr>
        <p:spPr>
          <a:xfrm>
            <a:off x="5614416" y="3200400"/>
            <a:ext cx="1481328" cy="1554480"/>
          </a:xfrm>
          <a:prstGeom prst="rect">
            <a:avLst/>
          </a:prstGeom>
          <a:noFill/>
          <a:ln/>
        </p:spPr>
        <p:txBody>
          <a:bodyPr wrap="square" lIns="0" tIns="0" rIns="0" bIns="0" rtlCol="0" anchor="ctr"/>
          <a:lstStyle/>
          <a:p>
            <a:pPr marL="0" indent="0" algn="l">
              <a:buNone/>
            </a:pPr>
            <a:r>
              <a:rPr lang="en-US" sz="850" dirty="0">
                <a:solidFill>
                  <a:srgbClr val="E8F0F8"/>
                </a:solidFill>
                <a:latin typeface="Calibri" pitchFamily="34" charset="0"/>
                <a:ea typeface="Calibri" pitchFamily="34" charset="-122"/>
                <a:cs typeface="Calibri" pitchFamily="34" charset="-120"/>
              </a:rPr>
              <a:t>Dark or unlit conditions correlate with more severe outcomes. Correlation — not causation — as darkness may co-occur with fatigue and impairment.</a:t>
            </a:r>
            <a:endParaRPr lang="en-US" sz="850" dirty="0"/>
          </a:p>
        </p:txBody>
      </p:sp>
      <p:sp>
        <p:nvSpPr>
          <p:cNvPr id="39" name="Shape 33"/>
          <p:cNvSpPr/>
          <p:nvPr/>
        </p:nvSpPr>
        <p:spPr>
          <a:xfrm>
            <a:off x="7251192" y="1261872"/>
            <a:ext cx="1627632" cy="3538728"/>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40" name="Shape 34"/>
          <p:cNvSpPr/>
          <p:nvPr/>
        </p:nvSpPr>
        <p:spPr>
          <a:xfrm>
            <a:off x="7251192" y="1261872"/>
            <a:ext cx="1627632" cy="50292"/>
          </a:xfrm>
          <a:prstGeom prst="rect">
            <a:avLst/>
          </a:prstGeom>
          <a:solidFill>
            <a:srgbClr val="F5A623"/>
          </a:solidFill>
          <a:ln/>
        </p:spPr>
        <p:txBody>
          <a:bodyPr/>
          <a:lstStyle/>
          <a:p>
            <a:endParaRPr lang="en-US"/>
          </a:p>
        </p:txBody>
      </p:sp>
      <p:sp>
        <p:nvSpPr>
          <p:cNvPr id="41" name="Text 35"/>
          <p:cNvSpPr/>
          <p:nvPr/>
        </p:nvSpPr>
        <p:spPr>
          <a:xfrm>
            <a:off x="7324344" y="1316736"/>
            <a:ext cx="1481328" cy="384048"/>
          </a:xfrm>
          <a:prstGeom prst="rect">
            <a:avLst/>
          </a:prstGeom>
          <a:noFill/>
          <a:ln/>
        </p:spPr>
        <p:txBody>
          <a:bodyPr wrap="square" lIns="0" tIns="0" rIns="0" bIns="0" rtlCol="0" anchor="ctr"/>
          <a:lstStyle/>
          <a:p>
            <a:pPr marL="0" indent="0" algn="ctr">
              <a:buNone/>
            </a:pPr>
            <a:r>
              <a:rPr lang="en-US" sz="2200" b="1" dirty="0">
                <a:solidFill>
                  <a:srgbClr val="F5A623"/>
                </a:solidFill>
                <a:latin typeface="Georgia" pitchFamily="34" charset="0"/>
                <a:ea typeface="Georgia" pitchFamily="34" charset="-122"/>
                <a:cs typeface="Georgia" pitchFamily="34" charset="-120"/>
              </a:rPr>
              <a:t>#5</a:t>
            </a:r>
            <a:endParaRPr lang="en-US" sz="2200" dirty="0"/>
          </a:p>
        </p:txBody>
      </p:sp>
      <p:pic>
        <p:nvPicPr>
          <p:cNvPr id="42" name="Image 4" descr="preencoded.png"/>
          <p:cNvPicPr>
            <a:picLocks noChangeAspect="1"/>
          </p:cNvPicPr>
          <p:nvPr/>
        </p:nvPicPr>
        <p:blipFill>
          <a:blip r:embed="rId7"/>
          <a:stretch>
            <a:fillRect/>
          </a:stretch>
        </p:blipFill>
        <p:spPr>
          <a:xfrm>
            <a:off x="7799832" y="1737360"/>
            <a:ext cx="530352" cy="530352"/>
          </a:xfrm>
          <a:prstGeom prst="rect">
            <a:avLst/>
          </a:prstGeom>
        </p:spPr>
      </p:pic>
      <p:sp>
        <p:nvSpPr>
          <p:cNvPr id="43" name="Text 36"/>
          <p:cNvSpPr/>
          <p:nvPr/>
        </p:nvSpPr>
        <p:spPr>
          <a:xfrm>
            <a:off x="7324344" y="2331720"/>
            <a:ext cx="1481328"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RUR_URB</a:t>
            </a:r>
            <a:endParaRPr lang="en-US" sz="1000" dirty="0"/>
          </a:p>
        </p:txBody>
      </p:sp>
      <p:sp>
        <p:nvSpPr>
          <p:cNvPr id="44" name="Shape 37"/>
          <p:cNvSpPr/>
          <p:nvPr/>
        </p:nvSpPr>
        <p:spPr>
          <a:xfrm>
            <a:off x="7525512" y="2706624"/>
            <a:ext cx="1078992" cy="18288"/>
          </a:xfrm>
          <a:prstGeom prst="rect">
            <a:avLst/>
          </a:prstGeom>
          <a:solidFill>
            <a:srgbClr val="F5A623"/>
          </a:solidFill>
          <a:ln/>
        </p:spPr>
        <p:txBody>
          <a:bodyPr/>
          <a:lstStyle/>
          <a:p>
            <a:endParaRPr lang="en-US"/>
          </a:p>
        </p:txBody>
      </p:sp>
      <p:sp>
        <p:nvSpPr>
          <p:cNvPr id="45" name="Text 38"/>
          <p:cNvSpPr/>
          <p:nvPr/>
        </p:nvSpPr>
        <p:spPr>
          <a:xfrm>
            <a:off x="7324344" y="2743200"/>
            <a:ext cx="1481328" cy="411480"/>
          </a:xfrm>
          <a:prstGeom prst="rect">
            <a:avLst/>
          </a:prstGeom>
          <a:noFill/>
          <a:ln/>
        </p:spPr>
        <p:txBody>
          <a:bodyPr wrap="square" lIns="0" tIns="0" rIns="0" bIns="0" rtlCol="0" anchor="ctr"/>
          <a:lstStyle/>
          <a:p>
            <a:pPr marL="0" indent="0" algn="ctr">
              <a:buNone/>
            </a:pPr>
            <a:r>
              <a:rPr lang="en-US" sz="900" dirty="0">
                <a:solidFill>
                  <a:srgbClr val="8BA4BF"/>
                </a:solidFill>
                <a:latin typeface="Calibri" pitchFamily="34" charset="0"/>
                <a:ea typeface="Calibri" pitchFamily="34" charset="-122"/>
                <a:cs typeface="Calibri" pitchFamily="34" charset="-120"/>
              </a:rPr>
              <a:t>Rural vs. Urban Location</a:t>
            </a:r>
            <a:endParaRPr lang="en-US" sz="900" dirty="0"/>
          </a:p>
        </p:txBody>
      </p:sp>
      <p:sp>
        <p:nvSpPr>
          <p:cNvPr id="46" name="Text 39"/>
          <p:cNvSpPr/>
          <p:nvPr/>
        </p:nvSpPr>
        <p:spPr>
          <a:xfrm>
            <a:off x="7324344" y="3200400"/>
            <a:ext cx="1481328" cy="1554480"/>
          </a:xfrm>
          <a:prstGeom prst="rect">
            <a:avLst/>
          </a:prstGeom>
          <a:noFill/>
          <a:ln/>
        </p:spPr>
        <p:txBody>
          <a:bodyPr wrap="square" lIns="0" tIns="0" rIns="0" bIns="0" rtlCol="0" anchor="ctr"/>
          <a:lstStyle/>
          <a:p>
            <a:pPr marL="0" indent="0" algn="l">
              <a:buNone/>
            </a:pPr>
            <a:r>
              <a:rPr lang="en-US" sz="850" dirty="0">
                <a:solidFill>
                  <a:srgbClr val="E8F0F8"/>
                </a:solidFill>
                <a:latin typeface="Calibri" pitchFamily="34" charset="0"/>
                <a:ea typeface="Calibri" pitchFamily="34" charset="-122"/>
                <a:cs typeface="Calibri" pitchFamily="34" charset="-120"/>
              </a:rPr>
              <a:t>Rural crashes are deadlier — higher speeds, fewer barriers, slower emergency response.</a:t>
            </a:r>
            <a:endParaRPr lang="en-US" sz="850" dirty="0"/>
          </a:p>
        </p:txBody>
      </p:sp>
      <p:sp>
        <p:nvSpPr>
          <p:cNvPr id="47" name="Text 40"/>
          <p:cNvSpPr/>
          <p:nvPr/>
        </p:nvSpPr>
        <p:spPr>
          <a:xfrm>
            <a:off x="411480" y="4892040"/>
            <a:ext cx="8321040" cy="228600"/>
          </a:xfrm>
          <a:prstGeom prst="rect">
            <a:avLst/>
          </a:prstGeom>
          <a:noFill/>
          <a:ln/>
        </p:spPr>
        <p:txBody>
          <a:bodyPr wrap="square" lIns="0" tIns="0" rIns="0" bIns="0" rtlCol="0" anchor="ctr"/>
          <a:lstStyle/>
          <a:p>
            <a:pPr marL="0" indent="0">
              <a:buNone/>
            </a:pPr>
            <a:r>
              <a:rPr lang="en-US" sz="800" i="1" dirty="0">
                <a:solidFill>
                  <a:srgbClr val="8BA4BF"/>
                </a:solidFill>
                <a:latin typeface="Calibri" pitchFamily="34" charset="0"/>
                <a:ea typeface="Calibri" pitchFamily="34" charset="-122"/>
                <a:cs typeface="Calibri" pitchFamily="34" charset="-120"/>
              </a:rPr>
              <a:t>Note: Rankings based on stepwise AIC inclusion order and DT split priority. LR coefficients confirm directional consistency. Findings show correlation — the model does not establish causation.</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2A8"/>
          </a:solidFill>
          <a:ln/>
        </p:spPr>
        <p:txBody>
          <a:bodyPr/>
          <a:lstStyle/>
          <a:p>
            <a:endParaRPr lang="en-US"/>
          </a:p>
        </p:txBody>
      </p:sp>
      <p:sp>
        <p:nvSpPr>
          <p:cNvPr id="3" name="Text 1"/>
          <p:cNvSpPr/>
          <p:nvPr/>
        </p:nvSpPr>
        <p:spPr>
          <a:xfrm>
            <a:off x="411480" y="109728"/>
            <a:ext cx="832104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Discussion — Actionable Recommendations</a:t>
            </a:r>
            <a:endParaRPr lang="en-US" sz="2600" dirty="0"/>
          </a:p>
        </p:txBody>
      </p:sp>
      <p:sp>
        <p:nvSpPr>
          <p:cNvPr id="4" name="Text 2"/>
          <p:cNvSpPr/>
          <p:nvPr/>
        </p:nvSpPr>
        <p:spPr>
          <a:xfrm>
            <a:off x="411480" y="603504"/>
            <a:ext cx="8321040" cy="256032"/>
          </a:xfrm>
          <a:prstGeom prst="rect">
            <a:avLst/>
          </a:prstGeom>
          <a:noFill/>
          <a:ln/>
        </p:spPr>
        <p:txBody>
          <a:bodyPr wrap="square" lIns="0" tIns="0" rIns="0" bIns="0" rtlCol="0" anchor="ctr"/>
          <a:lstStyle/>
          <a:p>
            <a:pPr marL="0" indent="0" algn="l">
              <a:buNone/>
            </a:pPr>
            <a:r>
              <a:rPr lang="en-US" sz="1100" kern="0" spc="150" dirty="0">
                <a:solidFill>
                  <a:srgbClr val="00C2A8"/>
                </a:solidFill>
                <a:latin typeface="Calibri" pitchFamily="34" charset="0"/>
                <a:ea typeface="Calibri" pitchFamily="34" charset="-122"/>
                <a:cs typeface="Calibri" pitchFamily="34" charset="-120"/>
              </a:rPr>
              <a:t>TRANSLATING FINDINGS INTO DECISIONS</a:t>
            </a:r>
            <a:endParaRPr lang="en-US" sz="1100" dirty="0"/>
          </a:p>
        </p:txBody>
      </p:sp>
      <p:sp>
        <p:nvSpPr>
          <p:cNvPr id="5" name="Shape 3"/>
          <p:cNvSpPr/>
          <p:nvPr/>
        </p:nvSpPr>
        <p:spPr>
          <a:xfrm>
            <a:off x="411480" y="859536"/>
            <a:ext cx="8321040" cy="13716"/>
          </a:xfrm>
          <a:prstGeom prst="rect">
            <a:avLst/>
          </a:prstGeom>
          <a:solidFill>
            <a:srgbClr val="1A3354"/>
          </a:solidFill>
          <a:ln/>
        </p:spPr>
        <p:txBody>
          <a:bodyPr/>
          <a:lstStyle/>
          <a:p>
            <a:endParaRPr lang="en-US"/>
          </a:p>
        </p:txBody>
      </p:sp>
      <p:sp>
        <p:nvSpPr>
          <p:cNvPr id="6" name="Shape 4"/>
          <p:cNvSpPr/>
          <p:nvPr/>
        </p:nvSpPr>
        <p:spPr>
          <a:xfrm>
            <a:off x="411480" y="1005840"/>
            <a:ext cx="4069080" cy="169164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7" name="Shape 5"/>
          <p:cNvSpPr/>
          <p:nvPr/>
        </p:nvSpPr>
        <p:spPr>
          <a:xfrm>
            <a:off x="411480" y="1005840"/>
            <a:ext cx="4069080" cy="50292"/>
          </a:xfrm>
          <a:prstGeom prst="rect">
            <a:avLst/>
          </a:prstGeom>
          <a:solidFill>
            <a:srgbClr val="00C2A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539496" y="1133856"/>
            <a:ext cx="475488" cy="475488"/>
          </a:xfrm>
          <a:prstGeom prst="rect">
            <a:avLst/>
          </a:prstGeom>
        </p:spPr>
      </p:pic>
      <p:sp>
        <p:nvSpPr>
          <p:cNvPr id="9" name="Text 6"/>
          <p:cNvSpPr/>
          <p:nvPr/>
        </p:nvSpPr>
        <p:spPr>
          <a:xfrm>
            <a:off x="1069848" y="1097280"/>
            <a:ext cx="502920" cy="384048"/>
          </a:xfrm>
          <a:prstGeom prst="rect">
            <a:avLst/>
          </a:prstGeom>
          <a:noFill/>
          <a:ln/>
        </p:spPr>
        <p:txBody>
          <a:bodyPr wrap="square" lIns="0" tIns="0" rIns="0" bIns="0" rtlCol="0" anchor="ctr"/>
          <a:lstStyle/>
          <a:p>
            <a:pPr marL="0" indent="0">
              <a:buNone/>
            </a:pPr>
            <a:r>
              <a:rPr lang="en-US" sz="2200" b="1" dirty="0">
                <a:solidFill>
                  <a:srgbClr val="00C2A8"/>
                </a:solidFill>
                <a:latin typeface="Georgia" pitchFamily="34" charset="0"/>
                <a:ea typeface="Georgia" pitchFamily="34" charset="-122"/>
                <a:cs typeface="Georgia" pitchFamily="34" charset="-120"/>
              </a:rPr>
              <a:t>01</a:t>
            </a:r>
            <a:endParaRPr lang="en-US" sz="2200" dirty="0"/>
          </a:p>
        </p:txBody>
      </p:sp>
      <p:sp>
        <p:nvSpPr>
          <p:cNvPr id="10" name="Text 7"/>
          <p:cNvSpPr/>
          <p:nvPr/>
        </p:nvSpPr>
        <p:spPr>
          <a:xfrm>
            <a:off x="1600200" y="1115568"/>
            <a:ext cx="274320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Invest in Rural Road Lighting</a:t>
            </a:r>
            <a:endParaRPr lang="en-US" sz="1100" dirty="0"/>
          </a:p>
        </p:txBody>
      </p:sp>
      <p:sp>
        <p:nvSpPr>
          <p:cNvPr id="11" name="Text 8"/>
          <p:cNvSpPr/>
          <p:nvPr/>
        </p:nvSpPr>
        <p:spPr>
          <a:xfrm>
            <a:off x="539496" y="1664208"/>
            <a:ext cx="3840480" cy="914400"/>
          </a:xfrm>
          <a:prstGeom prst="rect">
            <a:avLst/>
          </a:prstGeom>
          <a:noFill/>
          <a:ln/>
        </p:spPr>
        <p:txBody>
          <a:bodyPr wrap="square" lIns="0" tIns="0" rIns="0" bIns="0" rtlCol="0" anchor="ctr"/>
          <a:lstStyle/>
          <a:p>
            <a:pPr marL="0" indent="0">
              <a:buNone/>
            </a:pPr>
            <a:r>
              <a:rPr lang="en-US" sz="950" dirty="0">
                <a:solidFill>
                  <a:srgbClr val="E8F0F8"/>
                </a:solidFill>
                <a:latin typeface="Calibri" pitchFamily="34" charset="0"/>
                <a:ea typeface="Calibri" pitchFamily="34" charset="-122"/>
                <a:cs typeface="Calibri" pitchFamily="34" charset="-120"/>
              </a:rPr>
              <a:t>LGT_COND and RUR_URB both selected by AIC — their co-occurrence signals elevated risk. Street lighting and rumble strips on high-risk rural corridors are data-informed interventions, not proven causes.</a:t>
            </a:r>
            <a:endParaRPr lang="en-US" sz="950" dirty="0"/>
          </a:p>
        </p:txBody>
      </p:sp>
      <p:sp>
        <p:nvSpPr>
          <p:cNvPr id="12" name="Shape 9"/>
          <p:cNvSpPr/>
          <p:nvPr/>
        </p:nvSpPr>
        <p:spPr>
          <a:xfrm>
            <a:off x="4663440" y="1005840"/>
            <a:ext cx="4069080" cy="169164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3" name="Shape 10"/>
          <p:cNvSpPr/>
          <p:nvPr/>
        </p:nvSpPr>
        <p:spPr>
          <a:xfrm>
            <a:off x="4663440" y="1005840"/>
            <a:ext cx="4069080" cy="50292"/>
          </a:xfrm>
          <a:prstGeom prst="rect">
            <a:avLst/>
          </a:prstGeom>
          <a:solidFill>
            <a:srgbClr val="F5A623"/>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791456" y="1133856"/>
            <a:ext cx="475488" cy="475488"/>
          </a:xfrm>
          <a:prstGeom prst="rect">
            <a:avLst/>
          </a:prstGeom>
        </p:spPr>
      </p:pic>
      <p:sp>
        <p:nvSpPr>
          <p:cNvPr id="15" name="Text 11"/>
          <p:cNvSpPr/>
          <p:nvPr/>
        </p:nvSpPr>
        <p:spPr>
          <a:xfrm>
            <a:off x="5321808" y="1097280"/>
            <a:ext cx="502920" cy="384048"/>
          </a:xfrm>
          <a:prstGeom prst="rect">
            <a:avLst/>
          </a:prstGeom>
          <a:noFill/>
          <a:ln/>
        </p:spPr>
        <p:txBody>
          <a:bodyPr wrap="square" lIns="0" tIns="0" rIns="0" bIns="0" rtlCol="0" anchor="ctr"/>
          <a:lstStyle/>
          <a:p>
            <a:pPr marL="0" indent="0">
              <a:buNone/>
            </a:pPr>
            <a:r>
              <a:rPr lang="en-US" sz="2200" b="1" dirty="0">
                <a:solidFill>
                  <a:srgbClr val="F5A623"/>
                </a:solidFill>
                <a:latin typeface="Georgia" pitchFamily="34" charset="0"/>
                <a:ea typeface="Georgia" pitchFamily="34" charset="-122"/>
                <a:cs typeface="Georgia" pitchFamily="34" charset="-120"/>
              </a:rPr>
              <a:t>02</a:t>
            </a:r>
            <a:endParaRPr lang="en-US" sz="2200" dirty="0"/>
          </a:p>
        </p:txBody>
      </p:sp>
      <p:sp>
        <p:nvSpPr>
          <p:cNvPr id="16" name="Text 12"/>
          <p:cNvSpPr/>
          <p:nvPr/>
        </p:nvSpPr>
        <p:spPr>
          <a:xfrm>
            <a:off x="5852160" y="1115568"/>
            <a:ext cx="274320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Expand Rideshare Availability</a:t>
            </a:r>
            <a:endParaRPr lang="en-US" sz="1100" dirty="0"/>
          </a:p>
        </p:txBody>
      </p:sp>
      <p:sp>
        <p:nvSpPr>
          <p:cNvPr id="17" name="Text 13"/>
          <p:cNvSpPr/>
          <p:nvPr/>
        </p:nvSpPr>
        <p:spPr>
          <a:xfrm>
            <a:off x="4791456" y="1664208"/>
            <a:ext cx="3840480" cy="914400"/>
          </a:xfrm>
          <a:prstGeom prst="rect">
            <a:avLst/>
          </a:prstGeom>
          <a:noFill/>
          <a:ln/>
        </p:spPr>
        <p:txBody>
          <a:bodyPr wrap="square" lIns="0" tIns="0" rIns="0" bIns="0" rtlCol="0" anchor="ctr"/>
          <a:lstStyle/>
          <a:p>
            <a:pPr marL="0" indent="0">
              <a:buNone/>
            </a:pPr>
            <a:r>
              <a:rPr lang="en-US" sz="950" dirty="0">
                <a:solidFill>
                  <a:srgbClr val="E8F0F8"/>
                </a:solidFill>
                <a:latin typeface="Calibri" pitchFamily="34" charset="0"/>
                <a:ea typeface="Calibri" pitchFamily="34" charset="-122"/>
                <a:cs typeface="Calibri" pitchFamily="34" charset="-120"/>
              </a:rPr>
              <a:t>Impaired driving was a significant predictor. Rideshare surge between 10 PM – 3 AM on weekends provides an alternative to impaired driving — assuming availability in affected areas. Mechanism extends beyond the model data.</a:t>
            </a:r>
            <a:endParaRPr lang="en-US" sz="950" dirty="0"/>
          </a:p>
        </p:txBody>
      </p:sp>
      <p:sp>
        <p:nvSpPr>
          <p:cNvPr id="18" name="Shape 14"/>
          <p:cNvSpPr/>
          <p:nvPr/>
        </p:nvSpPr>
        <p:spPr>
          <a:xfrm>
            <a:off x="411480" y="2907792"/>
            <a:ext cx="4069080" cy="169164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9" name="Shape 15"/>
          <p:cNvSpPr/>
          <p:nvPr/>
        </p:nvSpPr>
        <p:spPr>
          <a:xfrm>
            <a:off x="411480" y="2907792"/>
            <a:ext cx="4069080" cy="50292"/>
          </a:xfrm>
          <a:prstGeom prst="rect">
            <a:avLst/>
          </a:prstGeom>
          <a:solidFill>
            <a:srgbClr val="00957E"/>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539496" y="3035808"/>
            <a:ext cx="475488" cy="475488"/>
          </a:xfrm>
          <a:prstGeom prst="rect">
            <a:avLst/>
          </a:prstGeom>
        </p:spPr>
      </p:pic>
      <p:sp>
        <p:nvSpPr>
          <p:cNvPr id="21" name="Text 16"/>
          <p:cNvSpPr/>
          <p:nvPr/>
        </p:nvSpPr>
        <p:spPr>
          <a:xfrm>
            <a:off x="1069848" y="2999232"/>
            <a:ext cx="502920" cy="384048"/>
          </a:xfrm>
          <a:prstGeom prst="rect">
            <a:avLst/>
          </a:prstGeom>
          <a:noFill/>
          <a:ln/>
        </p:spPr>
        <p:txBody>
          <a:bodyPr wrap="square" lIns="0" tIns="0" rIns="0" bIns="0" rtlCol="0" anchor="ctr"/>
          <a:lstStyle/>
          <a:p>
            <a:pPr marL="0" indent="0">
              <a:buNone/>
            </a:pPr>
            <a:r>
              <a:rPr lang="en-US" sz="2200" b="1" dirty="0">
                <a:solidFill>
                  <a:srgbClr val="00957E"/>
                </a:solidFill>
                <a:latin typeface="Georgia" pitchFamily="34" charset="0"/>
                <a:ea typeface="Georgia" pitchFamily="34" charset="-122"/>
                <a:cs typeface="Georgia" pitchFamily="34" charset="-120"/>
              </a:rPr>
              <a:t>03</a:t>
            </a:r>
            <a:endParaRPr lang="en-US" sz="2200" dirty="0"/>
          </a:p>
        </p:txBody>
      </p:sp>
      <p:sp>
        <p:nvSpPr>
          <p:cNvPr id="22" name="Text 17"/>
          <p:cNvSpPr/>
          <p:nvPr/>
        </p:nvSpPr>
        <p:spPr>
          <a:xfrm>
            <a:off x="1600200" y="3017520"/>
            <a:ext cx="274320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Run Targeted Safety Campaigns</a:t>
            </a:r>
            <a:endParaRPr lang="en-US" sz="1100" dirty="0"/>
          </a:p>
        </p:txBody>
      </p:sp>
      <p:sp>
        <p:nvSpPr>
          <p:cNvPr id="23" name="Text 18"/>
          <p:cNvSpPr/>
          <p:nvPr/>
        </p:nvSpPr>
        <p:spPr>
          <a:xfrm>
            <a:off x="539496" y="3566160"/>
            <a:ext cx="3840480" cy="914400"/>
          </a:xfrm>
          <a:prstGeom prst="rect">
            <a:avLst/>
          </a:prstGeom>
          <a:noFill/>
          <a:ln/>
        </p:spPr>
        <p:txBody>
          <a:bodyPr wrap="square" lIns="0" tIns="0" rIns="0" bIns="0" rtlCol="0" anchor="ctr"/>
          <a:lstStyle/>
          <a:p>
            <a:pPr marL="0" indent="0">
              <a:buNone/>
            </a:pPr>
            <a:r>
              <a:rPr lang="en-US" sz="950" dirty="0">
                <a:solidFill>
                  <a:srgbClr val="E8F0F8"/>
                </a:solidFill>
                <a:latin typeface="Calibri" pitchFamily="34" charset="0"/>
                <a:ea typeface="Calibri" pitchFamily="34" charset="-122"/>
                <a:cs typeface="Calibri" pitchFamily="34" charset="-120"/>
              </a:rPr>
              <a:t>DAY_WEEK and MONTH both retained after controlling for impaired_driver — indicating independent risk beyond impairment alone. Friday/Saturday nights and summer months are peak windows for focused campaigns.</a:t>
            </a:r>
            <a:endParaRPr lang="en-US" sz="950" dirty="0"/>
          </a:p>
        </p:txBody>
      </p:sp>
      <p:sp>
        <p:nvSpPr>
          <p:cNvPr id="24" name="Shape 19"/>
          <p:cNvSpPr/>
          <p:nvPr/>
        </p:nvSpPr>
        <p:spPr>
          <a:xfrm>
            <a:off x="4663440" y="2907792"/>
            <a:ext cx="4069080" cy="169164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25" name="Shape 20"/>
          <p:cNvSpPr/>
          <p:nvPr/>
        </p:nvSpPr>
        <p:spPr>
          <a:xfrm>
            <a:off x="4663440" y="2907792"/>
            <a:ext cx="4069080" cy="50292"/>
          </a:xfrm>
          <a:prstGeom prst="rect">
            <a:avLst/>
          </a:prstGeom>
          <a:solidFill>
            <a:srgbClr val="E05252"/>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4791456" y="3035808"/>
            <a:ext cx="475488" cy="475488"/>
          </a:xfrm>
          <a:prstGeom prst="rect">
            <a:avLst/>
          </a:prstGeom>
        </p:spPr>
      </p:pic>
      <p:sp>
        <p:nvSpPr>
          <p:cNvPr id="27" name="Text 21"/>
          <p:cNvSpPr/>
          <p:nvPr/>
        </p:nvSpPr>
        <p:spPr>
          <a:xfrm>
            <a:off x="5321808" y="2999232"/>
            <a:ext cx="502920" cy="384048"/>
          </a:xfrm>
          <a:prstGeom prst="rect">
            <a:avLst/>
          </a:prstGeom>
          <a:noFill/>
          <a:ln/>
        </p:spPr>
        <p:txBody>
          <a:bodyPr wrap="square" lIns="0" tIns="0" rIns="0" bIns="0" rtlCol="0" anchor="ctr"/>
          <a:lstStyle/>
          <a:p>
            <a:pPr marL="0" indent="0">
              <a:buNone/>
            </a:pPr>
            <a:r>
              <a:rPr lang="en-US" sz="2200" b="1" dirty="0">
                <a:solidFill>
                  <a:srgbClr val="E05252"/>
                </a:solidFill>
                <a:latin typeface="Georgia" pitchFamily="34" charset="0"/>
                <a:ea typeface="Georgia" pitchFamily="34" charset="-122"/>
                <a:cs typeface="Georgia" pitchFamily="34" charset="-120"/>
              </a:rPr>
              <a:t>04</a:t>
            </a:r>
            <a:endParaRPr lang="en-US" sz="2200" dirty="0"/>
          </a:p>
        </p:txBody>
      </p:sp>
      <p:sp>
        <p:nvSpPr>
          <p:cNvPr id="28" name="Text 22"/>
          <p:cNvSpPr/>
          <p:nvPr/>
        </p:nvSpPr>
        <p:spPr>
          <a:xfrm>
            <a:off x="5852160" y="3017520"/>
            <a:ext cx="274320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Pre-Position Emergency Services</a:t>
            </a:r>
            <a:endParaRPr lang="en-US" sz="1100" dirty="0"/>
          </a:p>
        </p:txBody>
      </p:sp>
      <p:sp>
        <p:nvSpPr>
          <p:cNvPr id="29" name="Text 23"/>
          <p:cNvSpPr/>
          <p:nvPr/>
        </p:nvSpPr>
        <p:spPr>
          <a:xfrm>
            <a:off x="4791456" y="3566160"/>
            <a:ext cx="3840480" cy="914400"/>
          </a:xfrm>
          <a:prstGeom prst="rect">
            <a:avLst/>
          </a:prstGeom>
          <a:noFill/>
          <a:ln/>
        </p:spPr>
        <p:txBody>
          <a:bodyPr wrap="square" lIns="0" tIns="0" rIns="0" bIns="0" rtlCol="0" anchor="ctr"/>
          <a:lstStyle/>
          <a:p>
            <a:pPr marL="0" indent="0">
              <a:buNone/>
            </a:pPr>
            <a:r>
              <a:rPr lang="en-US" sz="950" dirty="0">
                <a:solidFill>
                  <a:srgbClr val="E8F0F8"/>
                </a:solidFill>
                <a:latin typeface="Calibri" pitchFamily="34" charset="0"/>
                <a:ea typeface="Calibri" pitchFamily="34" charset="-122"/>
                <a:cs typeface="Calibri" pitchFamily="34" charset="-120"/>
              </a:rPr>
              <a:t>PERSONS and VE_TOTAL are top predictors. Road segments historically associated with multi-vehicle crashes should have faster EMS coverage nearby to improve response times.</a:t>
            </a:r>
            <a:endParaRPr lang="en-US" sz="950" dirty="0"/>
          </a:p>
        </p:txBody>
      </p:sp>
      <p:sp>
        <p:nvSpPr>
          <p:cNvPr id="30" name="Shape 24"/>
          <p:cNvSpPr/>
          <p:nvPr/>
        </p:nvSpPr>
        <p:spPr>
          <a:xfrm>
            <a:off x="411480" y="4727448"/>
            <a:ext cx="8321040" cy="347472"/>
          </a:xfrm>
          <a:prstGeom prst="rect">
            <a:avLst/>
          </a:prstGeom>
          <a:solidFill>
            <a:srgbClr val="1A3354"/>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31" name="Text 25"/>
          <p:cNvSpPr/>
          <p:nvPr/>
        </p:nvSpPr>
        <p:spPr>
          <a:xfrm>
            <a:off x="548640" y="4727448"/>
            <a:ext cx="8046720" cy="347472"/>
          </a:xfrm>
          <a:prstGeom prst="rect">
            <a:avLst/>
          </a:prstGeom>
          <a:noFill/>
          <a:ln/>
        </p:spPr>
        <p:txBody>
          <a:bodyPr wrap="square" lIns="0" tIns="0" rIns="0" bIns="0" rtlCol="0" anchor="ctr"/>
          <a:lstStyle/>
          <a:p>
            <a:pPr marL="0" indent="0">
              <a:buNone/>
            </a:pPr>
            <a:r>
              <a:rPr lang="en-US" sz="900" b="1" dirty="0">
                <a:solidFill>
                  <a:srgbClr val="F5A623"/>
                </a:solidFill>
                <a:latin typeface="Calibri" pitchFamily="34" charset="0"/>
                <a:ea typeface="Calibri" pitchFamily="34" charset="-122"/>
                <a:cs typeface="Calibri" pitchFamily="34" charset="-120"/>
              </a:rPr>
              <a:t>Note: </a:t>
            </a:r>
            <a:r>
              <a:rPr lang="en-US" sz="900" dirty="0">
                <a:solidFill>
                  <a:srgbClr val="8BA4BF"/>
                </a:solidFill>
                <a:latin typeface="Calibri" pitchFamily="34" charset="0"/>
                <a:ea typeface="Calibri" pitchFamily="34" charset="-122"/>
                <a:cs typeface="Calibri" pitchFamily="34" charset="-120"/>
              </a:rPr>
              <a:t>An RMSE of 0.35 means the model is not perfect. Use it as a guide to make better decisions — not as an automatic decision-maker replacing human judgment.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2A8"/>
          </a:solidFill>
          <a:ln/>
        </p:spPr>
        <p:txBody>
          <a:bodyPr/>
          <a:lstStyle/>
          <a:p>
            <a:endParaRPr lang="en-US"/>
          </a:p>
        </p:txBody>
      </p:sp>
      <p:sp>
        <p:nvSpPr>
          <p:cNvPr id="3" name="Text 1"/>
          <p:cNvSpPr/>
          <p:nvPr/>
        </p:nvSpPr>
        <p:spPr>
          <a:xfrm>
            <a:off x="411480" y="109728"/>
            <a:ext cx="832104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Conclusion</a:t>
            </a:r>
            <a:endParaRPr lang="en-US" sz="2600" dirty="0"/>
          </a:p>
        </p:txBody>
      </p:sp>
      <p:sp>
        <p:nvSpPr>
          <p:cNvPr id="4" name="Text 2"/>
          <p:cNvSpPr/>
          <p:nvPr/>
        </p:nvSpPr>
        <p:spPr>
          <a:xfrm>
            <a:off x="411480" y="603504"/>
            <a:ext cx="8321040" cy="256032"/>
          </a:xfrm>
          <a:prstGeom prst="rect">
            <a:avLst/>
          </a:prstGeom>
          <a:noFill/>
          <a:ln/>
        </p:spPr>
        <p:txBody>
          <a:bodyPr wrap="square" lIns="0" tIns="0" rIns="0" bIns="0" rtlCol="0" anchor="ctr"/>
          <a:lstStyle/>
          <a:p>
            <a:pPr marL="0" indent="0" algn="l">
              <a:buNone/>
            </a:pPr>
            <a:r>
              <a:rPr lang="en-US" sz="1100" kern="0" spc="150" dirty="0">
                <a:solidFill>
                  <a:srgbClr val="00C2A8"/>
                </a:solidFill>
                <a:latin typeface="Calibri" pitchFamily="34" charset="0"/>
                <a:ea typeface="Calibri" pitchFamily="34" charset="-122"/>
                <a:cs typeface="Calibri" pitchFamily="34" charset="-120"/>
              </a:rPr>
              <a:t>SUMMARY OF KEY FINDINGS</a:t>
            </a:r>
            <a:endParaRPr lang="en-US" sz="1100" dirty="0"/>
          </a:p>
        </p:txBody>
      </p:sp>
      <p:sp>
        <p:nvSpPr>
          <p:cNvPr id="5" name="Shape 3"/>
          <p:cNvSpPr/>
          <p:nvPr/>
        </p:nvSpPr>
        <p:spPr>
          <a:xfrm>
            <a:off x="411480" y="859536"/>
            <a:ext cx="8321040" cy="13716"/>
          </a:xfrm>
          <a:prstGeom prst="rect">
            <a:avLst/>
          </a:prstGeom>
          <a:solidFill>
            <a:srgbClr val="1A3354"/>
          </a:solidFill>
          <a:ln/>
        </p:spPr>
        <p:txBody>
          <a:bodyPr/>
          <a:lstStyle/>
          <a:p>
            <a:endParaRPr lang="en-US"/>
          </a:p>
        </p:txBody>
      </p:sp>
      <p:sp>
        <p:nvSpPr>
          <p:cNvPr id="6" name="Shape 4"/>
          <p:cNvSpPr/>
          <p:nvPr/>
        </p:nvSpPr>
        <p:spPr>
          <a:xfrm>
            <a:off x="411480" y="1005840"/>
            <a:ext cx="4892040" cy="301752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7" name="Shape 5"/>
          <p:cNvSpPr/>
          <p:nvPr/>
        </p:nvSpPr>
        <p:spPr>
          <a:xfrm>
            <a:off x="411480" y="1005840"/>
            <a:ext cx="64008" cy="3017520"/>
          </a:xfrm>
          <a:prstGeom prst="rect">
            <a:avLst/>
          </a:prstGeom>
          <a:solidFill>
            <a:srgbClr val="00C2A8"/>
          </a:solidFill>
          <a:ln/>
        </p:spPr>
        <p:txBody>
          <a:bodyPr/>
          <a:lstStyle/>
          <a:p>
            <a:endParaRPr lang="en-US"/>
          </a:p>
        </p:txBody>
      </p:sp>
      <p:sp>
        <p:nvSpPr>
          <p:cNvPr id="8" name="Text 6"/>
          <p:cNvSpPr/>
          <p:nvPr/>
        </p:nvSpPr>
        <p:spPr>
          <a:xfrm>
            <a:off x="566928" y="1051560"/>
            <a:ext cx="4617720" cy="292608"/>
          </a:xfrm>
          <a:prstGeom prst="rect">
            <a:avLst/>
          </a:prstGeom>
          <a:noFill/>
          <a:ln/>
        </p:spPr>
        <p:txBody>
          <a:bodyPr wrap="square" lIns="0" tIns="0" rIns="0" bIns="0" rtlCol="0" anchor="ctr"/>
          <a:lstStyle/>
          <a:p>
            <a:pPr marL="0" indent="0">
              <a:buNone/>
            </a:pPr>
            <a:r>
              <a:rPr lang="en-US" sz="1100" b="1" dirty="0">
                <a:solidFill>
                  <a:srgbClr val="00C2A8"/>
                </a:solidFill>
                <a:latin typeface="Calibri" pitchFamily="34" charset="0"/>
                <a:ea typeface="Calibri" pitchFamily="34" charset="-122"/>
                <a:cs typeface="Calibri" pitchFamily="34" charset="-120"/>
              </a:rPr>
              <a:t>What We Did</a:t>
            </a:r>
            <a:endParaRPr lang="en-US" sz="1100" dirty="0"/>
          </a:p>
        </p:txBody>
      </p:sp>
      <p:sp>
        <p:nvSpPr>
          <p:cNvPr id="9" name="Text 7"/>
          <p:cNvSpPr/>
          <p:nvPr/>
        </p:nvSpPr>
        <p:spPr>
          <a:xfrm>
            <a:off x="566928" y="1389888"/>
            <a:ext cx="4617720" cy="566928"/>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1.  </a:t>
            </a:r>
            <a:r>
              <a:rPr lang="en-US" sz="1000" dirty="0">
                <a:solidFill>
                  <a:srgbClr val="E8F0F8"/>
                </a:solidFill>
                <a:latin typeface="Calibri" pitchFamily="34" charset="0"/>
                <a:ea typeface="Calibri" pitchFamily="34" charset="-122"/>
                <a:cs typeface="Calibri" pitchFamily="34" charset="-120"/>
              </a:rPr>
              <a:t>Merged NHTSA FARS crash data with driver impairment file → 37,654 crashes, 14 predictors</a:t>
            </a:r>
            <a:endParaRPr lang="en-US" sz="1000" dirty="0"/>
          </a:p>
        </p:txBody>
      </p:sp>
      <p:sp>
        <p:nvSpPr>
          <p:cNvPr id="10" name="Text 8"/>
          <p:cNvSpPr/>
          <p:nvPr/>
        </p:nvSpPr>
        <p:spPr>
          <a:xfrm>
            <a:off x="566928" y="2011680"/>
            <a:ext cx="4617720" cy="566928"/>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2.  </a:t>
            </a:r>
            <a:r>
              <a:rPr lang="en-US" sz="1000" dirty="0">
                <a:solidFill>
                  <a:srgbClr val="E8F0F8"/>
                </a:solidFill>
                <a:latin typeface="Calibri" pitchFamily="34" charset="0"/>
                <a:ea typeface="Calibri" pitchFamily="34" charset="-122"/>
                <a:cs typeface="Calibri" pitchFamily="34" charset="-120"/>
              </a:rPr>
              <a:t>Used Stepwise AIC (all 3 directions agreed) to select 10 final predictors from 80 original columns. Confirmed no multicollinearity via VIF.</a:t>
            </a:r>
            <a:endParaRPr lang="en-US" sz="1000" dirty="0"/>
          </a:p>
        </p:txBody>
      </p:sp>
      <p:sp>
        <p:nvSpPr>
          <p:cNvPr id="11" name="Text 9"/>
          <p:cNvSpPr/>
          <p:nvPr/>
        </p:nvSpPr>
        <p:spPr>
          <a:xfrm>
            <a:off x="566928" y="2633472"/>
            <a:ext cx="4617720" cy="566928"/>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3.  </a:t>
            </a:r>
            <a:r>
              <a:rPr lang="en-US" sz="1000" dirty="0">
                <a:solidFill>
                  <a:srgbClr val="E8F0F8"/>
                </a:solidFill>
                <a:latin typeface="Calibri" pitchFamily="34" charset="0"/>
                <a:ea typeface="Calibri" pitchFamily="34" charset="-122"/>
                <a:cs typeface="Calibri" pitchFamily="34" charset="-120"/>
              </a:rPr>
              <a:t>Linear Regression: validation RMSE 0.3467  ·  Decision Tree: validation RMSE 0.3457</a:t>
            </a:r>
            <a:endParaRPr lang="en-US" sz="1000" dirty="0"/>
          </a:p>
        </p:txBody>
      </p:sp>
      <p:sp>
        <p:nvSpPr>
          <p:cNvPr id="12" name="Text 10"/>
          <p:cNvSpPr/>
          <p:nvPr/>
        </p:nvSpPr>
        <p:spPr>
          <a:xfrm>
            <a:off x="566928" y="3255264"/>
            <a:ext cx="4617720" cy="566928"/>
          </a:xfrm>
          <a:prstGeom prst="rect">
            <a:avLst/>
          </a:prstGeom>
          <a:noFill/>
          <a:ln/>
        </p:spPr>
        <p:txBody>
          <a:bodyPr wrap="square" lIns="0" tIns="0" rIns="0" bIns="0" rtlCol="0" anchor="ctr"/>
          <a:lstStyle/>
          <a:p>
            <a:pPr marL="0" indent="0">
              <a:buNone/>
            </a:pPr>
            <a:r>
              <a:rPr lang="en-US" sz="1000" b="1" dirty="0">
                <a:solidFill>
                  <a:srgbClr val="00C2A8"/>
                </a:solidFill>
                <a:latin typeface="Calibri" pitchFamily="34" charset="0"/>
                <a:ea typeface="Calibri" pitchFamily="34" charset="-122"/>
                <a:cs typeface="Calibri" pitchFamily="34" charset="-120"/>
              </a:rPr>
              <a:t>4.  </a:t>
            </a:r>
            <a:r>
              <a:rPr lang="en-US" sz="1000" dirty="0">
                <a:solidFill>
                  <a:srgbClr val="E8F0F8"/>
                </a:solidFill>
                <a:latin typeface="Calibri" pitchFamily="34" charset="0"/>
                <a:ea typeface="Calibri" pitchFamily="34" charset="-122"/>
                <a:cs typeface="Calibri" pitchFamily="34" charset="-120"/>
              </a:rPr>
              <a:t>5-fold cross-validation confirmed no overfitting in either model — train/validation RMSE gap under 5% for both</a:t>
            </a:r>
            <a:endParaRPr lang="en-US" sz="1000" dirty="0"/>
          </a:p>
        </p:txBody>
      </p:sp>
      <p:sp>
        <p:nvSpPr>
          <p:cNvPr id="13" name="Shape 11"/>
          <p:cNvSpPr/>
          <p:nvPr/>
        </p:nvSpPr>
        <p:spPr>
          <a:xfrm>
            <a:off x="5486400" y="1005840"/>
            <a:ext cx="3246120" cy="301752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14" name="Shape 12"/>
          <p:cNvSpPr/>
          <p:nvPr/>
        </p:nvSpPr>
        <p:spPr>
          <a:xfrm>
            <a:off x="5486400" y="1005840"/>
            <a:ext cx="64008" cy="3017520"/>
          </a:xfrm>
          <a:prstGeom prst="rect">
            <a:avLst/>
          </a:prstGeom>
          <a:solidFill>
            <a:srgbClr val="F5A623"/>
          </a:solidFill>
          <a:ln/>
        </p:spPr>
        <p:txBody>
          <a:bodyPr/>
          <a:lstStyle/>
          <a:p>
            <a:endParaRPr lang="en-US"/>
          </a:p>
        </p:txBody>
      </p:sp>
      <p:sp>
        <p:nvSpPr>
          <p:cNvPr id="15" name="Text 13"/>
          <p:cNvSpPr/>
          <p:nvPr/>
        </p:nvSpPr>
        <p:spPr>
          <a:xfrm>
            <a:off x="5641848" y="1051560"/>
            <a:ext cx="2971800" cy="292608"/>
          </a:xfrm>
          <a:prstGeom prst="rect">
            <a:avLst/>
          </a:prstGeom>
          <a:noFill/>
          <a:ln/>
        </p:spPr>
        <p:txBody>
          <a:bodyPr wrap="square" lIns="0" tIns="0" rIns="0" bIns="0" rtlCol="0" anchor="ctr"/>
          <a:lstStyle/>
          <a:p>
            <a:pPr marL="0" indent="0">
              <a:buNone/>
            </a:pPr>
            <a:r>
              <a:rPr lang="en-US" sz="1100" b="1" dirty="0">
                <a:solidFill>
                  <a:srgbClr val="F5A623"/>
                </a:solidFill>
                <a:latin typeface="Calibri" pitchFamily="34" charset="0"/>
                <a:ea typeface="Calibri" pitchFamily="34" charset="-122"/>
                <a:cs typeface="Calibri" pitchFamily="34" charset="-120"/>
              </a:rPr>
              <a:t>Key Takeaways</a:t>
            </a:r>
            <a:endParaRPr lang="en-US" sz="1100" dirty="0"/>
          </a:p>
        </p:txBody>
      </p:sp>
      <p:sp>
        <p:nvSpPr>
          <p:cNvPr id="16" name="Text 14"/>
          <p:cNvSpPr/>
          <p:nvPr/>
        </p:nvSpPr>
        <p:spPr>
          <a:xfrm>
            <a:off x="5641848" y="1389888"/>
            <a:ext cx="29718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Crash size matters most</a:t>
            </a:r>
            <a:endParaRPr lang="en-US" sz="1050" dirty="0"/>
          </a:p>
        </p:txBody>
      </p:sp>
      <p:sp>
        <p:nvSpPr>
          <p:cNvPr id="17" name="Text 15"/>
          <p:cNvSpPr/>
          <p:nvPr/>
        </p:nvSpPr>
        <p:spPr>
          <a:xfrm>
            <a:off x="5641848" y="1682496"/>
            <a:ext cx="2971800" cy="502920"/>
          </a:xfrm>
          <a:prstGeom prst="rect">
            <a:avLst/>
          </a:prstGeom>
          <a:noFill/>
          <a:ln/>
        </p:spPr>
        <p:txBody>
          <a:bodyPr wrap="square" lIns="0" tIns="0" rIns="0" bIns="0" rtlCol="0" anchor="ctr"/>
          <a:lstStyle/>
          <a:p>
            <a:pPr marL="0" indent="0">
              <a:buNone/>
            </a:pPr>
            <a:r>
              <a:rPr lang="en-US" sz="950" dirty="0">
                <a:solidFill>
                  <a:srgbClr val="E8F0F8"/>
                </a:solidFill>
                <a:latin typeface="Calibri" pitchFamily="34" charset="0"/>
                <a:ea typeface="Calibri" pitchFamily="34" charset="-122"/>
                <a:cs typeface="Calibri" pitchFamily="34" charset="-120"/>
              </a:rPr>
              <a:t>PERSONS and VE_TOTAL are the strongest predictors of fatality count.</a:t>
            </a:r>
            <a:endParaRPr lang="en-US" sz="950" dirty="0"/>
          </a:p>
        </p:txBody>
      </p:sp>
      <p:sp>
        <p:nvSpPr>
          <p:cNvPr id="18" name="Text 16"/>
          <p:cNvSpPr/>
          <p:nvPr/>
        </p:nvSpPr>
        <p:spPr>
          <a:xfrm>
            <a:off x="5641848" y="2258568"/>
            <a:ext cx="29718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Impaired drivers, rural roads, dark conditions</a:t>
            </a:r>
            <a:endParaRPr lang="en-US" sz="1050" dirty="0"/>
          </a:p>
        </p:txBody>
      </p:sp>
      <p:sp>
        <p:nvSpPr>
          <p:cNvPr id="19" name="Text 17"/>
          <p:cNvSpPr/>
          <p:nvPr/>
        </p:nvSpPr>
        <p:spPr>
          <a:xfrm>
            <a:off x="5641848" y="2551176"/>
            <a:ext cx="2971800" cy="502920"/>
          </a:xfrm>
          <a:prstGeom prst="rect">
            <a:avLst/>
          </a:prstGeom>
          <a:noFill/>
          <a:ln/>
        </p:spPr>
        <p:txBody>
          <a:bodyPr wrap="square" lIns="0" tIns="0" rIns="0" bIns="0" rtlCol="0" anchor="ctr"/>
          <a:lstStyle/>
          <a:p>
            <a:pPr marL="0" indent="0">
              <a:buNone/>
            </a:pPr>
            <a:r>
              <a:rPr lang="en-US" sz="950" dirty="0">
                <a:solidFill>
                  <a:srgbClr val="E8F0F8"/>
                </a:solidFill>
                <a:latin typeface="Calibri" pitchFamily="34" charset="0"/>
                <a:ea typeface="Calibri" pitchFamily="34" charset="-122"/>
                <a:cs typeface="Calibri" pitchFamily="34" charset="-120"/>
              </a:rPr>
              <a:t>All significantly raise expected fatalities.</a:t>
            </a:r>
            <a:endParaRPr lang="en-US" sz="950" dirty="0"/>
          </a:p>
        </p:txBody>
      </p:sp>
      <p:sp>
        <p:nvSpPr>
          <p:cNvPr id="20" name="Text 18"/>
          <p:cNvSpPr/>
          <p:nvPr/>
        </p:nvSpPr>
        <p:spPr>
          <a:xfrm>
            <a:off x="5641848" y="3127248"/>
            <a:ext cx="29718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Both models agree on same findings</a:t>
            </a:r>
            <a:endParaRPr lang="en-US" sz="1050" dirty="0"/>
          </a:p>
        </p:txBody>
      </p:sp>
      <p:sp>
        <p:nvSpPr>
          <p:cNvPr id="21" name="Text 19"/>
          <p:cNvSpPr/>
          <p:nvPr/>
        </p:nvSpPr>
        <p:spPr>
          <a:xfrm>
            <a:off x="5641848" y="3419856"/>
            <a:ext cx="2971800" cy="502920"/>
          </a:xfrm>
          <a:prstGeom prst="rect">
            <a:avLst/>
          </a:prstGeom>
          <a:noFill/>
          <a:ln/>
        </p:spPr>
        <p:txBody>
          <a:bodyPr wrap="square" lIns="0" tIns="0" rIns="0" bIns="0" rtlCol="0" anchor="ctr"/>
          <a:lstStyle/>
          <a:p>
            <a:pPr marL="0" indent="0">
              <a:buNone/>
            </a:pPr>
            <a:r>
              <a:rPr lang="en-US" sz="950" dirty="0">
                <a:solidFill>
                  <a:srgbClr val="E8F0F8"/>
                </a:solidFill>
                <a:latin typeface="Calibri" pitchFamily="34" charset="0"/>
                <a:ea typeface="Calibri" pitchFamily="34" charset="-122"/>
                <a:cs typeface="Calibri" pitchFamily="34" charset="-120"/>
              </a:rPr>
              <a:t>Consistency gives confidence in the results.</a:t>
            </a:r>
            <a:endParaRPr lang="en-US" sz="950" dirty="0"/>
          </a:p>
        </p:txBody>
      </p:sp>
      <p:sp>
        <p:nvSpPr>
          <p:cNvPr id="22" name="Shape 20"/>
          <p:cNvSpPr/>
          <p:nvPr/>
        </p:nvSpPr>
        <p:spPr>
          <a:xfrm>
            <a:off x="411480" y="4160520"/>
            <a:ext cx="1965960" cy="9144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23" name="Shape 21"/>
          <p:cNvSpPr/>
          <p:nvPr/>
        </p:nvSpPr>
        <p:spPr>
          <a:xfrm>
            <a:off x="411480" y="4160520"/>
            <a:ext cx="1965960" cy="50292"/>
          </a:xfrm>
          <a:prstGeom prst="rect">
            <a:avLst/>
          </a:prstGeom>
          <a:solidFill>
            <a:srgbClr val="00C2A8"/>
          </a:solidFill>
          <a:ln/>
        </p:spPr>
        <p:txBody>
          <a:bodyPr/>
          <a:lstStyle/>
          <a:p>
            <a:endParaRPr lang="en-US"/>
          </a:p>
        </p:txBody>
      </p:sp>
      <p:sp>
        <p:nvSpPr>
          <p:cNvPr id="24" name="Text 22"/>
          <p:cNvSpPr/>
          <p:nvPr/>
        </p:nvSpPr>
        <p:spPr>
          <a:xfrm>
            <a:off x="502920" y="4251960"/>
            <a:ext cx="1783080" cy="502920"/>
          </a:xfrm>
          <a:prstGeom prst="rect">
            <a:avLst/>
          </a:prstGeom>
          <a:noFill/>
          <a:ln/>
        </p:spPr>
        <p:txBody>
          <a:bodyPr wrap="square" lIns="0" tIns="0" rIns="0" bIns="0" rtlCol="0" anchor="ctr"/>
          <a:lstStyle/>
          <a:p>
            <a:pPr marL="0" indent="0" algn="ctr">
              <a:buNone/>
            </a:pPr>
            <a:r>
              <a:rPr lang="en-US" sz="3000" b="1" dirty="0">
                <a:solidFill>
                  <a:srgbClr val="00C2A8"/>
                </a:solidFill>
                <a:latin typeface="Georgia" pitchFamily="34" charset="0"/>
                <a:ea typeface="Georgia" pitchFamily="34" charset="-122"/>
                <a:cs typeface="Georgia" pitchFamily="34" charset="-120"/>
              </a:rPr>
              <a:t>37,654</a:t>
            </a:r>
            <a:endParaRPr lang="en-US" sz="3000" dirty="0"/>
          </a:p>
        </p:txBody>
      </p:sp>
      <p:sp>
        <p:nvSpPr>
          <p:cNvPr id="25" name="Text 23"/>
          <p:cNvSpPr/>
          <p:nvPr/>
        </p:nvSpPr>
        <p:spPr>
          <a:xfrm>
            <a:off x="484632" y="4709160"/>
            <a:ext cx="1819656" cy="347472"/>
          </a:xfrm>
          <a:prstGeom prst="rect">
            <a:avLst/>
          </a:prstGeom>
          <a:noFill/>
          <a:ln/>
        </p:spPr>
        <p:txBody>
          <a:bodyPr wrap="square" lIns="0" tIns="0" rIns="0" bIns="0" rtlCol="0" anchor="t"/>
          <a:lstStyle/>
          <a:p>
            <a:pPr marL="0" indent="0" algn="ctr">
              <a:buNone/>
            </a:pPr>
            <a:r>
              <a:rPr lang="en-US" sz="950" dirty="0">
                <a:solidFill>
                  <a:srgbClr val="E8F0F8"/>
                </a:solidFill>
                <a:latin typeface="Calibri" pitchFamily="34" charset="0"/>
                <a:ea typeface="Calibri" pitchFamily="34" charset="-122"/>
                <a:cs typeface="Calibri" pitchFamily="34" charset="-120"/>
              </a:rPr>
              <a:t>crashes analyzed</a:t>
            </a:r>
            <a:endParaRPr lang="en-US" sz="950" dirty="0"/>
          </a:p>
        </p:txBody>
      </p:sp>
      <p:sp>
        <p:nvSpPr>
          <p:cNvPr id="26" name="Shape 24"/>
          <p:cNvSpPr/>
          <p:nvPr/>
        </p:nvSpPr>
        <p:spPr>
          <a:xfrm>
            <a:off x="2514600" y="4160520"/>
            <a:ext cx="1965960" cy="9144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27" name="Shape 25"/>
          <p:cNvSpPr/>
          <p:nvPr/>
        </p:nvSpPr>
        <p:spPr>
          <a:xfrm>
            <a:off x="2514600" y="4160520"/>
            <a:ext cx="1965960" cy="50292"/>
          </a:xfrm>
          <a:prstGeom prst="rect">
            <a:avLst/>
          </a:prstGeom>
          <a:solidFill>
            <a:srgbClr val="F5A623"/>
          </a:solidFill>
          <a:ln/>
        </p:spPr>
        <p:txBody>
          <a:bodyPr/>
          <a:lstStyle/>
          <a:p>
            <a:endParaRPr lang="en-US"/>
          </a:p>
        </p:txBody>
      </p:sp>
      <p:sp>
        <p:nvSpPr>
          <p:cNvPr id="28" name="Text 26"/>
          <p:cNvSpPr/>
          <p:nvPr/>
        </p:nvSpPr>
        <p:spPr>
          <a:xfrm>
            <a:off x="2606040" y="4251960"/>
            <a:ext cx="1783080" cy="502920"/>
          </a:xfrm>
          <a:prstGeom prst="rect">
            <a:avLst/>
          </a:prstGeom>
          <a:noFill/>
          <a:ln/>
        </p:spPr>
        <p:txBody>
          <a:bodyPr wrap="square" lIns="0" tIns="0" rIns="0" bIns="0" rtlCol="0" anchor="ctr"/>
          <a:lstStyle/>
          <a:p>
            <a:pPr marL="0" indent="0" algn="ctr">
              <a:buNone/>
            </a:pPr>
            <a:r>
              <a:rPr lang="en-US" sz="3000" b="1" dirty="0">
                <a:solidFill>
                  <a:srgbClr val="F5A623"/>
                </a:solidFill>
                <a:latin typeface="Georgia" pitchFamily="34" charset="0"/>
                <a:ea typeface="Georgia" pitchFamily="34" charset="-122"/>
                <a:cs typeface="Georgia" pitchFamily="34" charset="-120"/>
              </a:rPr>
              <a:t>80→10</a:t>
            </a:r>
            <a:endParaRPr lang="en-US" sz="3000" dirty="0"/>
          </a:p>
        </p:txBody>
      </p:sp>
      <p:sp>
        <p:nvSpPr>
          <p:cNvPr id="29" name="Text 27"/>
          <p:cNvSpPr/>
          <p:nvPr/>
        </p:nvSpPr>
        <p:spPr>
          <a:xfrm>
            <a:off x="2587752" y="4709160"/>
            <a:ext cx="1819656" cy="347472"/>
          </a:xfrm>
          <a:prstGeom prst="rect">
            <a:avLst/>
          </a:prstGeom>
          <a:noFill/>
          <a:ln/>
        </p:spPr>
        <p:txBody>
          <a:bodyPr wrap="square" lIns="0" tIns="0" rIns="0" bIns="0" rtlCol="0" anchor="t"/>
          <a:lstStyle/>
          <a:p>
            <a:pPr marL="0" indent="0" algn="ctr">
              <a:buNone/>
            </a:pPr>
            <a:r>
              <a:rPr lang="en-US" sz="950" dirty="0">
                <a:solidFill>
                  <a:srgbClr val="E8F0F8"/>
                </a:solidFill>
                <a:latin typeface="Calibri" pitchFamily="34" charset="0"/>
                <a:ea typeface="Calibri" pitchFamily="34" charset="-122"/>
                <a:cs typeface="Calibri" pitchFamily="34" charset="-120"/>
              </a:rPr>
              <a:t>predictors selected</a:t>
            </a:r>
            <a:endParaRPr lang="en-US" sz="950" dirty="0"/>
          </a:p>
        </p:txBody>
      </p:sp>
      <p:sp>
        <p:nvSpPr>
          <p:cNvPr id="30" name="Shape 28"/>
          <p:cNvSpPr/>
          <p:nvPr/>
        </p:nvSpPr>
        <p:spPr>
          <a:xfrm>
            <a:off x="4617720" y="4160520"/>
            <a:ext cx="1965960" cy="9144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31" name="Shape 29"/>
          <p:cNvSpPr/>
          <p:nvPr/>
        </p:nvSpPr>
        <p:spPr>
          <a:xfrm>
            <a:off x="4617720" y="4160520"/>
            <a:ext cx="1965960" cy="50292"/>
          </a:xfrm>
          <a:prstGeom prst="rect">
            <a:avLst/>
          </a:prstGeom>
          <a:solidFill>
            <a:srgbClr val="00957E"/>
          </a:solidFill>
          <a:ln/>
        </p:spPr>
        <p:txBody>
          <a:bodyPr/>
          <a:lstStyle/>
          <a:p>
            <a:endParaRPr lang="en-US"/>
          </a:p>
        </p:txBody>
      </p:sp>
      <p:sp>
        <p:nvSpPr>
          <p:cNvPr id="32" name="Text 30"/>
          <p:cNvSpPr/>
          <p:nvPr/>
        </p:nvSpPr>
        <p:spPr>
          <a:xfrm>
            <a:off x="4709160" y="4251960"/>
            <a:ext cx="1783080" cy="502920"/>
          </a:xfrm>
          <a:prstGeom prst="rect">
            <a:avLst/>
          </a:prstGeom>
          <a:noFill/>
          <a:ln/>
        </p:spPr>
        <p:txBody>
          <a:bodyPr wrap="square" lIns="0" tIns="0" rIns="0" bIns="0" rtlCol="0" anchor="ctr"/>
          <a:lstStyle/>
          <a:p>
            <a:pPr marL="0" indent="0" algn="ctr">
              <a:buNone/>
            </a:pPr>
            <a:r>
              <a:rPr lang="en-US" sz="3000" b="1" dirty="0">
                <a:solidFill>
                  <a:srgbClr val="00957E"/>
                </a:solidFill>
                <a:latin typeface="Georgia" pitchFamily="34" charset="0"/>
                <a:ea typeface="Georgia" pitchFamily="34" charset="-122"/>
                <a:cs typeface="Georgia" pitchFamily="34" charset="-120"/>
              </a:rPr>
              <a:t>0.3467</a:t>
            </a:r>
            <a:endParaRPr lang="en-US" sz="3000" dirty="0"/>
          </a:p>
        </p:txBody>
      </p:sp>
      <p:sp>
        <p:nvSpPr>
          <p:cNvPr id="33" name="Text 31"/>
          <p:cNvSpPr/>
          <p:nvPr/>
        </p:nvSpPr>
        <p:spPr>
          <a:xfrm>
            <a:off x="4690872" y="4709160"/>
            <a:ext cx="1819656" cy="347472"/>
          </a:xfrm>
          <a:prstGeom prst="rect">
            <a:avLst/>
          </a:prstGeom>
          <a:noFill/>
          <a:ln/>
        </p:spPr>
        <p:txBody>
          <a:bodyPr wrap="square" lIns="0" tIns="0" rIns="0" bIns="0" rtlCol="0" anchor="t"/>
          <a:lstStyle/>
          <a:p>
            <a:pPr marL="0" indent="0" algn="ctr">
              <a:buNone/>
            </a:pPr>
            <a:r>
              <a:rPr lang="en-US" sz="950" dirty="0">
                <a:solidFill>
                  <a:srgbClr val="E8F0F8"/>
                </a:solidFill>
                <a:latin typeface="Calibri" pitchFamily="34" charset="0"/>
                <a:ea typeface="Calibri" pitchFamily="34" charset="-122"/>
                <a:cs typeface="Calibri" pitchFamily="34" charset="-120"/>
              </a:rPr>
              <a:t>LR validation RMSE</a:t>
            </a:r>
            <a:endParaRPr lang="en-US" sz="950" dirty="0"/>
          </a:p>
        </p:txBody>
      </p:sp>
      <p:sp>
        <p:nvSpPr>
          <p:cNvPr id="34" name="Shape 32"/>
          <p:cNvSpPr/>
          <p:nvPr/>
        </p:nvSpPr>
        <p:spPr>
          <a:xfrm>
            <a:off x="6720840" y="4160520"/>
            <a:ext cx="1965960" cy="914400"/>
          </a:xfrm>
          <a:prstGeom prst="rect">
            <a:avLst/>
          </a:prstGeom>
          <a:solidFill>
            <a:srgbClr val="112240"/>
          </a:solidFill>
          <a:ln w="6350">
            <a:solidFill>
              <a:srgbClr val="1A3354"/>
            </a:solidFill>
            <a:prstDash val="solid"/>
          </a:ln>
          <a:effectLst>
            <a:outerShdw blurRad="152400" dist="38100" dir="8100000" algn="bl" rotWithShape="0">
              <a:srgbClr val="000000">
                <a:alpha val="25000"/>
              </a:srgbClr>
            </a:outerShdw>
          </a:effectLst>
        </p:spPr>
        <p:txBody>
          <a:bodyPr/>
          <a:lstStyle/>
          <a:p>
            <a:endParaRPr lang="en-US"/>
          </a:p>
        </p:txBody>
      </p:sp>
      <p:sp>
        <p:nvSpPr>
          <p:cNvPr id="35" name="Shape 33"/>
          <p:cNvSpPr/>
          <p:nvPr/>
        </p:nvSpPr>
        <p:spPr>
          <a:xfrm>
            <a:off x="6720840" y="4160520"/>
            <a:ext cx="1965960" cy="50292"/>
          </a:xfrm>
          <a:prstGeom prst="rect">
            <a:avLst/>
          </a:prstGeom>
          <a:solidFill>
            <a:srgbClr val="00C2A8"/>
          </a:solidFill>
          <a:ln/>
        </p:spPr>
        <p:txBody>
          <a:bodyPr/>
          <a:lstStyle/>
          <a:p>
            <a:endParaRPr lang="en-US"/>
          </a:p>
        </p:txBody>
      </p:sp>
      <p:sp>
        <p:nvSpPr>
          <p:cNvPr id="36" name="Text 34"/>
          <p:cNvSpPr/>
          <p:nvPr/>
        </p:nvSpPr>
        <p:spPr>
          <a:xfrm>
            <a:off x="6812280" y="4251960"/>
            <a:ext cx="1783080" cy="502920"/>
          </a:xfrm>
          <a:prstGeom prst="rect">
            <a:avLst/>
          </a:prstGeom>
          <a:noFill/>
          <a:ln/>
        </p:spPr>
        <p:txBody>
          <a:bodyPr wrap="square" lIns="0" tIns="0" rIns="0" bIns="0" rtlCol="0" anchor="ctr"/>
          <a:lstStyle/>
          <a:p>
            <a:pPr marL="0" indent="0" algn="ctr">
              <a:buNone/>
            </a:pPr>
            <a:r>
              <a:rPr lang="en-US" sz="3000" b="1" dirty="0">
                <a:solidFill>
                  <a:srgbClr val="00C2A8"/>
                </a:solidFill>
                <a:latin typeface="Georgia" pitchFamily="34" charset="0"/>
                <a:ea typeface="Georgia" pitchFamily="34" charset="-122"/>
                <a:cs typeface="Georgia" pitchFamily="34" charset="-120"/>
              </a:rPr>
              <a:t>0.3457</a:t>
            </a:r>
            <a:endParaRPr lang="en-US" sz="3000" dirty="0"/>
          </a:p>
        </p:txBody>
      </p:sp>
      <p:sp>
        <p:nvSpPr>
          <p:cNvPr id="37" name="Text 35"/>
          <p:cNvSpPr/>
          <p:nvPr/>
        </p:nvSpPr>
        <p:spPr>
          <a:xfrm>
            <a:off x="6793992" y="4709160"/>
            <a:ext cx="1819656" cy="347472"/>
          </a:xfrm>
          <a:prstGeom prst="rect">
            <a:avLst/>
          </a:prstGeom>
          <a:noFill/>
          <a:ln/>
        </p:spPr>
        <p:txBody>
          <a:bodyPr wrap="square" lIns="0" tIns="0" rIns="0" bIns="0" rtlCol="0" anchor="t"/>
          <a:lstStyle/>
          <a:p>
            <a:pPr marL="0" indent="0" algn="ctr">
              <a:buNone/>
            </a:pPr>
            <a:r>
              <a:rPr lang="en-US" sz="950" dirty="0">
                <a:solidFill>
                  <a:srgbClr val="E8F0F8"/>
                </a:solidFill>
                <a:latin typeface="Calibri" pitchFamily="34" charset="0"/>
                <a:ea typeface="Calibri" pitchFamily="34" charset="-122"/>
                <a:cs typeface="Calibri" pitchFamily="34" charset="-120"/>
              </a:rPr>
              <a:t>DT validation RMSE</a:t>
            </a:r>
            <a:endParaRPr lang="en-US" sz="950" dirty="0"/>
          </a:p>
        </p:txBody>
      </p:sp>
      <p:sp>
        <p:nvSpPr>
          <p:cNvPr id="38" name="Text 36"/>
          <p:cNvSpPr/>
          <p:nvPr/>
        </p:nvSpPr>
        <p:spPr>
          <a:xfrm>
            <a:off x="411480" y="5193792"/>
            <a:ext cx="8321040" cy="256032"/>
          </a:xfrm>
          <a:prstGeom prst="rect">
            <a:avLst/>
          </a:prstGeom>
          <a:noFill/>
          <a:ln/>
        </p:spPr>
        <p:txBody>
          <a:bodyPr wrap="square" lIns="0" tIns="0" rIns="0" bIns="0" rtlCol="0" anchor="ctr"/>
          <a:lstStyle/>
          <a:p>
            <a:pPr marL="0" indent="0">
              <a:buNone/>
            </a:pPr>
            <a:r>
              <a:rPr lang="en-US" sz="900" b="1" dirty="0">
                <a:solidFill>
                  <a:srgbClr val="00C2A8"/>
                </a:solidFill>
                <a:latin typeface="Calibri" pitchFamily="34" charset="0"/>
                <a:ea typeface="Calibri" pitchFamily="34" charset="-122"/>
                <a:cs typeface="Calibri" pitchFamily="34" charset="-120"/>
              </a:rPr>
              <a:t>Future Work:  </a:t>
            </a:r>
            <a:r>
              <a:rPr lang="en-US" sz="900" dirty="0">
                <a:solidFill>
                  <a:srgbClr val="8BA4BF"/>
                </a:solidFill>
                <a:latin typeface="Calibri" pitchFamily="34" charset="0"/>
                <a:ea typeface="Calibri" pitchFamily="34" charset="-122"/>
                <a:cs typeface="Calibri" pitchFamily="34" charset="-120"/>
              </a:rPr>
              <a:t>Add real-time traffic data  ·  Build separate urban/rural sub-models  ·  Classification model to specifically flag high-probability multi-fatality crashes as a complement to this regression approach</a:t>
            </a:r>
            <a:endParaRPr lang="en-US" sz="900" dirty="0"/>
          </a:p>
        </p:txBody>
      </p:sp>
      <p:sp>
        <p:nvSpPr>
          <p:cNvPr id="39" name="Text 37"/>
          <p:cNvSpPr/>
          <p:nvPr/>
        </p:nvSpPr>
        <p:spPr>
          <a:xfrm>
            <a:off x="411480" y="5074920"/>
            <a:ext cx="8321040" cy="201168"/>
          </a:xfrm>
          <a:prstGeom prst="rect">
            <a:avLst/>
          </a:prstGeom>
          <a:noFill/>
          <a:ln/>
        </p:spPr>
        <p:txBody>
          <a:bodyPr wrap="square" lIns="0" tIns="0" rIns="0" bIns="0" rtlCol="0" anchor="ctr"/>
          <a:lstStyle/>
          <a:p>
            <a:pPr marL="0" indent="0" algn="r">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356F53-5FC3-7F44-6839-3F339559D0AB}"/>
              </a:ext>
            </a:extLst>
          </p:cNvPr>
          <p:cNvSpPr txBox="1"/>
          <p:nvPr/>
        </p:nvSpPr>
        <p:spPr>
          <a:xfrm>
            <a:off x="1334021" y="2447857"/>
            <a:ext cx="4572000" cy="24622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8BA4BF"/>
                </a:solidFill>
                <a:effectLst/>
                <a:uLnTx/>
                <a:uFillTx/>
                <a:latin typeface="Georgia" pitchFamily="34" charset="0"/>
                <a:ea typeface="Georgia" pitchFamily="34" charset="-122"/>
                <a:cs typeface="Georgia" pitchFamily="34" charset="-120"/>
              </a:rPr>
              <a:t>Thank you—we are happy to take any questions!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5132609"/>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35</TotalTime>
  <Words>1830</Words>
  <Application>Microsoft Office PowerPoint</Application>
  <PresentationFormat>On-screen Show (16:9)</PresentationFormat>
  <Paragraphs>240</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Georgia</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Fatal Crash Outcomes</dc:title>
  <dc:subject>PptxGenJS Presentation</dc:subject>
  <dc:creator>PptxGenJS</dc:creator>
  <cp:lastModifiedBy>Clarisa Hardin</cp:lastModifiedBy>
  <cp:revision>3</cp:revision>
  <dcterms:created xsi:type="dcterms:W3CDTF">2026-05-02T22:05:21Z</dcterms:created>
  <dcterms:modified xsi:type="dcterms:W3CDTF">2026-05-04T04:26:25Z</dcterms:modified>
</cp:coreProperties>
</file>